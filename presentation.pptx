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4"/>
  </p:sldMasterIdLst>
  <p:notesMasterIdLst>
    <p:notesMasterId r:id="rId29"/>
  </p:notesMasterIdLst>
  <p:sldIdLst>
    <p:sldId id="256" r:id="rId5"/>
    <p:sldId id="261" r:id="rId6"/>
    <p:sldId id="259" r:id="rId7"/>
    <p:sldId id="315" r:id="rId8"/>
    <p:sldId id="317" r:id="rId9"/>
    <p:sldId id="316" r:id="rId10"/>
    <p:sldId id="302" r:id="rId11"/>
    <p:sldId id="262" r:id="rId12"/>
    <p:sldId id="319" r:id="rId13"/>
    <p:sldId id="303" r:id="rId14"/>
    <p:sldId id="263" r:id="rId15"/>
    <p:sldId id="305" r:id="rId16"/>
    <p:sldId id="268" r:id="rId17"/>
    <p:sldId id="304" r:id="rId18"/>
    <p:sldId id="306" r:id="rId19"/>
    <p:sldId id="307" r:id="rId20"/>
    <p:sldId id="265" r:id="rId21"/>
    <p:sldId id="310" r:id="rId22"/>
    <p:sldId id="309" r:id="rId23"/>
    <p:sldId id="313" r:id="rId24"/>
    <p:sldId id="311" r:id="rId25"/>
    <p:sldId id="318" r:id="rId26"/>
    <p:sldId id="257" r:id="rId27"/>
    <p:sldId id="314" r:id="rId28"/>
  </p:sldIdLst>
  <p:sldSz cx="9144000" cy="5143500" type="screen16x9"/>
  <p:notesSz cx="6858000" cy="9144000"/>
  <p:embeddedFontLst>
    <p:embeddedFont>
      <p:font typeface="DM Sans" pitchFamily="2" charset="0"/>
      <p:regular r:id="rId30"/>
      <p:bold r:id="rId31"/>
      <p:italic r:id="rId32"/>
      <p:boldItalic r:id="rId33"/>
    </p:embeddedFont>
    <p:embeddedFont>
      <p:font typeface="Lato" panose="020F0502020204030203" pitchFamily="34" charset="0"/>
      <p:regular r:id="rId34"/>
      <p:bold r:id="rId35"/>
      <p:italic r:id="rId36"/>
      <p:boldItalic r:id="rId37"/>
    </p:embeddedFont>
    <p:embeddedFont>
      <p:font typeface="Montserrat" panose="00000500000000000000" pitchFamily="2" charset="0"/>
      <p:regular r:id="rId38"/>
      <p:bold r:id="rId39"/>
      <p:italic r:id="rId40"/>
      <p:boldItalic r:id="rId41"/>
    </p:embeddedFont>
    <p:embeddedFont>
      <p:font typeface="Montserrat ExtraBold" panose="00000900000000000000" pitchFamily="2" charset="0"/>
      <p:bold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D0EB4C6-B8E4-40DF-850D-9352D601E4A8}">
  <a:tblStyle styleId="{3D0EB4C6-B8E4-40DF-850D-9352D601E4A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27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366" y="120"/>
      </p:cViewPr>
      <p:guideLst/>
    </p:cSldViewPr>
  </p:slideViewPr>
  <p:notesTextViewPr>
    <p:cViewPr>
      <p:scale>
        <a:sx n="66" d="100"/>
        <a:sy n="66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10.fntdata"/><Relationship Id="rId21" Type="http://schemas.openxmlformats.org/officeDocument/2006/relationships/slide" Target="slides/slide17.xml"/><Relationship Id="rId34" Type="http://schemas.openxmlformats.org/officeDocument/2006/relationships/font" Target="fonts/font5.fntdata"/><Relationship Id="rId42" Type="http://schemas.openxmlformats.org/officeDocument/2006/relationships/font" Target="fonts/font13.fntdata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7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2.fntdata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font" Target="fonts/font14.fntdata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46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0157182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868433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1dfe0b786a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1dfe0b786a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34551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14250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964777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54dda1946d_4_26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54dda1946d_4_26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72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54dda1946d_4_26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54dda1946d_4_26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80103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>
          <a:extLst>
            <a:ext uri="{FF2B5EF4-FFF2-40B4-BE49-F238E27FC236}">
              <a16:creationId xmlns:a16="http://schemas.microsoft.com/office/drawing/2014/main" id="{C969BC06-1276-8533-55B6-D5FF1F5F3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54dda1946d_6_322:notes">
            <a:extLst>
              <a:ext uri="{FF2B5EF4-FFF2-40B4-BE49-F238E27FC236}">
                <a16:creationId xmlns:a16="http://schemas.microsoft.com/office/drawing/2014/main" id="{C46477DE-E749-5013-2445-7DFA5DD56F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54dda1946d_6_322:notes">
            <a:extLst>
              <a:ext uri="{FF2B5EF4-FFF2-40B4-BE49-F238E27FC236}">
                <a16:creationId xmlns:a16="http://schemas.microsoft.com/office/drawing/2014/main" id="{707DF7CA-A2EA-B0E6-98A8-8893FF8507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85364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ec9722e163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ec9722e163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544297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6837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>
          <a:extLst>
            <a:ext uri="{FF2B5EF4-FFF2-40B4-BE49-F238E27FC236}">
              <a16:creationId xmlns:a16="http://schemas.microsoft.com/office/drawing/2014/main" id="{35C29A7A-4066-4DCE-07AA-AA89B5280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1dfe0b786a0_0_0:notes">
            <a:extLst>
              <a:ext uri="{FF2B5EF4-FFF2-40B4-BE49-F238E27FC236}">
                <a16:creationId xmlns:a16="http://schemas.microsoft.com/office/drawing/2014/main" id="{8A6FEAC6-620F-D081-C71C-F56BA18294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1dfe0b786a0_0_0:notes">
            <a:extLst>
              <a:ext uri="{FF2B5EF4-FFF2-40B4-BE49-F238E27FC236}">
                <a16:creationId xmlns:a16="http://schemas.microsoft.com/office/drawing/2014/main" id="{EF6161BB-32BF-7AE6-E5BB-1786B55FB0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398622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046413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>
          <a:extLst>
            <a:ext uri="{FF2B5EF4-FFF2-40B4-BE49-F238E27FC236}">
              <a16:creationId xmlns:a16="http://schemas.microsoft.com/office/drawing/2014/main" id="{0D52B228-3FFE-AA00-F39B-29D4AB157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54dda1946d_6_344:notes">
            <a:extLst>
              <a:ext uri="{FF2B5EF4-FFF2-40B4-BE49-F238E27FC236}">
                <a16:creationId xmlns:a16="http://schemas.microsoft.com/office/drawing/2014/main" id="{07438001-FA01-DDFB-2ECD-F06ACFDAA0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54dda1946d_6_344:notes">
            <a:extLst>
              <a:ext uri="{FF2B5EF4-FFF2-40B4-BE49-F238E27FC236}">
                <a16:creationId xmlns:a16="http://schemas.microsoft.com/office/drawing/2014/main" id="{313657BC-EEB7-10E3-0FC5-F805B0D9FF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79509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2a82146d382_1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2a82146d382_1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61695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ec9722e163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ec9722e163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00502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>
          <a:extLst>
            <a:ext uri="{FF2B5EF4-FFF2-40B4-BE49-F238E27FC236}">
              <a16:creationId xmlns:a16="http://schemas.microsoft.com/office/drawing/2014/main" id="{299ADFF8-517E-CC21-B9A8-C5F1A7A9C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1dfe0b786a0_0_0:notes">
            <a:extLst>
              <a:ext uri="{FF2B5EF4-FFF2-40B4-BE49-F238E27FC236}">
                <a16:creationId xmlns:a16="http://schemas.microsoft.com/office/drawing/2014/main" id="{BF5385DD-0C4D-115D-3C5A-FDDD3535C3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1dfe0b786a0_0_0:notes">
            <a:extLst>
              <a:ext uri="{FF2B5EF4-FFF2-40B4-BE49-F238E27FC236}">
                <a16:creationId xmlns:a16="http://schemas.microsoft.com/office/drawing/2014/main" id="{44E39953-6BFB-F2F3-70ED-638C0CD750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027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>
          <a:extLst>
            <a:ext uri="{FF2B5EF4-FFF2-40B4-BE49-F238E27FC236}">
              <a16:creationId xmlns:a16="http://schemas.microsoft.com/office/drawing/2014/main" id="{925923F8-D821-1705-1716-2A6C17685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54dda1946d_6_322:notes">
            <a:extLst>
              <a:ext uri="{FF2B5EF4-FFF2-40B4-BE49-F238E27FC236}">
                <a16:creationId xmlns:a16="http://schemas.microsoft.com/office/drawing/2014/main" id="{8A458C6C-B8F0-D461-18C8-138ABF12EA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54dda1946d_6_322:notes">
            <a:extLst>
              <a:ext uri="{FF2B5EF4-FFF2-40B4-BE49-F238E27FC236}">
                <a16:creationId xmlns:a16="http://schemas.microsoft.com/office/drawing/2014/main" id="{ABDA17E0-2970-49A3-94AF-A511B32AAB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26172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54dda1946d_4_27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54dda1946d_4_27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63642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9">
          <a:extLst>
            <a:ext uri="{FF2B5EF4-FFF2-40B4-BE49-F238E27FC236}">
              <a16:creationId xmlns:a16="http://schemas.microsoft.com/office/drawing/2014/main" id="{E529B046-39E0-E430-B473-1F82A4993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2a82146d382_1_129:notes">
            <a:extLst>
              <a:ext uri="{FF2B5EF4-FFF2-40B4-BE49-F238E27FC236}">
                <a16:creationId xmlns:a16="http://schemas.microsoft.com/office/drawing/2014/main" id="{090D46D0-03F9-0B6A-6176-3D17F885BF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2a82146d382_1_129:notes">
            <a:extLst>
              <a:ext uri="{FF2B5EF4-FFF2-40B4-BE49-F238E27FC236}">
                <a16:creationId xmlns:a16="http://schemas.microsoft.com/office/drawing/2014/main" id="{393A474F-D4DB-58EA-1729-C2C2BC4F9F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965487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>
          <a:extLst>
            <a:ext uri="{FF2B5EF4-FFF2-40B4-BE49-F238E27FC236}">
              <a16:creationId xmlns:a16="http://schemas.microsoft.com/office/drawing/2014/main" id="{624C3F03-36AB-C97E-1048-5D42219C0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54dda1946d_6_344:notes">
            <a:extLst>
              <a:ext uri="{FF2B5EF4-FFF2-40B4-BE49-F238E27FC236}">
                <a16:creationId xmlns:a16="http://schemas.microsoft.com/office/drawing/2014/main" id="{177F7CC8-EA16-21CC-42DB-E32F17CD71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54dda1946d_6_344:notes">
            <a:extLst>
              <a:ext uri="{FF2B5EF4-FFF2-40B4-BE49-F238E27FC236}">
                <a16:creationId xmlns:a16="http://schemas.microsoft.com/office/drawing/2014/main" id="{CB770621-6680-3EF9-F0B1-D51E4FC55B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59521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>
          <a:extLst>
            <a:ext uri="{FF2B5EF4-FFF2-40B4-BE49-F238E27FC236}">
              <a16:creationId xmlns:a16="http://schemas.microsoft.com/office/drawing/2014/main" id="{624C3F03-36AB-C97E-1048-5D42219C0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54dda1946d_6_344:notes">
            <a:extLst>
              <a:ext uri="{FF2B5EF4-FFF2-40B4-BE49-F238E27FC236}">
                <a16:creationId xmlns:a16="http://schemas.microsoft.com/office/drawing/2014/main" id="{177F7CC8-EA16-21CC-42DB-E32F17CD71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54dda1946d_6_344:notes">
            <a:extLst>
              <a:ext uri="{FF2B5EF4-FFF2-40B4-BE49-F238E27FC236}">
                <a16:creationId xmlns:a16="http://schemas.microsoft.com/office/drawing/2014/main" id="{CB770621-6680-3EF9-F0B1-D51E4FC55B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5194461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>
          <a:extLst>
            <a:ext uri="{FF2B5EF4-FFF2-40B4-BE49-F238E27FC236}">
              <a16:creationId xmlns:a16="http://schemas.microsoft.com/office/drawing/2014/main" id="{F89F2601-537A-C074-07AC-EF13202EA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54dda1946d_6_322:notes">
            <a:extLst>
              <a:ext uri="{FF2B5EF4-FFF2-40B4-BE49-F238E27FC236}">
                <a16:creationId xmlns:a16="http://schemas.microsoft.com/office/drawing/2014/main" id="{AD5ECE14-F727-4699-5EEA-57487B6CE3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54dda1946d_6_322:notes">
            <a:extLst>
              <a:ext uri="{FF2B5EF4-FFF2-40B4-BE49-F238E27FC236}">
                <a16:creationId xmlns:a16="http://schemas.microsoft.com/office/drawing/2014/main" id="{C607B6DB-594C-EA98-EBA9-FD13AFAA1C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92724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>
          <a:extLst>
            <a:ext uri="{FF2B5EF4-FFF2-40B4-BE49-F238E27FC236}">
              <a16:creationId xmlns:a16="http://schemas.microsoft.com/office/drawing/2014/main" id="{9747235F-1F6F-292F-B075-4D17AE6F4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54dda1946d_6_322:notes">
            <a:extLst>
              <a:ext uri="{FF2B5EF4-FFF2-40B4-BE49-F238E27FC236}">
                <a16:creationId xmlns:a16="http://schemas.microsoft.com/office/drawing/2014/main" id="{B06ACC7B-CCC5-9974-CB49-DD5F658969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54dda1946d_6_322:notes">
            <a:extLst>
              <a:ext uri="{FF2B5EF4-FFF2-40B4-BE49-F238E27FC236}">
                <a16:creationId xmlns:a16="http://schemas.microsoft.com/office/drawing/2014/main" id="{EAB6CDA7-16E4-336B-9CAA-5CDC5817E7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14890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12e478d9885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12e478d9885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7386619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991543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03663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5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900250" y="933196"/>
            <a:ext cx="5709000" cy="19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6500" b="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20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00250" y="3563840"/>
            <a:ext cx="5709000" cy="4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600"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-285975" y="-786675"/>
            <a:ext cx="1455300" cy="5981458"/>
            <a:chOff x="-285975" y="-786675"/>
            <a:chExt cx="1455300" cy="5981458"/>
          </a:xfrm>
        </p:grpSpPr>
        <p:sp>
          <p:nvSpPr>
            <p:cNvPr id="13" name="Google Shape;13;p2"/>
            <p:cNvSpPr/>
            <p:nvPr/>
          </p:nvSpPr>
          <p:spPr>
            <a:xfrm>
              <a:off x="-285975" y="-786675"/>
              <a:ext cx="1455300" cy="14553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14" name="Google Shape;14;p2"/>
            <p:cNvCxnSpPr/>
            <p:nvPr/>
          </p:nvCxnSpPr>
          <p:spPr>
            <a:xfrm>
              <a:off x="441675" y="-20117"/>
              <a:ext cx="0" cy="52149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55675" y="275975"/>
            <a:ext cx="2430875" cy="44628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" name="Google Shape;16;p2"/>
          <p:cNvGrpSpPr/>
          <p:nvPr/>
        </p:nvGrpSpPr>
        <p:grpSpPr>
          <a:xfrm rot="-5400000">
            <a:off x="7742789" y="4332814"/>
            <a:ext cx="281947" cy="1094035"/>
            <a:chOff x="7256520" y="835200"/>
            <a:chExt cx="562320" cy="2181960"/>
          </a:xfrm>
        </p:grpSpPr>
        <p:sp>
          <p:nvSpPr>
            <p:cNvPr id="17" name="Google Shape;17;p2"/>
            <p:cNvSpPr/>
            <p:nvPr/>
          </p:nvSpPr>
          <p:spPr>
            <a:xfrm>
              <a:off x="7256520" y="2444400"/>
              <a:ext cx="562320" cy="572760"/>
            </a:xfrm>
            <a:custGeom>
              <a:avLst/>
              <a:gdLst/>
              <a:ahLst/>
              <a:cxnLst/>
              <a:rect l="l" t="t" r="r" b="b"/>
              <a:pathLst>
                <a:path w="1562" h="1591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1"/>
                  </a:lnTo>
                  <a:lnTo>
                    <a:pt x="781" y="1096"/>
                  </a:lnTo>
                  <a:lnTo>
                    <a:pt x="1267" y="1591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7256520" y="1639800"/>
              <a:ext cx="562320" cy="573120"/>
            </a:xfrm>
            <a:custGeom>
              <a:avLst/>
              <a:gdLst/>
              <a:ahLst/>
              <a:cxnLst/>
              <a:rect l="l" t="t" r="r" b="b"/>
              <a:pathLst>
                <a:path w="1562" h="1592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2"/>
                  </a:lnTo>
                  <a:lnTo>
                    <a:pt x="781" y="1097"/>
                  </a:lnTo>
                  <a:lnTo>
                    <a:pt x="1267" y="1592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7256520" y="835200"/>
              <a:ext cx="562320" cy="573120"/>
            </a:xfrm>
            <a:custGeom>
              <a:avLst/>
              <a:gdLst/>
              <a:ahLst/>
              <a:cxnLst/>
              <a:rect l="l" t="t" r="r" b="b"/>
              <a:pathLst>
                <a:path w="1562" h="1592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2"/>
                  </a:lnTo>
                  <a:lnTo>
                    <a:pt x="781" y="1097"/>
                  </a:lnTo>
                  <a:lnTo>
                    <a:pt x="1267" y="1592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5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3"/>
          <p:cNvPicPr preferRelativeResize="0"/>
          <p:nvPr/>
        </p:nvPicPr>
        <p:blipFill>
          <a:blip r:embed="rId2">
            <a:alphaModFix amt="5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2124688" y="1492050"/>
            <a:ext cx="4894500" cy="172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 b="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 idx="2" hasCustomPrompt="1"/>
          </p:nvPr>
        </p:nvSpPr>
        <p:spPr>
          <a:xfrm>
            <a:off x="713213" y="1492050"/>
            <a:ext cx="1194000" cy="1106700"/>
          </a:xfrm>
          <a:prstGeom prst="rect">
            <a:avLst/>
          </a:prstGeom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4" name="Google Shape;24;p3"/>
          <p:cNvSpPr txBox="1">
            <a:spLocks noGrp="1"/>
          </p:cNvSpPr>
          <p:nvPr>
            <p:ph type="subTitle" idx="1"/>
          </p:nvPr>
        </p:nvSpPr>
        <p:spPr>
          <a:xfrm>
            <a:off x="2124700" y="3585050"/>
            <a:ext cx="4894500" cy="5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5" name="Google Shape;25;p3"/>
          <p:cNvGrpSpPr/>
          <p:nvPr/>
        </p:nvGrpSpPr>
        <p:grpSpPr>
          <a:xfrm rot="10800000">
            <a:off x="7931725" y="-66314"/>
            <a:ext cx="1455300" cy="5981458"/>
            <a:chOff x="-285975" y="-786675"/>
            <a:chExt cx="1455300" cy="5981458"/>
          </a:xfrm>
        </p:grpSpPr>
        <p:sp>
          <p:nvSpPr>
            <p:cNvPr id="26" name="Google Shape;26;p3"/>
            <p:cNvSpPr/>
            <p:nvPr/>
          </p:nvSpPr>
          <p:spPr>
            <a:xfrm>
              <a:off x="-285975" y="-786675"/>
              <a:ext cx="1455300" cy="14553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27" name="Google Shape;27;p3"/>
            <p:cNvCxnSpPr/>
            <p:nvPr/>
          </p:nvCxnSpPr>
          <p:spPr>
            <a:xfrm>
              <a:off x="441675" y="-20117"/>
              <a:ext cx="0" cy="52149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6"/>
          <p:cNvPicPr preferRelativeResize="0"/>
          <p:nvPr/>
        </p:nvPicPr>
        <p:blipFill>
          <a:blip r:embed="rId2">
            <a:alphaModFix amt="5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45" name="Google Shape;45;p6"/>
          <p:cNvGrpSpPr/>
          <p:nvPr/>
        </p:nvGrpSpPr>
        <p:grpSpPr>
          <a:xfrm rot="10800000">
            <a:off x="7931725" y="-66314"/>
            <a:ext cx="1455300" cy="5981458"/>
            <a:chOff x="-285975" y="-786675"/>
            <a:chExt cx="1455300" cy="5981458"/>
          </a:xfrm>
        </p:grpSpPr>
        <p:sp>
          <p:nvSpPr>
            <p:cNvPr id="46" name="Google Shape;46;p6"/>
            <p:cNvSpPr/>
            <p:nvPr/>
          </p:nvSpPr>
          <p:spPr>
            <a:xfrm>
              <a:off x="-285975" y="-786675"/>
              <a:ext cx="1455300" cy="14553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47" name="Google Shape;47;p6"/>
            <p:cNvCxnSpPr/>
            <p:nvPr/>
          </p:nvCxnSpPr>
          <p:spPr>
            <a:xfrm>
              <a:off x="441675" y="-20117"/>
              <a:ext cx="0" cy="52149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8" name="Google Shape;48;p6"/>
          <p:cNvGrpSpPr/>
          <p:nvPr/>
        </p:nvGrpSpPr>
        <p:grpSpPr>
          <a:xfrm rot="-5400000">
            <a:off x="246689" y="-272965"/>
            <a:ext cx="281947" cy="1094035"/>
            <a:chOff x="7256520" y="835200"/>
            <a:chExt cx="562320" cy="2181960"/>
          </a:xfrm>
        </p:grpSpPr>
        <p:sp>
          <p:nvSpPr>
            <p:cNvPr id="49" name="Google Shape;49;p6"/>
            <p:cNvSpPr/>
            <p:nvPr/>
          </p:nvSpPr>
          <p:spPr>
            <a:xfrm>
              <a:off x="7256520" y="2444400"/>
              <a:ext cx="562320" cy="572760"/>
            </a:xfrm>
            <a:custGeom>
              <a:avLst/>
              <a:gdLst/>
              <a:ahLst/>
              <a:cxnLst/>
              <a:rect l="l" t="t" r="r" b="b"/>
              <a:pathLst>
                <a:path w="1562" h="1591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1"/>
                  </a:lnTo>
                  <a:lnTo>
                    <a:pt x="781" y="1096"/>
                  </a:lnTo>
                  <a:lnTo>
                    <a:pt x="1267" y="1591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6"/>
            <p:cNvSpPr/>
            <p:nvPr/>
          </p:nvSpPr>
          <p:spPr>
            <a:xfrm>
              <a:off x="7256520" y="1639800"/>
              <a:ext cx="562320" cy="573120"/>
            </a:xfrm>
            <a:custGeom>
              <a:avLst/>
              <a:gdLst/>
              <a:ahLst/>
              <a:cxnLst/>
              <a:rect l="l" t="t" r="r" b="b"/>
              <a:pathLst>
                <a:path w="1562" h="1592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2"/>
                  </a:lnTo>
                  <a:lnTo>
                    <a:pt x="781" y="1097"/>
                  </a:lnTo>
                  <a:lnTo>
                    <a:pt x="1267" y="1592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6"/>
            <p:cNvSpPr/>
            <p:nvPr/>
          </p:nvSpPr>
          <p:spPr>
            <a:xfrm>
              <a:off x="7256520" y="835200"/>
              <a:ext cx="562320" cy="573120"/>
            </a:xfrm>
            <a:custGeom>
              <a:avLst/>
              <a:gdLst/>
              <a:ahLst/>
              <a:cxnLst/>
              <a:rect l="l" t="t" r="r" b="b"/>
              <a:pathLst>
                <a:path w="1562" h="1592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2"/>
                  </a:lnTo>
                  <a:lnTo>
                    <a:pt x="781" y="1097"/>
                  </a:lnTo>
                  <a:lnTo>
                    <a:pt x="1267" y="1592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5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ONE_COLUMN_TEXT_1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6"/>
          <p:cNvPicPr preferRelativeResize="0"/>
          <p:nvPr/>
        </p:nvPicPr>
        <p:blipFill>
          <a:blip r:embed="rId2">
            <a:alphaModFix amt="5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6"/>
          <p:cNvSpPr txBox="1">
            <a:spLocks noGrp="1"/>
          </p:cNvSpPr>
          <p:nvPr>
            <p:ph type="subTitle" idx="1"/>
          </p:nvPr>
        </p:nvSpPr>
        <p:spPr>
          <a:xfrm>
            <a:off x="4697920" y="1896225"/>
            <a:ext cx="3410100" cy="195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16"/>
          <p:cNvSpPr txBox="1">
            <a:spLocks noGrp="1"/>
          </p:cNvSpPr>
          <p:nvPr>
            <p:ph type="subTitle" idx="2"/>
          </p:nvPr>
        </p:nvSpPr>
        <p:spPr>
          <a:xfrm>
            <a:off x="720000" y="1896225"/>
            <a:ext cx="3410100" cy="195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54" name="Google Shape;154;p16"/>
          <p:cNvGrpSpPr/>
          <p:nvPr/>
        </p:nvGrpSpPr>
        <p:grpSpPr>
          <a:xfrm>
            <a:off x="-285975" y="-806941"/>
            <a:ext cx="1455300" cy="5981458"/>
            <a:chOff x="-285975" y="-786675"/>
            <a:chExt cx="1455300" cy="5981458"/>
          </a:xfrm>
        </p:grpSpPr>
        <p:sp>
          <p:nvSpPr>
            <p:cNvPr id="155" name="Google Shape;155;p16"/>
            <p:cNvSpPr/>
            <p:nvPr/>
          </p:nvSpPr>
          <p:spPr>
            <a:xfrm>
              <a:off x="-285975" y="-786675"/>
              <a:ext cx="1455300" cy="14553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156" name="Google Shape;156;p16"/>
            <p:cNvCxnSpPr/>
            <p:nvPr/>
          </p:nvCxnSpPr>
          <p:spPr>
            <a:xfrm>
              <a:off x="441675" y="-20117"/>
              <a:ext cx="0" cy="52149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57" name="Google Shape;157;p16"/>
          <p:cNvGrpSpPr/>
          <p:nvPr/>
        </p:nvGrpSpPr>
        <p:grpSpPr>
          <a:xfrm>
            <a:off x="8604089" y="137764"/>
            <a:ext cx="281947" cy="1094035"/>
            <a:chOff x="7256520" y="835200"/>
            <a:chExt cx="562320" cy="2181960"/>
          </a:xfrm>
        </p:grpSpPr>
        <p:sp>
          <p:nvSpPr>
            <p:cNvPr id="158" name="Google Shape;158;p16"/>
            <p:cNvSpPr/>
            <p:nvPr/>
          </p:nvSpPr>
          <p:spPr>
            <a:xfrm>
              <a:off x="7256520" y="2444400"/>
              <a:ext cx="562320" cy="572760"/>
            </a:xfrm>
            <a:custGeom>
              <a:avLst/>
              <a:gdLst/>
              <a:ahLst/>
              <a:cxnLst/>
              <a:rect l="l" t="t" r="r" b="b"/>
              <a:pathLst>
                <a:path w="1562" h="1591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1"/>
                  </a:lnTo>
                  <a:lnTo>
                    <a:pt x="781" y="1096"/>
                  </a:lnTo>
                  <a:lnTo>
                    <a:pt x="1267" y="1591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16"/>
            <p:cNvSpPr/>
            <p:nvPr/>
          </p:nvSpPr>
          <p:spPr>
            <a:xfrm>
              <a:off x="7256520" y="1639800"/>
              <a:ext cx="562320" cy="573120"/>
            </a:xfrm>
            <a:custGeom>
              <a:avLst/>
              <a:gdLst/>
              <a:ahLst/>
              <a:cxnLst/>
              <a:rect l="l" t="t" r="r" b="b"/>
              <a:pathLst>
                <a:path w="1562" h="1592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2"/>
                  </a:lnTo>
                  <a:lnTo>
                    <a:pt x="781" y="1097"/>
                  </a:lnTo>
                  <a:lnTo>
                    <a:pt x="1267" y="1592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16"/>
            <p:cNvSpPr/>
            <p:nvPr/>
          </p:nvSpPr>
          <p:spPr>
            <a:xfrm>
              <a:off x="7256520" y="835200"/>
              <a:ext cx="562320" cy="573120"/>
            </a:xfrm>
            <a:custGeom>
              <a:avLst/>
              <a:gdLst/>
              <a:ahLst/>
              <a:cxnLst/>
              <a:rect l="l" t="t" r="r" b="b"/>
              <a:pathLst>
                <a:path w="1562" h="1592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2"/>
                  </a:lnTo>
                  <a:lnTo>
                    <a:pt x="781" y="1097"/>
                  </a:lnTo>
                  <a:lnTo>
                    <a:pt x="1267" y="1592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5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61" name="Google Shape;16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9250" y="4474656"/>
            <a:ext cx="946200" cy="9488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_1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7"/>
          <p:cNvPicPr preferRelativeResize="0"/>
          <p:nvPr/>
        </p:nvPicPr>
        <p:blipFill>
          <a:blip r:embed="rId2">
            <a:alphaModFix amt="5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17"/>
          <p:cNvSpPr txBox="1">
            <a:spLocks noGrp="1"/>
          </p:cNvSpPr>
          <p:nvPr>
            <p:ph type="subTitle" idx="1"/>
          </p:nvPr>
        </p:nvSpPr>
        <p:spPr>
          <a:xfrm>
            <a:off x="720000" y="2574550"/>
            <a:ext cx="22467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17"/>
          <p:cNvSpPr txBox="1">
            <a:spLocks noGrp="1"/>
          </p:cNvSpPr>
          <p:nvPr>
            <p:ph type="subTitle" idx="2"/>
          </p:nvPr>
        </p:nvSpPr>
        <p:spPr>
          <a:xfrm>
            <a:off x="3350467" y="2574550"/>
            <a:ext cx="22467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17"/>
          <p:cNvSpPr txBox="1">
            <a:spLocks noGrp="1"/>
          </p:cNvSpPr>
          <p:nvPr>
            <p:ph type="subTitle" idx="3"/>
          </p:nvPr>
        </p:nvSpPr>
        <p:spPr>
          <a:xfrm>
            <a:off x="5980940" y="2574550"/>
            <a:ext cx="22467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17"/>
          <p:cNvSpPr txBox="1">
            <a:spLocks noGrp="1"/>
          </p:cNvSpPr>
          <p:nvPr>
            <p:ph type="subTitle" idx="4"/>
          </p:nvPr>
        </p:nvSpPr>
        <p:spPr>
          <a:xfrm>
            <a:off x="720000" y="2219950"/>
            <a:ext cx="2246700" cy="43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69" name="Google Shape;169;p17"/>
          <p:cNvSpPr txBox="1">
            <a:spLocks noGrp="1"/>
          </p:cNvSpPr>
          <p:nvPr>
            <p:ph type="subTitle" idx="5"/>
          </p:nvPr>
        </p:nvSpPr>
        <p:spPr>
          <a:xfrm>
            <a:off x="3350468" y="2219950"/>
            <a:ext cx="2246700" cy="43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70" name="Google Shape;170;p17"/>
          <p:cNvSpPr txBox="1">
            <a:spLocks noGrp="1"/>
          </p:cNvSpPr>
          <p:nvPr>
            <p:ph type="subTitle" idx="6"/>
          </p:nvPr>
        </p:nvSpPr>
        <p:spPr>
          <a:xfrm>
            <a:off x="5980942" y="2219950"/>
            <a:ext cx="2246700" cy="43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171" name="Google Shape;171;p17"/>
          <p:cNvGrpSpPr/>
          <p:nvPr/>
        </p:nvGrpSpPr>
        <p:grpSpPr>
          <a:xfrm rot="10800000">
            <a:off x="-285975" y="-57082"/>
            <a:ext cx="1455300" cy="5981458"/>
            <a:chOff x="-285975" y="-786675"/>
            <a:chExt cx="1455300" cy="5981458"/>
          </a:xfrm>
        </p:grpSpPr>
        <p:sp>
          <p:nvSpPr>
            <p:cNvPr id="172" name="Google Shape;172;p17"/>
            <p:cNvSpPr/>
            <p:nvPr/>
          </p:nvSpPr>
          <p:spPr>
            <a:xfrm>
              <a:off x="-285975" y="-786675"/>
              <a:ext cx="1455300" cy="14553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173" name="Google Shape;173;p17"/>
            <p:cNvCxnSpPr/>
            <p:nvPr/>
          </p:nvCxnSpPr>
          <p:spPr>
            <a:xfrm>
              <a:off x="441675" y="-20117"/>
              <a:ext cx="0" cy="52149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74" name="Google Shape;174;p17"/>
          <p:cNvGrpSpPr/>
          <p:nvPr/>
        </p:nvGrpSpPr>
        <p:grpSpPr>
          <a:xfrm>
            <a:off x="8653689" y="-159924"/>
            <a:ext cx="281947" cy="1094035"/>
            <a:chOff x="7256520" y="835200"/>
            <a:chExt cx="562320" cy="2181960"/>
          </a:xfrm>
        </p:grpSpPr>
        <p:sp>
          <p:nvSpPr>
            <p:cNvPr id="175" name="Google Shape;175;p17"/>
            <p:cNvSpPr/>
            <p:nvPr/>
          </p:nvSpPr>
          <p:spPr>
            <a:xfrm>
              <a:off x="7256520" y="2444400"/>
              <a:ext cx="562320" cy="572760"/>
            </a:xfrm>
            <a:custGeom>
              <a:avLst/>
              <a:gdLst/>
              <a:ahLst/>
              <a:cxnLst/>
              <a:rect l="l" t="t" r="r" b="b"/>
              <a:pathLst>
                <a:path w="1562" h="1591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1"/>
                  </a:lnTo>
                  <a:lnTo>
                    <a:pt x="781" y="1096"/>
                  </a:lnTo>
                  <a:lnTo>
                    <a:pt x="1267" y="1591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17"/>
            <p:cNvSpPr/>
            <p:nvPr/>
          </p:nvSpPr>
          <p:spPr>
            <a:xfrm>
              <a:off x="7256520" y="1639800"/>
              <a:ext cx="562320" cy="573120"/>
            </a:xfrm>
            <a:custGeom>
              <a:avLst/>
              <a:gdLst/>
              <a:ahLst/>
              <a:cxnLst/>
              <a:rect l="l" t="t" r="r" b="b"/>
              <a:pathLst>
                <a:path w="1562" h="1592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2"/>
                  </a:lnTo>
                  <a:lnTo>
                    <a:pt x="781" y="1097"/>
                  </a:lnTo>
                  <a:lnTo>
                    <a:pt x="1267" y="1592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17"/>
            <p:cNvSpPr/>
            <p:nvPr/>
          </p:nvSpPr>
          <p:spPr>
            <a:xfrm>
              <a:off x="7256520" y="835200"/>
              <a:ext cx="562320" cy="573120"/>
            </a:xfrm>
            <a:custGeom>
              <a:avLst/>
              <a:gdLst/>
              <a:ahLst/>
              <a:cxnLst/>
              <a:rect l="l" t="t" r="r" b="b"/>
              <a:pathLst>
                <a:path w="1562" h="1592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2"/>
                  </a:lnTo>
                  <a:lnTo>
                    <a:pt x="781" y="1097"/>
                  </a:lnTo>
                  <a:lnTo>
                    <a:pt x="1267" y="1592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5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19"/>
          <p:cNvPicPr preferRelativeResize="0"/>
          <p:nvPr/>
        </p:nvPicPr>
        <p:blipFill>
          <a:blip r:embed="rId2">
            <a:alphaModFix amt="5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19"/>
          <p:cNvSpPr txBox="1">
            <a:spLocks noGrp="1"/>
          </p:cNvSpPr>
          <p:nvPr>
            <p:ph type="subTitle" idx="1"/>
          </p:nvPr>
        </p:nvSpPr>
        <p:spPr>
          <a:xfrm>
            <a:off x="713225" y="1991486"/>
            <a:ext cx="2100000" cy="6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19"/>
          <p:cNvSpPr txBox="1">
            <a:spLocks noGrp="1"/>
          </p:cNvSpPr>
          <p:nvPr>
            <p:ph type="subTitle" idx="2"/>
          </p:nvPr>
        </p:nvSpPr>
        <p:spPr>
          <a:xfrm>
            <a:off x="3333425" y="1991486"/>
            <a:ext cx="2100000" cy="6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19"/>
          <p:cNvSpPr txBox="1">
            <a:spLocks noGrp="1"/>
          </p:cNvSpPr>
          <p:nvPr>
            <p:ph type="subTitle" idx="3"/>
          </p:nvPr>
        </p:nvSpPr>
        <p:spPr>
          <a:xfrm>
            <a:off x="713225" y="3373550"/>
            <a:ext cx="2100000" cy="6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19"/>
          <p:cNvSpPr txBox="1">
            <a:spLocks noGrp="1"/>
          </p:cNvSpPr>
          <p:nvPr>
            <p:ph type="subTitle" idx="4"/>
          </p:nvPr>
        </p:nvSpPr>
        <p:spPr>
          <a:xfrm>
            <a:off x="3333425" y="3373550"/>
            <a:ext cx="2100000" cy="6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19"/>
          <p:cNvSpPr txBox="1">
            <a:spLocks noGrp="1"/>
          </p:cNvSpPr>
          <p:nvPr>
            <p:ph type="subTitle" idx="5"/>
          </p:nvPr>
        </p:nvSpPr>
        <p:spPr>
          <a:xfrm>
            <a:off x="5953632" y="1991486"/>
            <a:ext cx="2100000" cy="6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19"/>
          <p:cNvSpPr txBox="1">
            <a:spLocks noGrp="1"/>
          </p:cNvSpPr>
          <p:nvPr>
            <p:ph type="subTitle" idx="6"/>
          </p:nvPr>
        </p:nvSpPr>
        <p:spPr>
          <a:xfrm>
            <a:off x="5953632" y="3373550"/>
            <a:ext cx="2100000" cy="6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19"/>
          <p:cNvSpPr txBox="1">
            <a:spLocks noGrp="1"/>
          </p:cNvSpPr>
          <p:nvPr>
            <p:ph type="subTitle" idx="7"/>
          </p:nvPr>
        </p:nvSpPr>
        <p:spPr>
          <a:xfrm>
            <a:off x="713225" y="1640250"/>
            <a:ext cx="2100000" cy="42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06" name="Google Shape;206;p19"/>
          <p:cNvSpPr txBox="1">
            <a:spLocks noGrp="1"/>
          </p:cNvSpPr>
          <p:nvPr>
            <p:ph type="subTitle" idx="8"/>
          </p:nvPr>
        </p:nvSpPr>
        <p:spPr>
          <a:xfrm>
            <a:off x="3333425" y="1640250"/>
            <a:ext cx="2100000" cy="42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07" name="Google Shape;207;p19"/>
          <p:cNvSpPr txBox="1">
            <a:spLocks noGrp="1"/>
          </p:cNvSpPr>
          <p:nvPr>
            <p:ph type="subTitle" idx="9"/>
          </p:nvPr>
        </p:nvSpPr>
        <p:spPr>
          <a:xfrm>
            <a:off x="713225" y="3024050"/>
            <a:ext cx="2100000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08" name="Google Shape;208;p19"/>
          <p:cNvSpPr txBox="1">
            <a:spLocks noGrp="1"/>
          </p:cNvSpPr>
          <p:nvPr>
            <p:ph type="subTitle" idx="13"/>
          </p:nvPr>
        </p:nvSpPr>
        <p:spPr>
          <a:xfrm>
            <a:off x="3333425" y="3024050"/>
            <a:ext cx="2100000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09" name="Google Shape;209;p19"/>
          <p:cNvSpPr txBox="1">
            <a:spLocks noGrp="1"/>
          </p:cNvSpPr>
          <p:nvPr>
            <p:ph type="subTitle" idx="14"/>
          </p:nvPr>
        </p:nvSpPr>
        <p:spPr>
          <a:xfrm>
            <a:off x="5953631" y="1640250"/>
            <a:ext cx="2100000" cy="42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10" name="Google Shape;210;p19"/>
          <p:cNvSpPr txBox="1">
            <a:spLocks noGrp="1"/>
          </p:cNvSpPr>
          <p:nvPr>
            <p:ph type="subTitle" idx="15"/>
          </p:nvPr>
        </p:nvSpPr>
        <p:spPr>
          <a:xfrm>
            <a:off x="5953631" y="3024050"/>
            <a:ext cx="2100000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211" name="Google Shape;211;p19"/>
          <p:cNvGrpSpPr/>
          <p:nvPr/>
        </p:nvGrpSpPr>
        <p:grpSpPr>
          <a:xfrm>
            <a:off x="7931725" y="-782513"/>
            <a:ext cx="1455300" cy="5981458"/>
            <a:chOff x="-285975" y="-786675"/>
            <a:chExt cx="1455300" cy="5981458"/>
          </a:xfrm>
        </p:grpSpPr>
        <p:sp>
          <p:nvSpPr>
            <p:cNvPr id="212" name="Google Shape;212;p19"/>
            <p:cNvSpPr/>
            <p:nvPr/>
          </p:nvSpPr>
          <p:spPr>
            <a:xfrm>
              <a:off x="-285975" y="-786675"/>
              <a:ext cx="1455300" cy="14553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213" name="Google Shape;213;p19"/>
            <p:cNvCxnSpPr/>
            <p:nvPr/>
          </p:nvCxnSpPr>
          <p:spPr>
            <a:xfrm>
              <a:off x="441675" y="-20117"/>
              <a:ext cx="0" cy="52149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14" name="Google Shape;214;p19"/>
          <p:cNvGrpSpPr/>
          <p:nvPr/>
        </p:nvGrpSpPr>
        <p:grpSpPr>
          <a:xfrm rot="-5400000">
            <a:off x="618389" y="4270239"/>
            <a:ext cx="281947" cy="1094035"/>
            <a:chOff x="7256520" y="835200"/>
            <a:chExt cx="562320" cy="2181960"/>
          </a:xfrm>
        </p:grpSpPr>
        <p:sp>
          <p:nvSpPr>
            <p:cNvPr id="215" name="Google Shape;215;p19"/>
            <p:cNvSpPr/>
            <p:nvPr/>
          </p:nvSpPr>
          <p:spPr>
            <a:xfrm>
              <a:off x="7256520" y="2444400"/>
              <a:ext cx="562320" cy="572760"/>
            </a:xfrm>
            <a:custGeom>
              <a:avLst/>
              <a:gdLst/>
              <a:ahLst/>
              <a:cxnLst/>
              <a:rect l="l" t="t" r="r" b="b"/>
              <a:pathLst>
                <a:path w="1562" h="1591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1"/>
                  </a:lnTo>
                  <a:lnTo>
                    <a:pt x="781" y="1096"/>
                  </a:lnTo>
                  <a:lnTo>
                    <a:pt x="1267" y="1591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19"/>
            <p:cNvSpPr/>
            <p:nvPr/>
          </p:nvSpPr>
          <p:spPr>
            <a:xfrm>
              <a:off x="7256520" y="1639800"/>
              <a:ext cx="562320" cy="573120"/>
            </a:xfrm>
            <a:custGeom>
              <a:avLst/>
              <a:gdLst/>
              <a:ahLst/>
              <a:cxnLst/>
              <a:rect l="l" t="t" r="r" b="b"/>
              <a:pathLst>
                <a:path w="1562" h="1592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2"/>
                  </a:lnTo>
                  <a:lnTo>
                    <a:pt x="781" y="1097"/>
                  </a:lnTo>
                  <a:lnTo>
                    <a:pt x="1267" y="1592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19"/>
            <p:cNvSpPr/>
            <p:nvPr/>
          </p:nvSpPr>
          <p:spPr>
            <a:xfrm>
              <a:off x="7256520" y="835200"/>
              <a:ext cx="562320" cy="573120"/>
            </a:xfrm>
            <a:custGeom>
              <a:avLst/>
              <a:gdLst/>
              <a:ahLst/>
              <a:cxnLst/>
              <a:rect l="l" t="t" r="r" b="b"/>
              <a:pathLst>
                <a:path w="1562" h="1592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2"/>
                  </a:lnTo>
                  <a:lnTo>
                    <a:pt x="781" y="1097"/>
                  </a:lnTo>
                  <a:lnTo>
                    <a:pt x="1267" y="1592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5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1"/>
          <p:cNvPicPr preferRelativeResize="0"/>
          <p:nvPr/>
        </p:nvPicPr>
        <p:blipFill>
          <a:blip r:embed="rId2">
            <a:alphaModFix amt="5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228" name="Google Shape;228;p21"/>
          <p:cNvGrpSpPr/>
          <p:nvPr/>
        </p:nvGrpSpPr>
        <p:grpSpPr>
          <a:xfrm rot="-5400000">
            <a:off x="8289802" y="4353460"/>
            <a:ext cx="281947" cy="1094035"/>
            <a:chOff x="7256520" y="835200"/>
            <a:chExt cx="562320" cy="2181960"/>
          </a:xfrm>
        </p:grpSpPr>
        <p:sp>
          <p:nvSpPr>
            <p:cNvPr id="229" name="Google Shape;229;p21"/>
            <p:cNvSpPr/>
            <p:nvPr/>
          </p:nvSpPr>
          <p:spPr>
            <a:xfrm>
              <a:off x="7256520" y="2444400"/>
              <a:ext cx="562320" cy="572760"/>
            </a:xfrm>
            <a:custGeom>
              <a:avLst/>
              <a:gdLst/>
              <a:ahLst/>
              <a:cxnLst/>
              <a:rect l="l" t="t" r="r" b="b"/>
              <a:pathLst>
                <a:path w="1562" h="1591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1"/>
                  </a:lnTo>
                  <a:lnTo>
                    <a:pt x="781" y="1096"/>
                  </a:lnTo>
                  <a:lnTo>
                    <a:pt x="1267" y="1591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21"/>
            <p:cNvSpPr/>
            <p:nvPr/>
          </p:nvSpPr>
          <p:spPr>
            <a:xfrm>
              <a:off x="7256520" y="1639800"/>
              <a:ext cx="562320" cy="573120"/>
            </a:xfrm>
            <a:custGeom>
              <a:avLst/>
              <a:gdLst/>
              <a:ahLst/>
              <a:cxnLst/>
              <a:rect l="l" t="t" r="r" b="b"/>
              <a:pathLst>
                <a:path w="1562" h="1592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2"/>
                  </a:lnTo>
                  <a:lnTo>
                    <a:pt x="781" y="1097"/>
                  </a:lnTo>
                  <a:lnTo>
                    <a:pt x="1267" y="1592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21"/>
            <p:cNvSpPr/>
            <p:nvPr/>
          </p:nvSpPr>
          <p:spPr>
            <a:xfrm>
              <a:off x="7256520" y="835200"/>
              <a:ext cx="562320" cy="573120"/>
            </a:xfrm>
            <a:custGeom>
              <a:avLst/>
              <a:gdLst/>
              <a:ahLst/>
              <a:cxnLst/>
              <a:rect l="l" t="t" r="r" b="b"/>
              <a:pathLst>
                <a:path w="1562" h="1592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2"/>
                  </a:lnTo>
                  <a:lnTo>
                    <a:pt x="781" y="1097"/>
                  </a:lnTo>
                  <a:lnTo>
                    <a:pt x="1267" y="1592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5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2" name="Google Shape;232;p21"/>
          <p:cNvGrpSpPr/>
          <p:nvPr/>
        </p:nvGrpSpPr>
        <p:grpSpPr>
          <a:xfrm rot="10800000">
            <a:off x="-285975" y="-57082"/>
            <a:ext cx="1455300" cy="5981458"/>
            <a:chOff x="-285975" y="-786675"/>
            <a:chExt cx="1455300" cy="5981458"/>
          </a:xfrm>
        </p:grpSpPr>
        <p:sp>
          <p:nvSpPr>
            <p:cNvPr id="233" name="Google Shape;233;p21"/>
            <p:cNvSpPr/>
            <p:nvPr/>
          </p:nvSpPr>
          <p:spPr>
            <a:xfrm>
              <a:off x="-285975" y="-786675"/>
              <a:ext cx="1455300" cy="14553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234" name="Google Shape;234;p21"/>
            <p:cNvCxnSpPr/>
            <p:nvPr/>
          </p:nvCxnSpPr>
          <p:spPr>
            <a:xfrm>
              <a:off x="441675" y="-20117"/>
              <a:ext cx="0" cy="52149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24"/>
          <p:cNvPicPr preferRelativeResize="0"/>
          <p:nvPr/>
        </p:nvPicPr>
        <p:blipFill>
          <a:blip r:embed="rId2">
            <a:alphaModFix amt="5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09100" y="1511556"/>
            <a:ext cx="946200" cy="9488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9" name="Google Shape;259;p24"/>
          <p:cNvGrpSpPr/>
          <p:nvPr/>
        </p:nvGrpSpPr>
        <p:grpSpPr>
          <a:xfrm>
            <a:off x="-285975" y="-806941"/>
            <a:ext cx="1455300" cy="5981458"/>
            <a:chOff x="-285975" y="-786675"/>
            <a:chExt cx="1455300" cy="5981458"/>
          </a:xfrm>
        </p:grpSpPr>
        <p:sp>
          <p:nvSpPr>
            <p:cNvPr id="260" name="Google Shape;260;p24"/>
            <p:cNvSpPr/>
            <p:nvPr/>
          </p:nvSpPr>
          <p:spPr>
            <a:xfrm>
              <a:off x="-285975" y="-786675"/>
              <a:ext cx="1455300" cy="14553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261" name="Google Shape;261;p24"/>
            <p:cNvCxnSpPr/>
            <p:nvPr/>
          </p:nvCxnSpPr>
          <p:spPr>
            <a:xfrm>
              <a:off x="441675" y="-20117"/>
              <a:ext cx="0" cy="52149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25"/>
          <p:cNvPicPr preferRelativeResize="0"/>
          <p:nvPr/>
        </p:nvPicPr>
        <p:blipFill>
          <a:blip r:embed="rId2">
            <a:alphaModFix amt="5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4" name="Google Shape;264;p25"/>
          <p:cNvGrpSpPr/>
          <p:nvPr/>
        </p:nvGrpSpPr>
        <p:grpSpPr>
          <a:xfrm>
            <a:off x="7931725" y="-782513"/>
            <a:ext cx="1455300" cy="5981458"/>
            <a:chOff x="-285975" y="-786675"/>
            <a:chExt cx="1455300" cy="5981458"/>
          </a:xfrm>
        </p:grpSpPr>
        <p:sp>
          <p:nvSpPr>
            <p:cNvPr id="265" name="Google Shape;265;p25"/>
            <p:cNvSpPr/>
            <p:nvPr/>
          </p:nvSpPr>
          <p:spPr>
            <a:xfrm>
              <a:off x="-285975" y="-786675"/>
              <a:ext cx="1455300" cy="14553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266" name="Google Shape;266;p25"/>
            <p:cNvCxnSpPr/>
            <p:nvPr/>
          </p:nvCxnSpPr>
          <p:spPr>
            <a:xfrm>
              <a:off x="441675" y="-20117"/>
              <a:ext cx="0" cy="52149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67" name="Google Shape;267;p25"/>
          <p:cNvGrpSpPr/>
          <p:nvPr/>
        </p:nvGrpSpPr>
        <p:grpSpPr>
          <a:xfrm rot="-5400000">
            <a:off x="572252" y="4353460"/>
            <a:ext cx="281947" cy="1094035"/>
            <a:chOff x="7256520" y="835200"/>
            <a:chExt cx="562320" cy="2181960"/>
          </a:xfrm>
        </p:grpSpPr>
        <p:sp>
          <p:nvSpPr>
            <p:cNvPr id="268" name="Google Shape;268;p25"/>
            <p:cNvSpPr/>
            <p:nvPr/>
          </p:nvSpPr>
          <p:spPr>
            <a:xfrm>
              <a:off x="7256520" y="2444400"/>
              <a:ext cx="562320" cy="572760"/>
            </a:xfrm>
            <a:custGeom>
              <a:avLst/>
              <a:gdLst/>
              <a:ahLst/>
              <a:cxnLst/>
              <a:rect l="l" t="t" r="r" b="b"/>
              <a:pathLst>
                <a:path w="1562" h="1591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1"/>
                  </a:lnTo>
                  <a:lnTo>
                    <a:pt x="781" y="1096"/>
                  </a:lnTo>
                  <a:lnTo>
                    <a:pt x="1267" y="1591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25"/>
            <p:cNvSpPr/>
            <p:nvPr/>
          </p:nvSpPr>
          <p:spPr>
            <a:xfrm>
              <a:off x="7256520" y="1639800"/>
              <a:ext cx="562320" cy="573120"/>
            </a:xfrm>
            <a:custGeom>
              <a:avLst/>
              <a:gdLst/>
              <a:ahLst/>
              <a:cxnLst/>
              <a:rect l="l" t="t" r="r" b="b"/>
              <a:pathLst>
                <a:path w="1562" h="1592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2"/>
                  </a:lnTo>
                  <a:lnTo>
                    <a:pt x="781" y="1097"/>
                  </a:lnTo>
                  <a:lnTo>
                    <a:pt x="1267" y="1592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25"/>
            <p:cNvSpPr/>
            <p:nvPr/>
          </p:nvSpPr>
          <p:spPr>
            <a:xfrm>
              <a:off x="7256520" y="835200"/>
              <a:ext cx="562320" cy="573120"/>
            </a:xfrm>
            <a:custGeom>
              <a:avLst/>
              <a:gdLst/>
              <a:ahLst/>
              <a:cxnLst/>
              <a:rect l="l" t="t" r="r" b="b"/>
              <a:pathLst>
                <a:path w="1562" h="1592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2"/>
                  </a:lnTo>
                  <a:lnTo>
                    <a:pt x="781" y="1097"/>
                  </a:lnTo>
                  <a:lnTo>
                    <a:pt x="1267" y="1592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5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2"/>
          <p:cNvPicPr preferRelativeResize="0"/>
          <p:nvPr/>
        </p:nvPicPr>
        <p:blipFill>
          <a:blip r:embed="rId2">
            <a:alphaModFix amt="5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7" name="Google Shape;237;p22"/>
          <p:cNvGrpSpPr/>
          <p:nvPr/>
        </p:nvGrpSpPr>
        <p:grpSpPr>
          <a:xfrm>
            <a:off x="-285975" y="-806941"/>
            <a:ext cx="1455300" cy="5981458"/>
            <a:chOff x="-285975" y="-786675"/>
            <a:chExt cx="1455300" cy="5981458"/>
          </a:xfrm>
        </p:grpSpPr>
        <p:sp>
          <p:nvSpPr>
            <p:cNvPr id="238" name="Google Shape;238;p22"/>
            <p:cNvSpPr/>
            <p:nvPr/>
          </p:nvSpPr>
          <p:spPr>
            <a:xfrm>
              <a:off x="-285975" y="-786675"/>
              <a:ext cx="1455300" cy="14553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239" name="Google Shape;239;p22"/>
            <p:cNvCxnSpPr/>
            <p:nvPr/>
          </p:nvCxnSpPr>
          <p:spPr>
            <a:xfrm>
              <a:off x="441675" y="-20117"/>
              <a:ext cx="0" cy="52149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40" name="Google Shape;240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pic>
        <p:nvPicPr>
          <p:cNvPr id="241" name="Google Shape;24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81200" y="4655956"/>
            <a:ext cx="946200" cy="9488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2" name="Google Shape;242;p22"/>
          <p:cNvGrpSpPr/>
          <p:nvPr/>
        </p:nvGrpSpPr>
        <p:grpSpPr>
          <a:xfrm>
            <a:off x="-285975" y="-806941"/>
            <a:ext cx="1455300" cy="5981458"/>
            <a:chOff x="-285975" y="-786675"/>
            <a:chExt cx="1455300" cy="5981458"/>
          </a:xfrm>
        </p:grpSpPr>
        <p:sp>
          <p:nvSpPr>
            <p:cNvPr id="243" name="Google Shape;243;p22"/>
            <p:cNvSpPr/>
            <p:nvPr/>
          </p:nvSpPr>
          <p:spPr>
            <a:xfrm>
              <a:off x="-285975" y="-786675"/>
              <a:ext cx="1455300" cy="14553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244" name="Google Shape;244;p22"/>
            <p:cNvCxnSpPr/>
            <p:nvPr/>
          </p:nvCxnSpPr>
          <p:spPr>
            <a:xfrm>
              <a:off x="441675" y="-20117"/>
              <a:ext cx="0" cy="52149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643161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75C2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8" r:id="rId4"/>
    <p:sldLayoutId id="2147483662" r:id="rId5"/>
    <p:sldLayoutId id="2147483663" r:id="rId6"/>
    <p:sldLayoutId id="2147483665" r:id="rId7"/>
    <p:sldLayoutId id="2147483667" r:id="rId8"/>
    <p:sldLayoutId id="2147483670" r:id="rId9"/>
    <p:sldLayoutId id="2147483671" r:id="rId10"/>
    <p:sldLayoutId id="2147483675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5C2F"/>
        </a:solidFill>
        <a:effectLst/>
      </p:bgPr>
    </p:bg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9"/>
          <p:cNvSpPr txBox="1">
            <a:spLocks noGrp="1"/>
          </p:cNvSpPr>
          <p:nvPr>
            <p:ph type="ctrTitle"/>
          </p:nvPr>
        </p:nvSpPr>
        <p:spPr>
          <a:xfrm>
            <a:off x="447225" y="701245"/>
            <a:ext cx="6860355" cy="248198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spcAft>
                <a:spcPts val="200"/>
              </a:spcAft>
            </a:pPr>
            <a:r>
              <a:rPr lang="en-US" sz="4400" dirty="0">
                <a:solidFill>
                  <a:schemeClr val="tx1"/>
                </a:solidFill>
              </a:rPr>
              <a:t>Optimizing the Egyptian Premier League Schedule</a:t>
            </a:r>
            <a:endParaRPr sz="4400" dirty="0">
              <a:solidFill>
                <a:schemeClr val="tx1"/>
              </a:solidFill>
            </a:endParaRPr>
          </a:p>
        </p:txBody>
      </p:sp>
      <p:sp>
        <p:nvSpPr>
          <p:cNvPr id="282" name="Google Shape;282;p29"/>
          <p:cNvSpPr txBox="1">
            <a:spLocks noGrp="1"/>
          </p:cNvSpPr>
          <p:nvPr>
            <p:ph type="subTitle" idx="1"/>
          </p:nvPr>
        </p:nvSpPr>
        <p:spPr>
          <a:xfrm>
            <a:off x="447225" y="3183225"/>
            <a:ext cx="7927155" cy="39093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b="1" dirty="0"/>
              <a:t>A Mathematical Optimization Approach using Integer Linear Programming</a:t>
            </a:r>
            <a:endParaRPr b="1" dirty="0"/>
          </a:p>
        </p:txBody>
      </p:sp>
      <p:cxnSp>
        <p:nvCxnSpPr>
          <p:cNvPr id="283" name="Google Shape;283;p29"/>
          <p:cNvCxnSpPr/>
          <p:nvPr/>
        </p:nvCxnSpPr>
        <p:spPr>
          <a:xfrm rot="10800000">
            <a:off x="449400" y="3000345"/>
            <a:ext cx="41226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" name="Google Shape;689;p55">
            <a:extLst>
              <a:ext uri="{FF2B5EF4-FFF2-40B4-BE49-F238E27FC236}">
                <a16:creationId xmlns:a16="http://schemas.microsoft.com/office/drawing/2014/main" id="{6FBFCD4E-F247-4D7F-BBD5-2DA6CC1F355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225" y="3757035"/>
            <a:ext cx="1782250" cy="1282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accel="60000" fill="hold" nodeType="with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7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8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accel="6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4"/>
          <p:cNvSpPr txBox="1">
            <a:spLocks noGrp="1"/>
          </p:cNvSpPr>
          <p:nvPr>
            <p:ph type="title"/>
          </p:nvPr>
        </p:nvSpPr>
        <p:spPr>
          <a:xfrm>
            <a:off x="2083725" y="1527636"/>
            <a:ext cx="4894500" cy="96572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331" name="Google Shape;331;p34"/>
          <p:cNvSpPr txBox="1">
            <a:spLocks noGrp="1"/>
          </p:cNvSpPr>
          <p:nvPr>
            <p:ph type="title" idx="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330" name="Google Shape;330;p34"/>
          <p:cNvSpPr txBox="1">
            <a:spLocks noGrp="1"/>
          </p:cNvSpPr>
          <p:nvPr>
            <p:ph type="subTitle" idx="1"/>
          </p:nvPr>
        </p:nvSpPr>
        <p:spPr>
          <a:xfrm>
            <a:off x="2124750" y="2800190"/>
            <a:ext cx="5806964" cy="5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b="1" dirty="0"/>
              <a:t>Introduction To The Project And Problem Overview </a:t>
            </a:r>
          </a:p>
        </p:txBody>
      </p:sp>
      <p:grpSp>
        <p:nvGrpSpPr>
          <p:cNvPr id="332" name="Google Shape;332;p34"/>
          <p:cNvGrpSpPr/>
          <p:nvPr/>
        </p:nvGrpSpPr>
        <p:grpSpPr>
          <a:xfrm>
            <a:off x="7931714" y="398014"/>
            <a:ext cx="281947" cy="1094035"/>
            <a:chOff x="7256520" y="835200"/>
            <a:chExt cx="562320" cy="2181960"/>
          </a:xfrm>
        </p:grpSpPr>
        <p:sp>
          <p:nvSpPr>
            <p:cNvPr id="333" name="Google Shape;333;p34"/>
            <p:cNvSpPr/>
            <p:nvPr/>
          </p:nvSpPr>
          <p:spPr>
            <a:xfrm>
              <a:off x="7256520" y="2444400"/>
              <a:ext cx="562320" cy="572760"/>
            </a:xfrm>
            <a:custGeom>
              <a:avLst/>
              <a:gdLst/>
              <a:ahLst/>
              <a:cxnLst/>
              <a:rect l="l" t="t" r="r" b="b"/>
              <a:pathLst>
                <a:path w="1562" h="1591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1"/>
                  </a:lnTo>
                  <a:lnTo>
                    <a:pt x="781" y="1096"/>
                  </a:lnTo>
                  <a:lnTo>
                    <a:pt x="1267" y="1591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34"/>
            <p:cNvSpPr/>
            <p:nvPr/>
          </p:nvSpPr>
          <p:spPr>
            <a:xfrm>
              <a:off x="7256520" y="1639800"/>
              <a:ext cx="562320" cy="573120"/>
            </a:xfrm>
            <a:custGeom>
              <a:avLst/>
              <a:gdLst/>
              <a:ahLst/>
              <a:cxnLst/>
              <a:rect l="l" t="t" r="r" b="b"/>
              <a:pathLst>
                <a:path w="1562" h="1592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2"/>
                  </a:lnTo>
                  <a:lnTo>
                    <a:pt x="781" y="1097"/>
                  </a:lnTo>
                  <a:lnTo>
                    <a:pt x="1267" y="1592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34"/>
            <p:cNvSpPr/>
            <p:nvPr/>
          </p:nvSpPr>
          <p:spPr>
            <a:xfrm>
              <a:off x="7256520" y="835200"/>
              <a:ext cx="562320" cy="573120"/>
            </a:xfrm>
            <a:custGeom>
              <a:avLst/>
              <a:gdLst/>
              <a:ahLst/>
              <a:cxnLst/>
              <a:rect l="l" t="t" r="r" b="b"/>
              <a:pathLst>
                <a:path w="1562" h="1592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2"/>
                  </a:lnTo>
                  <a:lnTo>
                    <a:pt x="781" y="1097"/>
                  </a:lnTo>
                  <a:lnTo>
                    <a:pt x="1267" y="1592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5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36" name="Google Shape;336;p34"/>
          <p:cNvCxnSpPr/>
          <p:nvPr/>
        </p:nvCxnSpPr>
        <p:spPr>
          <a:xfrm rot="10800000">
            <a:off x="2124700" y="2598750"/>
            <a:ext cx="65568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3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3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3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A885B0-2086-58B9-44DB-C5D08A8A166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12956" y="866657"/>
            <a:ext cx="8302269" cy="3831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M Sans" pitchFamily="2" charset="0"/>
            </a:endParaRPr>
          </a:p>
          <a:p>
            <a:pPr marL="285750" marR="0" lvl="0" indent="-285750" algn="l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b="1" dirty="0">
                <a:solidFill>
                  <a:schemeClr val="tx1"/>
                </a:solidFill>
                <a:latin typeface="DM Sans" pitchFamily="2" charset="0"/>
              </a:rPr>
              <a:t>For years, league scheduling relied on manual planning, quietly accumulating issues that became impossible to ignore during Egypt’s emergency hosting of AFCON 2019.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This forced a significant disruption to the standard calendar.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The league is currently trapped in a "Domino Effect" of delayed starts and compressed schedules, which results in:</a:t>
            </a:r>
          </a:p>
          <a:p>
            <a:pPr marL="742950" lvl="1" indent="-28575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Fixture Congestion: Teams facing impossible turnaround time</a:t>
            </a:r>
          </a:p>
          <a:p>
            <a:pPr marL="742950" lvl="1" indent="-28575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Uneven Rest: Disparities in recovery time between competing clubs.</a:t>
            </a:r>
          </a:p>
          <a:p>
            <a:pPr marL="742950" lvl="1" indent="-28575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Frequent Postponements: A chaotic schedule that changes frequently.</a:t>
            </a:r>
          </a:p>
          <a:p>
            <a:pPr marL="457200" lvl="1" indent="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M Sans" pitchFamily="2" charset="0"/>
            </a:endParaRPr>
          </a:p>
        </p:txBody>
      </p:sp>
      <p:sp>
        <p:nvSpPr>
          <p:cNvPr id="314" name="Google Shape;314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The origin of the story 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A885B0-2086-58B9-44DB-C5D08A8A166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19200" y="-469281"/>
            <a:ext cx="8050620" cy="48474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600" b="1" dirty="0">
              <a:solidFill>
                <a:schemeClr val="tx1"/>
              </a:solidFill>
              <a:latin typeface="DM Sans" pitchFamily="2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M Sans" pitchFamily="2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1600" b="1" dirty="0">
              <a:solidFill>
                <a:schemeClr val="tx1"/>
              </a:solidFill>
              <a:latin typeface="DM Sans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600" b="1" dirty="0">
              <a:solidFill>
                <a:schemeClr val="tx1"/>
              </a:solidFill>
              <a:latin typeface="DM Sans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M Sans" pitchFamily="2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Global Disruption: </a:t>
            </a:r>
            <a:r>
              <a:rPr kumimoji="0" lang="en-US" altLang="en-US" sz="1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COVID-19 disrupted global sport, resulting in further delays.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5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M Sans" pitchFamily="2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This accumulation pushed season start dates as far back as December, creating a time deficit that was never recovered.</a:t>
            </a:r>
          </a:p>
          <a:p>
            <a:pPr marL="457200" lvl="1" indent="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dirty="0"/>
          </a:p>
          <a:p>
            <a:pPr marL="742950" lvl="1" indent="-28575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M Sans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M Sans" pitchFamily="2" charset="0"/>
            </a:endParaRPr>
          </a:p>
        </p:txBody>
      </p:sp>
      <p:sp>
        <p:nvSpPr>
          <p:cNvPr id="314" name="Google Shape;314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The Aggravator (COVID-19)</a:t>
            </a:r>
          </a:p>
        </p:txBody>
      </p:sp>
    </p:spTree>
    <p:extLst>
      <p:ext uri="{BB962C8B-B14F-4D97-AF65-F5344CB8AC3E}">
        <p14:creationId xmlns:p14="http://schemas.microsoft.com/office/powerpoint/2010/main" val="4177559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46"/>
          <p:cNvSpPr txBox="1">
            <a:spLocks noGrp="1"/>
          </p:cNvSpPr>
          <p:nvPr>
            <p:ph type="title"/>
          </p:nvPr>
        </p:nvSpPr>
        <p:spPr>
          <a:xfrm>
            <a:off x="1802100" y="441657"/>
            <a:ext cx="5932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Visualizing the Disparity</a:t>
            </a:r>
          </a:p>
        </p:txBody>
      </p:sp>
      <p:cxnSp>
        <p:nvCxnSpPr>
          <p:cNvPr id="520" name="Google Shape;520;p46"/>
          <p:cNvCxnSpPr>
            <a:cxnSpLocks/>
          </p:cNvCxnSpPr>
          <p:nvPr/>
        </p:nvCxnSpPr>
        <p:spPr>
          <a:xfrm>
            <a:off x="5620974" y="1375974"/>
            <a:ext cx="0" cy="2391552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6CB7549-DDAA-42C5-8294-F942BAD1F395}"/>
              </a:ext>
            </a:extLst>
          </p:cNvPr>
          <p:cNvSpPr txBox="1"/>
          <p:nvPr/>
        </p:nvSpPr>
        <p:spPr>
          <a:xfrm>
            <a:off x="5810024" y="1535544"/>
            <a:ext cx="3188051" cy="2274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i="0" dirty="0">
                <a:solidFill>
                  <a:schemeClr val="tx1"/>
                </a:solidFill>
                <a:effectLst/>
                <a:latin typeface="DM Sans" panose="020B0604020202020204" charset="0"/>
              </a:rPr>
              <a:t>This chart illustrates the 2020/2021 problem’s peak, comparing the disparity in matches played by five teams at the same point in the season.</a:t>
            </a:r>
            <a:endParaRPr lang="en-US" sz="1600" b="1" dirty="0">
              <a:solidFill>
                <a:schemeClr val="tx1"/>
              </a:solidFill>
              <a:latin typeface="DM Sans" panose="020B060402020202020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218D982-FE51-46EA-A7E3-255BCADF22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701" y="1224870"/>
            <a:ext cx="4993900" cy="2693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4538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46"/>
          <p:cNvSpPr txBox="1">
            <a:spLocks noGrp="1"/>
          </p:cNvSpPr>
          <p:nvPr>
            <p:ph type="title"/>
          </p:nvPr>
        </p:nvSpPr>
        <p:spPr>
          <a:xfrm>
            <a:off x="916500" y="398457"/>
            <a:ext cx="7493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2024/2025 Exceptional Format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E04750-94B4-47C2-87E9-581FB9B6F9EC}"/>
              </a:ext>
            </a:extLst>
          </p:cNvPr>
          <p:cNvSpPr txBox="1"/>
          <p:nvPr/>
        </p:nvSpPr>
        <p:spPr>
          <a:xfrm>
            <a:off x="617035" y="1152293"/>
            <a:ext cx="8779726" cy="2490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The Qualifier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: All 18 teams compete in a single round-robin format (17 matches per team), with no return legs.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The Split:</a:t>
            </a:r>
          </a:p>
          <a:p>
            <a:pPr marL="742950" lvl="1" indent="-285750" algn="l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Top 9: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Compete for the league title and continental qualification.</a:t>
            </a:r>
          </a:p>
          <a:p>
            <a:pPr marL="742950" lvl="1" indent="-285750" algn="l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600" b="1" dirty="0">
                <a:solidFill>
                  <a:schemeClr val="tx1"/>
                </a:solidFill>
                <a:latin typeface="DM Sans" pitchFamily="2" charset="0"/>
              </a:rPr>
              <a:t>Bottom 9: </a:t>
            </a:r>
            <a:r>
              <a:rPr lang="en-US" altLang="en-US" sz="1600" dirty="0">
                <a:solidFill>
                  <a:schemeClr val="tx1"/>
                </a:solidFill>
                <a:latin typeface="DM Sans" pitchFamily="2" charset="0"/>
              </a:rPr>
              <a:t>Compete to avoid relegation.</a:t>
            </a: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M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8569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>
          <a:extLst>
            <a:ext uri="{FF2B5EF4-FFF2-40B4-BE49-F238E27FC236}">
              <a16:creationId xmlns:a16="http://schemas.microsoft.com/office/drawing/2014/main" id="{B411C630-42BA-5BD3-ED41-969D0C16F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9CD9A0B5-2820-A567-93F8-01E335C0BBE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86308" y="1433714"/>
            <a:ext cx="7963080" cy="3000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Structured Framework: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 Model the league using Integer Linear Programming (ILP).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Time Management: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 Fit the standard 34-round season strictly between August and May.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Constraint Satisfaction: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 Respect CAF commitments, Security refusals, and FIFA breaks.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Fairness: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 Balance Home/Away streaks and travel distances.</a:t>
            </a:r>
          </a:p>
        </p:txBody>
      </p:sp>
      <p:sp>
        <p:nvSpPr>
          <p:cNvPr id="314" name="Google Shape;314;p32">
            <a:extLst>
              <a:ext uri="{FF2B5EF4-FFF2-40B4-BE49-F238E27FC236}">
                <a16:creationId xmlns:a16="http://schemas.microsoft.com/office/drawing/2014/main" id="{976DABBE-4DD0-ED40-7806-E9877F9CD2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3375" y="59858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Our Goal</a:t>
            </a:r>
            <a:endParaRPr dirty="0"/>
          </a:p>
        </p:txBody>
      </p:sp>
      <p:sp>
        <p:nvSpPr>
          <p:cNvPr id="2" name="Google Shape;314;p32">
            <a:extLst>
              <a:ext uri="{FF2B5EF4-FFF2-40B4-BE49-F238E27FC236}">
                <a16:creationId xmlns:a16="http://schemas.microsoft.com/office/drawing/2014/main" id="{D7E3F853-1960-F253-BA75-30AA08D568EC}"/>
              </a:ext>
            </a:extLst>
          </p:cNvPr>
          <p:cNvSpPr txBox="1">
            <a:spLocks/>
          </p:cNvSpPr>
          <p:nvPr/>
        </p:nvSpPr>
        <p:spPr>
          <a:xfrm>
            <a:off x="566240" y="963827"/>
            <a:ext cx="7543980" cy="440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 lang="en-US" sz="2400" dirty="0"/>
          </a:p>
        </p:txBody>
      </p:sp>
      <p:grpSp>
        <p:nvGrpSpPr>
          <p:cNvPr id="10" name="Google Shape;8456;p67">
            <a:extLst>
              <a:ext uri="{FF2B5EF4-FFF2-40B4-BE49-F238E27FC236}">
                <a16:creationId xmlns:a16="http://schemas.microsoft.com/office/drawing/2014/main" id="{60D61B3E-E130-127B-F01E-5E1C090C0A7F}"/>
              </a:ext>
            </a:extLst>
          </p:cNvPr>
          <p:cNvGrpSpPr/>
          <p:nvPr/>
        </p:nvGrpSpPr>
        <p:grpSpPr>
          <a:xfrm>
            <a:off x="646087" y="2430375"/>
            <a:ext cx="340221" cy="340168"/>
            <a:chOff x="3270475" y="1427025"/>
            <a:chExt cx="483200" cy="483125"/>
          </a:xfrm>
          <a:solidFill>
            <a:schemeClr val="tx2">
              <a:lumMod val="95000"/>
            </a:schemeClr>
          </a:solidFill>
        </p:grpSpPr>
        <p:sp>
          <p:nvSpPr>
            <p:cNvPr id="11" name="Google Shape;8457;p67">
              <a:extLst>
                <a:ext uri="{FF2B5EF4-FFF2-40B4-BE49-F238E27FC236}">
                  <a16:creationId xmlns:a16="http://schemas.microsoft.com/office/drawing/2014/main" id="{6A34FFD7-F1BC-8A3D-1BE0-DAAFC56848CD}"/>
                </a:ext>
              </a:extLst>
            </p:cNvPr>
            <p:cNvSpPr/>
            <p:nvPr/>
          </p:nvSpPr>
          <p:spPr>
            <a:xfrm>
              <a:off x="3270475" y="1427025"/>
              <a:ext cx="483200" cy="483125"/>
            </a:xfrm>
            <a:custGeom>
              <a:avLst/>
              <a:gdLst/>
              <a:ahLst/>
              <a:cxnLst/>
              <a:rect l="l" t="t" r="r" b="b"/>
              <a:pathLst>
                <a:path w="19328" h="19325" extrusionOk="0">
                  <a:moveTo>
                    <a:pt x="9630" y="1133"/>
                  </a:moveTo>
                  <a:cubicBezTo>
                    <a:pt x="14352" y="1133"/>
                    <a:pt x="18196" y="4943"/>
                    <a:pt x="18196" y="9626"/>
                  </a:cubicBezTo>
                  <a:cubicBezTo>
                    <a:pt x="18196" y="14349"/>
                    <a:pt x="14352" y="18193"/>
                    <a:pt x="9630" y="18193"/>
                  </a:cubicBezTo>
                  <a:cubicBezTo>
                    <a:pt x="4946" y="18193"/>
                    <a:pt x="1136" y="14349"/>
                    <a:pt x="1136" y="9626"/>
                  </a:cubicBezTo>
                  <a:cubicBezTo>
                    <a:pt x="1136" y="4943"/>
                    <a:pt x="4946" y="1133"/>
                    <a:pt x="9630" y="1133"/>
                  </a:cubicBezTo>
                  <a:close/>
                  <a:moveTo>
                    <a:pt x="9641" y="0"/>
                  </a:moveTo>
                  <a:cubicBezTo>
                    <a:pt x="9637" y="0"/>
                    <a:pt x="9633" y="0"/>
                    <a:pt x="9630" y="0"/>
                  </a:cubicBezTo>
                  <a:cubicBezTo>
                    <a:pt x="4312" y="0"/>
                    <a:pt x="4" y="4309"/>
                    <a:pt x="4" y="9626"/>
                  </a:cubicBezTo>
                  <a:cubicBezTo>
                    <a:pt x="1" y="12187"/>
                    <a:pt x="1012" y="14648"/>
                    <a:pt x="2821" y="16465"/>
                  </a:cubicBezTo>
                  <a:cubicBezTo>
                    <a:pt x="4644" y="18310"/>
                    <a:pt x="7063" y="19325"/>
                    <a:pt x="9630" y="19325"/>
                  </a:cubicBezTo>
                  <a:cubicBezTo>
                    <a:pt x="10922" y="19325"/>
                    <a:pt x="12199" y="19065"/>
                    <a:pt x="13389" y="18555"/>
                  </a:cubicBezTo>
                  <a:cubicBezTo>
                    <a:pt x="15711" y="17558"/>
                    <a:pt x="17562" y="15708"/>
                    <a:pt x="18558" y="13386"/>
                  </a:cubicBezTo>
                  <a:cubicBezTo>
                    <a:pt x="19068" y="12196"/>
                    <a:pt x="19328" y="10919"/>
                    <a:pt x="19328" y="9626"/>
                  </a:cubicBezTo>
                  <a:cubicBezTo>
                    <a:pt x="19328" y="7060"/>
                    <a:pt x="18313" y="4641"/>
                    <a:pt x="16469" y="2818"/>
                  </a:cubicBezTo>
                  <a:cubicBezTo>
                    <a:pt x="14654" y="1012"/>
                    <a:pt x="12197" y="0"/>
                    <a:pt x="96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  <a:latin typeface="DM Sans" pitchFamily="2" charset="0"/>
              </a:endParaRPr>
            </a:p>
          </p:txBody>
        </p:sp>
        <p:sp>
          <p:nvSpPr>
            <p:cNvPr id="12" name="Google Shape;8458;p67">
              <a:extLst>
                <a:ext uri="{FF2B5EF4-FFF2-40B4-BE49-F238E27FC236}">
                  <a16:creationId xmlns:a16="http://schemas.microsoft.com/office/drawing/2014/main" id="{1FBA6334-F32C-21AF-7E53-446BC9CCBA44}"/>
                </a:ext>
              </a:extLst>
            </p:cNvPr>
            <p:cNvSpPr/>
            <p:nvPr/>
          </p:nvSpPr>
          <p:spPr>
            <a:xfrm>
              <a:off x="3497550" y="1596875"/>
              <a:ext cx="87650" cy="141525"/>
            </a:xfrm>
            <a:custGeom>
              <a:avLst/>
              <a:gdLst/>
              <a:ahLst/>
              <a:cxnLst/>
              <a:rect l="l" t="t" r="r" b="b"/>
              <a:pathLst>
                <a:path w="3506" h="5661" extrusionOk="0">
                  <a:moveTo>
                    <a:pt x="2885" y="1"/>
                  </a:moveTo>
                  <a:cubicBezTo>
                    <a:pt x="2740" y="1"/>
                    <a:pt x="2595" y="56"/>
                    <a:pt x="2485" y="166"/>
                  </a:cubicBezTo>
                  <a:lnTo>
                    <a:pt x="220" y="2431"/>
                  </a:lnTo>
                  <a:cubicBezTo>
                    <a:pt x="0" y="2651"/>
                    <a:pt x="0" y="3011"/>
                    <a:pt x="220" y="3231"/>
                  </a:cubicBezTo>
                  <a:lnTo>
                    <a:pt x="2485" y="5496"/>
                  </a:lnTo>
                  <a:cubicBezTo>
                    <a:pt x="2595" y="5606"/>
                    <a:pt x="2740" y="5661"/>
                    <a:pt x="2885" y="5661"/>
                  </a:cubicBezTo>
                  <a:cubicBezTo>
                    <a:pt x="3030" y="5661"/>
                    <a:pt x="3175" y="5606"/>
                    <a:pt x="3285" y="5496"/>
                  </a:cubicBezTo>
                  <a:cubicBezTo>
                    <a:pt x="3506" y="5275"/>
                    <a:pt x="3506" y="4916"/>
                    <a:pt x="3285" y="4695"/>
                  </a:cubicBezTo>
                  <a:lnTo>
                    <a:pt x="1422" y="2832"/>
                  </a:lnTo>
                  <a:lnTo>
                    <a:pt x="3285" y="966"/>
                  </a:lnTo>
                  <a:cubicBezTo>
                    <a:pt x="3506" y="746"/>
                    <a:pt x="3506" y="387"/>
                    <a:pt x="3285" y="166"/>
                  </a:cubicBezTo>
                  <a:cubicBezTo>
                    <a:pt x="3175" y="56"/>
                    <a:pt x="3030" y="1"/>
                    <a:pt x="28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  <a:latin typeface="DM Sans" pitchFamily="2" charset="0"/>
              </a:endParaRPr>
            </a:p>
          </p:txBody>
        </p:sp>
        <p:sp>
          <p:nvSpPr>
            <p:cNvPr id="13" name="Google Shape;8459;p67">
              <a:extLst>
                <a:ext uri="{FF2B5EF4-FFF2-40B4-BE49-F238E27FC236}">
                  <a16:creationId xmlns:a16="http://schemas.microsoft.com/office/drawing/2014/main" id="{8E0EB250-70CD-9C6E-347E-1C16CC781C37}"/>
                </a:ext>
              </a:extLst>
            </p:cNvPr>
            <p:cNvSpPr/>
            <p:nvPr/>
          </p:nvSpPr>
          <p:spPr>
            <a:xfrm>
              <a:off x="3327100" y="1483625"/>
              <a:ext cx="369975" cy="369925"/>
            </a:xfrm>
            <a:custGeom>
              <a:avLst/>
              <a:gdLst/>
              <a:ahLst/>
              <a:cxnLst/>
              <a:rect l="l" t="t" r="r" b="b"/>
              <a:pathLst>
                <a:path w="14799" h="14797" extrusionOk="0">
                  <a:moveTo>
                    <a:pt x="7929" y="1157"/>
                  </a:moveTo>
                  <a:cubicBezTo>
                    <a:pt x="9206" y="1272"/>
                    <a:pt x="10420" y="1770"/>
                    <a:pt x="11411" y="2589"/>
                  </a:cubicBezTo>
                  <a:lnTo>
                    <a:pt x="11042" y="2957"/>
                  </a:lnTo>
                  <a:cubicBezTo>
                    <a:pt x="10828" y="3180"/>
                    <a:pt x="10831" y="3534"/>
                    <a:pt x="11048" y="3751"/>
                  </a:cubicBezTo>
                  <a:cubicBezTo>
                    <a:pt x="11158" y="3861"/>
                    <a:pt x="11303" y="3916"/>
                    <a:pt x="11448" y="3916"/>
                  </a:cubicBezTo>
                  <a:cubicBezTo>
                    <a:pt x="11590" y="3916"/>
                    <a:pt x="11732" y="3863"/>
                    <a:pt x="11842" y="3757"/>
                  </a:cubicBezTo>
                  <a:lnTo>
                    <a:pt x="12214" y="3389"/>
                  </a:lnTo>
                  <a:cubicBezTo>
                    <a:pt x="13026" y="4349"/>
                    <a:pt x="13524" y="5539"/>
                    <a:pt x="13639" y="6795"/>
                  </a:cubicBezTo>
                  <a:lnTo>
                    <a:pt x="13101" y="6795"/>
                  </a:lnTo>
                  <a:cubicBezTo>
                    <a:pt x="12787" y="6795"/>
                    <a:pt x="12534" y="7048"/>
                    <a:pt x="12534" y="7362"/>
                  </a:cubicBezTo>
                  <a:cubicBezTo>
                    <a:pt x="12534" y="7673"/>
                    <a:pt x="12787" y="7927"/>
                    <a:pt x="13101" y="7927"/>
                  </a:cubicBezTo>
                  <a:lnTo>
                    <a:pt x="13639" y="7927"/>
                  </a:lnTo>
                  <a:cubicBezTo>
                    <a:pt x="13515" y="9198"/>
                    <a:pt x="13005" y="10400"/>
                    <a:pt x="12178" y="11375"/>
                  </a:cubicBezTo>
                  <a:lnTo>
                    <a:pt x="11842" y="11040"/>
                  </a:lnTo>
                  <a:cubicBezTo>
                    <a:pt x="11732" y="10934"/>
                    <a:pt x="11590" y="10881"/>
                    <a:pt x="11448" y="10881"/>
                  </a:cubicBezTo>
                  <a:cubicBezTo>
                    <a:pt x="11303" y="10881"/>
                    <a:pt x="11158" y="10936"/>
                    <a:pt x="11048" y="11046"/>
                  </a:cubicBezTo>
                  <a:cubicBezTo>
                    <a:pt x="10831" y="11264"/>
                    <a:pt x="10828" y="11617"/>
                    <a:pt x="11042" y="11840"/>
                  </a:cubicBezTo>
                  <a:lnTo>
                    <a:pt x="11377" y="12175"/>
                  </a:lnTo>
                  <a:cubicBezTo>
                    <a:pt x="10402" y="13003"/>
                    <a:pt x="9200" y="13513"/>
                    <a:pt x="7929" y="13637"/>
                  </a:cubicBezTo>
                  <a:lnTo>
                    <a:pt x="7929" y="13099"/>
                  </a:lnTo>
                  <a:cubicBezTo>
                    <a:pt x="7929" y="12785"/>
                    <a:pt x="7676" y="12532"/>
                    <a:pt x="7365" y="12532"/>
                  </a:cubicBezTo>
                  <a:cubicBezTo>
                    <a:pt x="7051" y="12532"/>
                    <a:pt x="6797" y="12785"/>
                    <a:pt x="6797" y="13099"/>
                  </a:cubicBezTo>
                  <a:lnTo>
                    <a:pt x="6797" y="13637"/>
                  </a:lnTo>
                  <a:cubicBezTo>
                    <a:pt x="5541" y="13522"/>
                    <a:pt x="4351" y="13024"/>
                    <a:pt x="3391" y="12212"/>
                  </a:cubicBezTo>
                  <a:lnTo>
                    <a:pt x="3759" y="11840"/>
                  </a:lnTo>
                  <a:cubicBezTo>
                    <a:pt x="3974" y="11617"/>
                    <a:pt x="3971" y="11264"/>
                    <a:pt x="3753" y="11046"/>
                  </a:cubicBezTo>
                  <a:cubicBezTo>
                    <a:pt x="3643" y="10936"/>
                    <a:pt x="3499" y="10881"/>
                    <a:pt x="3354" y="10881"/>
                  </a:cubicBezTo>
                  <a:cubicBezTo>
                    <a:pt x="3212" y="10881"/>
                    <a:pt x="3070" y="10934"/>
                    <a:pt x="2959" y="11040"/>
                  </a:cubicBezTo>
                  <a:lnTo>
                    <a:pt x="2591" y="11408"/>
                  </a:lnTo>
                  <a:cubicBezTo>
                    <a:pt x="1773" y="10418"/>
                    <a:pt x="1274" y="9204"/>
                    <a:pt x="1160" y="7927"/>
                  </a:cubicBezTo>
                  <a:lnTo>
                    <a:pt x="1703" y="7927"/>
                  </a:lnTo>
                  <a:cubicBezTo>
                    <a:pt x="2014" y="7927"/>
                    <a:pt x="2268" y="7673"/>
                    <a:pt x="2268" y="7362"/>
                  </a:cubicBezTo>
                  <a:cubicBezTo>
                    <a:pt x="2268" y="7048"/>
                    <a:pt x="2014" y="6795"/>
                    <a:pt x="1703" y="6795"/>
                  </a:cubicBezTo>
                  <a:lnTo>
                    <a:pt x="1163" y="6795"/>
                  </a:lnTo>
                  <a:cubicBezTo>
                    <a:pt x="1274" y="5539"/>
                    <a:pt x="1770" y="4346"/>
                    <a:pt x="2579" y="3377"/>
                  </a:cubicBezTo>
                  <a:lnTo>
                    <a:pt x="2959" y="3757"/>
                  </a:lnTo>
                  <a:cubicBezTo>
                    <a:pt x="3070" y="3863"/>
                    <a:pt x="3212" y="3916"/>
                    <a:pt x="3354" y="3916"/>
                  </a:cubicBezTo>
                  <a:cubicBezTo>
                    <a:pt x="3499" y="3916"/>
                    <a:pt x="3643" y="3861"/>
                    <a:pt x="3753" y="3751"/>
                  </a:cubicBezTo>
                  <a:cubicBezTo>
                    <a:pt x="3971" y="3534"/>
                    <a:pt x="3974" y="3180"/>
                    <a:pt x="3759" y="2957"/>
                  </a:cubicBezTo>
                  <a:lnTo>
                    <a:pt x="3379" y="2577"/>
                  </a:lnTo>
                  <a:cubicBezTo>
                    <a:pt x="4348" y="1767"/>
                    <a:pt x="5541" y="1272"/>
                    <a:pt x="6797" y="1160"/>
                  </a:cubicBezTo>
                  <a:lnTo>
                    <a:pt x="6797" y="1701"/>
                  </a:lnTo>
                  <a:cubicBezTo>
                    <a:pt x="6797" y="2012"/>
                    <a:pt x="7051" y="2266"/>
                    <a:pt x="7365" y="2266"/>
                  </a:cubicBezTo>
                  <a:cubicBezTo>
                    <a:pt x="7676" y="2266"/>
                    <a:pt x="7929" y="2012"/>
                    <a:pt x="7929" y="1701"/>
                  </a:cubicBezTo>
                  <a:lnTo>
                    <a:pt x="7929" y="1157"/>
                  </a:lnTo>
                  <a:close/>
                  <a:moveTo>
                    <a:pt x="7376" y="1"/>
                  </a:moveTo>
                  <a:cubicBezTo>
                    <a:pt x="7372" y="1"/>
                    <a:pt x="7368" y="1"/>
                    <a:pt x="7365" y="1"/>
                  </a:cubicBezTo>
                  <a:cubicBezTo>
                    <a:pt x="5435" y="1"/>
                    <a:pt x="3581" y="759"/>
                    <a:pt x="2210" y="2115"/>
                  </a:cubicBezTo>
                  <a:cubicBezTo>
                    <a:pt x="2174" y="2142"/>
                    <a:pt x="2141" y="2172"/>
                    <a:pt x="2114" y="2208"/>
                  </a:cubicBezTo>
                  <a:cubicBezTo>
                    <a:pt x="761" y="3582"/>
                    <a:pt x="3" y="5433"/>
                    <a:pt x="3" y="7362"/>
                  </a:cubicBezTo>
                  <a:cubicBezTo>
                    <a:pt x="0" y="9322"/>
                    <a:pt x="776" y="11206"/>
                    <a:pt x="2159" y="12598"/>
                  </a:cubicBezTo>
                  <a:lnTo>
                    <a:pt x="2177" y="12616"/>
                  </a:lnTo>
                  <a:lnTo>
                    <a:pt x="2180" y="12619"/>
                  </a:lnTo>
                  <a:lnTo>
                    <a:pt x="2186" y="12625"/>
                  </a:lnTo>
                  <a:cubicBezTo>
                    <a:pt x="3578" y="14023"/>
                    <a:pt x="5414" y="14796"/>
                    <a:pt x="7365" y="14796"/>
                  </a:cubicBezTo>
                  <a:cubicBezTo>
                    <a:pt x="9327" y="14796"/>
                    <a:pt x="11187" y="14017"/>
                    <a:pt x="12603" y="12601"/>
                  </a:cubicBezTo>
                  <a:cubicBezTo>
                    <a:pt x="14019" y="11185"/>
                    <a:pt x="14798" y="9325"/>
                    <a:pt x="14798" y="7362"/>
                  </a:cubicBezTo>
                  <a:cubicBezTo>
                    <a:pt x="14798" y="5415"/>
                    <a:pt x="14028" y="3576"/>
                    <a:pt x="12627" y="2184"/>
                  </a:cubicBezTo>
                  <a:lnTo>
                    <a:pt x="12621" y="2178"/>
                  </a:lnTo>
                  <a:cubicBezTo>
                    <a:pt x="12621" y="2175"/>
                    <a:pt x="12618" y="2175"/>
                    <a:pt x="12618" y="2175"/>
                  </a:cubicBezTo>
                  <a:lnTo>
                    <a:pt x="12600" y="2157"/>
                  </a:lnTo>
                  <a:cubicBezTo>
                    <a:pt x="11211" y="777"/>
                    <a:pt x="9331" y="1"/>
                    <a:pt x="73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  <a:latin typeface="DM Sans" pitchFamily="2" charset="0"/>
              </a:endParaRPr>
            </a:p>
          </p:txBody>
        </p:sp>
      </p:grpSp>
      <p:grpSp>
        <p:nvGrpSpPr>
          <p:cNvPr id="14" name="Google Shape;8466;p67">
            <a:extLst>
              <a:ext uri="{FF2B5EF4-FFF2-40B4-BE49-F238E27FC236}">
                <a16:creationId xmlns:a16="http://schemas.microsoft.com/office/drawing/2014/main" id="{3BAB6764-A3C5-6CA1-AE58-1015E79166F2}"/>
              </a:ext>
            </a:extLst>
          </p:cNvPr>
          <p:cNvGrpSpPr/>
          <p:nvPr/>
        </p:nvGrpSpPr>
        <p:grpSpPr>
          <a:xfrm>
            <a:off x="634583" y="4094367"/>
            <a:ext cx="340221" cy="340168"/>
            <a:chOff x="5648375" y="1427025"/>
            <a:chExt cx="483200" cy="483125"/>
          </a:xfrm>
        </p:grpSpPr>
        <p:sp>
          <p:nvSpPr>
            <p:cNvPr id="15" name="Google Shape;8467;p67">
              <a:extLst>
                <a:ext uri="{FF2B5EF4-FFF2-40B4-BE49-F238E27FC236}">
                  <a16:creationId xmlns:a16="http://schemas.microsoft.com/office/drawing/2014/main" id="{99733E79-5BC2-D7C6-01CA-3CAA9CB47142}"/>
                </a:ext>
              </a:extLst>
            </p:cNvPr>
            <p:cNvSpPr/>
            <p:nvPr/>
          </p:nvSpPr>
          <p:spPr>
            <a:xfrm>
              <a:off x="5801075" y="1484625"/>
              <a:ext cx="177725" cy="162475"/>
            </a:xfrm>
            <a:custGeom>
              <a:avLst/>
              <a:gdLst/>
              <a:ahLst/>
              <a:cxnLst/>
              <a:rect l="l" t="t" r="r" b="b"/>
              <a:pathLst>
                <a:path w="7109" h="6499" extrusionOk="0">
                  <a:moveTo>
                    <a:pt x="3554" y="1845"/>
                  </a:moveTo>
                  <a:lnTo>
                    <a:pt x="3920" y="2582"/>
                  </a:lnTo>
                  <a:cubicBezTo>
                    <a:pt x="4001" y="2751"/>
                    <a:pt x="4161" y="2866"/>
                    <a:pt x="4345" y="2893"/>
                  </a:cubicBezTo>
                  <a:lnTo>
                    <a:pt x="5158" y="3011"/>
                  </a:lnTo>
                  <a:lnTo>
                    <a:pt x="4569" y="3584"/>
                  </a:lnTo>
                  <a:cubicBezTo>
                    <a:pt x="4436" y="3714"/>
                    <a:pt x="4376" y="3901"/>
                    <a:pt x="4406" y="4086"/>
                  </a:cubicBezTo>
                  <a:lnTo>
                    <a:pt x="4545" y="4898"/>
                  </a:lnTo>
                  <a:lnTo>
                    <a:pt x="3820" y="4514"/>
                  </a:lnTo>
                  <a:cubicBezTo>
                    <a:pt x="3737" y="4469"/>
                    <a:pt x="3646" y="4446"/>
                    <a:pt x="3555" y="4446"/>
                  </a:cubicBezTo>
                  <a:cubicBezTo>
                    <a:pt x="3464" y="4446"/>
                    <a:pt x="3373" y="4469"/>
                    <a:pt x="3292" y="4514"/>
                  </a:cubicBezTo>
                  <a:lnTo>
                    <a:pt x="2561" y="4895"/>
                  </a:lnTo>
                  <a:lnTo>
                    <a:pt x="2703" y="4086"/>
                  </a:lnTo>
                  <a:cubicBezTo>
                    <a:pt x="2733" y="3901"/>
                    <a:pt x="2673" y="3714"/>
                    <a:pt x="2540" y="3584"/>
                  </a:cubicBezTo>
                  <a:lnTo>
                    <a:pt x="1951" y="3011"/>
                  </a:lnTo>
                  <a:lnTo>
                    <a:pt x="2763" y="2893"/>
                  </a:lnTo>
                  <a:cubicBezTo>
                    <a:pt x="2947" y="2866"/>
                    <a:pt x="3107" y="2751"/>
                    <a:pt x="3192" y="2582"/>
                  </a:cubicBezTo>
                  <a:lnTo>
                    <a:pt x="3554" y="1845"/>
                  </a:lnTo>
                  <a:close/>
                  <a:moveTo>
                    <a:pt x="3554" y="0"/>
                  </a:moveTo>
                  <a:cubicBezTo>
                    <a:pt x="3353" y="0"/>
                    <a:pt x="3151" y="106"/>
                    <a:pt x="3047" y="317"/>
                  </a:cubicBezTo>
                  <a:lnTo>
                    <a:pt x="2307" y="1815"/>
                  </a:lnTo>
                  <a:lnTo>
                    <a:pt x="653" y="2056"/>
                  </a:lnTo>
                  <a:cubicBezTo>
                    <a:pt x="188" y="2123"/>
                    <a:pt x="0" y="2694"/>
                    <a:pt x="339" y="3023"/>
                  </a:cubicBezTo>
                  <a:lnTo>
                    <a:pt x="1537" y="4188"/>
                  </a:lnTo>
                  <a:lnTo>
                    <a:pt x="1253" y="5837"/>
                  </a:lnTo>
                  <a:cubicBezTo>
                    <a:pt x="1191" y="6202"/>
                    <a:pt x="1480" y="6499"/>
                    <a:pt x="1809" y="6499"/>
                  </a:cubicBezTo>
                  <a:cubicBezTo>
                    <a:pt x="1897" y="6499"/>
                    <a:pt x="1987" y="6478"/>
                    <a:pt x="2075" y="6432"/>
                  </a:cubicBezTo>
                  <a:lnTo>
                    <a:pt x="3554" y="5656"/>
                  </a:lnTo>
                  <a:lnTo>
                    <a:pt x="5034" y="6432"/>
                  </a:lnTo>
                  <a:cubicBezTo>
                    <a:pt x="5121" y="6478"/>
                    <a:pt x="5212" y="6499"/>
                    <a:pt x="5299" y="6499"/>
                  </a:cubicBezTo>
                  <a:cubicBezTo>
                    <a:pt x="5629" y="6499"/>
                    <a:pt x="5917" y="6202"/>
                    <a:pt x="5855" y="5837"/>
                  </a:cubicBezTo>
                  <a:lnTo>
                    <a:pt x="5574" y="4188"/>
                  </a:lnTo>
                  <a:lnTo>
                    <a:pt x="6770" y="3023"/>
                  </a:lnTo>
                  <a:cubicBezTo>
                    <a:pt x="7108" y="2694"/>
                    <a:pt x="6921" y="2123"/>
                    <a:pt x="6456" y="2056"/>
                  </a:cubicBezTo>
                  <a:lnTo>
                    <a:pt x="4801" y="1815"/>
                  </a:lnTo>
                  <a:lnTo>
                    <a:pt x="4062" y="317"/>
                  </a:lnTo>
                  <a:cubicBezTo>
                    <a:pt x="3957" y="106"/>
                    <a:pt x="3756" y="0"/>
                    <a:pt x="3554" y="0"/>
                  </a:cubicBez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  <a:latin typeface="DM Sans" pitchFamily="2" charset="0"/>
              </a:endParaRPr>
            </a:p>
          </p:txBody>
        </p:sp>
        <p:sp>
          <p:nvSpPr>
            <p:cNvPr id="16" name="Google Shape;8468;p67">
              <a:extLst>
                <a:ext uri="{FF2B5EF4-FFF2-40B4-BE49-F238E27FC236}">
                  <a16:creationId xmlns:a16="http://schemas.microsoft.com/office/drawing/2014/main" id="{FDEE5E66-2D8B-76F1-4634-3CFC18F25D43}"/>
                </a:ext>
              </a:extLst>
            </p:cNvPr>
            <p:cNvSpPr/>
            <p:nvPr/>
          </p:nvSpPr>
          <p:spPr>
            <a:xfrm>
              <a:off x="5648375" y="1427025"/>
              <a:ext cx="483200" cy="483125"/>
            </a:xfrm>
            <a:custGeom>
              <a:avLst/>
              <a:gdLst/>
              <a:ahLst/>
              <a:cxnLst/>
              <a:rect l="l" t="t" r="r" b="b"/>
              <a:pathLst>
                <a:path w="19328" h="19325" extrusionOk="0">
                  <a:moveTo>
                    <a:pt x="2265" y="2304"/>
                  </a:moveTo>
                  <a:cubicBezTo>
                    <a:pt x="2890" y="2304"/>
                    <a:pt x="3397" y="2808"/>
                    <a:pt x="3397" y="3437"/>
                  </a:cubicBezTo>
                  <a:lnTo>
                    <a:pt x="3397" y="7398"/>
                  </a:lnTo>
                  <a:lnTo>
                    <a:pt x="3397" y="7474"/>
                  </a:lnTo>
                  <a:lnTo>
                    <a:pt x="1637" y="6299"/>
                  </a:lnTo>
                  <a:cubicBezTo>
                    <a:pt x="1320" y="6088"/>
                    <a:pt x="1129" y="5734"/>
                    <a:pt x="1132" y="5357"/>
                  </a:cubicBezTo>
                  <a:lnTo>
                    <a:pt x="1132" y="3437"/>
                  </a:lnTo>
                  <a:cubicBezTo>
                    <a:pt x="1132" y="2808"/>
                    <a:pt x="1640" y="2304"/>
                    <a:pt x="2265" y="2304"/>
                  </a:cubicBezTo>
                  <a:close/>
                  <a:moveTo>
                    <a:pt x="17060" y="2304"/>
                  </a:moveTo>
                  <a:cubicBezTo>
                    <a:pt x="17685" y="2304"/>
                    <a:pt x="18192" y="2808"/>
                    <a:pt x="18192" y="3437"/>
                  </a:cubicBezTo>
                  <a:lnTo>
                    <a:pt x="18192" y="5357"/>
                  </a:lnTo>
                  <a:cubicBezTo>
                    <a:pt x="18192" y="5737"/>
                    <a:pt x="18005" y="6091"/>
                    <a:pt x="17688" y="6302"/>
                  </a:cubicBezTo>
                  <a:lnTo>
                    <a:pt x="15928" y="7474"/>
                  </a:lnTo>
                  <a:lnTo>
                    <a:pt x="15928" y="7398"/>
                  </a:lnTo>
                  <a:lnTo>
                    <a:pt x="15928" y="3437"/>
                  </a:lnTo>
                  <a:cubicBezTo>
                    <a:pt x="15928" y="2808"/>
                    <a:pt x="16435" y="2304"/>
                    <a:pt x="17060" y="2304"/>
                  </a:cubicBezTo>
                  <a:close/>
                  <a:moveTo>
                    <a:pt x="14795" y="1133"/>
                  </a:moveTo>
                  <a:lnTo>
                    <a:pt x="14795" y="7398"/>
                  </a:lnTo>
                  <a:cubicBezTo>
                    <a:pt x="14795" y="8763"/>
                    <a:pt x="14095" y="9641"/>
                    <a:pt x="12120" y="10759"/>
                  </a:cubicBezTo>
                  <a:cubicBezTo>
                    <a:pt x="11069" y="11354"/>
                    <a:pt x="10372" y="12422"/>
                    <a:pt x="10248" y="13627"/>
                  </a:cubicBezTo>
                  <a:lnTo>
                    <a:pt x="9058" y="13627"/>
                  </a:lnTo>
                  <a:cubicBezTo>
                    <a:pt x="8877" y="12368"/>
                    <a:pt x="8041" y="11269"/>
                    <a:pt x="6791" y="10686"/>
                  </a:cubicBezTo>
                  <a:cubicBezTo>
                    <a:pt x="5332" y="10007"/>
                    <a:pt x="4529" y="8835"/>
                    <a:pt x="4529" y="7398"/>
                  </a:cubicBezTo>
                  <a:lnTo>
                    <a:pt x="4529" y="1133"/>
                  </a:lnTo>
                  <a:close/>
                  <a:moveTo>
                    <a:pt x="11927" y="14759"/>
                  </a:moveTo>
                  <a:cubicBezTo>
                    <a:pt x="12241" y="14759"/>
                    <a:pt x="12495" y="15010"/>
                    <a:pt x="12495" y="15324"/>
                  </a:cubicBezTo>
                  <a:lnTo>
                    <a:pt x="12495" y="15892"/>
                  </a:lnTo>
                  <a:lnTo>
                    <a:pt x="10795" y="15892"/>
                  </a:lnTo>
                  <a:cubicBezTo>
                    <a:pt x="10481" y="15892"/>
                    <a:pt x="10230" y="16142"/>
                    <a:pt x="10230" y="16456"/>
                  </a:cubicBezTo>
                  <a:cubicBezTo>
                    <a:pt x="10230" y="16770"/>
                    <a:pt x="10481" y="17024"/>
                    <a:pt x="10795" y="17024"/>
                  </a:cubicBezTo>
                  <a:lnTo>
                    <a:pt x="13059" y="17024"/>
                  </a:lnTo>
                  <a:cubicBezTo>
                    <a:pt x="13373" y="17024"/>
                    <a:pt x="13627" y="17275"/>
                    <a:pt x="13627" y="17589"/>
                  </a:cubicBezTo>
                  <a:lnTo>
                    <a:pt x="13627" y="18193"/>
                  </a:lnTo>
                  <a:lnTo>
                    <a:pt x="5701" y="18193"/>
                  </a:lnTo>
                  <a:lnTo>
                    <a:pt x="5701" y="17589"/>
                  </a:lnTo>
                  <a:cubicBezTo>
                    <a:pt x="5701" y="17275"/>
                    <a:pt x="5951" y="17024"/>
                    <a:pt x="6265" y="17024"/>
                  </a:cubicBezTo>
                  <a:lnTo>
                    <a:pt x="8530" y="17024"/>
                  </a:lnTo>
                  <a:cubicBezTo>
                    <a:pt x="8844" y="17024"/>
                    <a:pt x="9095" y="16770"/>
                    <a:pt x="9095" y="16456"/>
                  </a:cubicBezTo>
                  <a:cubicBezTo>
                    <a:pt x="9095" y="16142"/>
                    <a:pt x="8844" y="15892"/>
                    <a:pt x="8530" y="15892"/>
                  </a:cubicBezTo>
                  <a:lnTo>
                    <a:pt x="6833" y="15892"/>
                  </a:lnTo>
                  <a:lnTo>
                    <a:pt x="6833" y="15324"/>
                  </a:lnTo>
                  <a:cubicBezTo>
                    <a:pt x="6833" y="15010"/>
                    <a:pt x="7084" y="14759"/>
                    <a:pt x="7398" y="14759"/>
                  </a:cubicBezTo>
                  <a:close/>
                  <a:moveTo>
                    <a:pt x="3965" y="0"/>
                  </a:moveTo>
                  <a:cubicBezTo>
                    <a:pt x="3651" y="0"/>
                    <a:pt x="3397" y="254"/>
                    <a:pt x="3397" y="568"/>
                  </a:cubicBezTo>
                  <a:lnTo>
                    <a:pt x="3397" y="1474"/>
                  </a:lnTo>
                  <a:cubicBezTo>
                    <a:pt x="3032" y="1264"/>
                    <a:pt x="2645" y="1168"/>
                    <a:pt x="2269" y="1168"/>
                  </a:cubicBezTo>
                  <a:cubicBezTo>
                    <a:pt x="1086" y="1168"/>
                    <a:pt x="0" y="2113"/>
                    <a:pt x="0" y="3437"/>
                  </a:cubicBezTo>
                  <a:lnTo>
                    <a:pt x="0" y="5357"/>
                  </a:lnTo>
                  <a:cubicBezTo>
                    <a:pt x="0" y="6115"/>
                    <a:pt x="378" y="6821"/>
                    <a:pt x="1009" y="7241"/>
                  </a:cubicBezTo>
                  <a:lnTo>
                    <a:pt x="3651" y="9001"/>
                  </a:lnTo>
                  <a:cubicBezTo>
                    <a:pt x="3663" y="9010"/>
                    <a:pt x="3678" y="9019"/>
                    <a:pt x="3690" y="9026"/>
                  </a:cubicBezTo>
                  <a:cubicBezTo>
                    <a:pt x="4125" y="10170"/>
                    <a:pt x="5027" y="11112"/>
                    <a:pt x="6314" y="11710"/>
                  </a:cubicBezTo>
                  <a:cubicBezTo>
                    <a:pt x="7156" y="12105"/>
                    <a:pt x="7736" y="12812"/>
                    <a:pt x="7911" y="13627"/>
                  </a:cubicBezTo>
                  <a:lnTo>
                    <a:pt x="7398" y="13627"/>
                  </a:lnTo>
                  <a:cubicBezTo>
                    <a:pt x="6459" y="13627"/>
                    <a:pt x="5701" y="14385"/>
                    <a:pt x="5701" y="15324"/>
                  </a:cubicBezTo>
                  <a:lnTo>
                    <a:pt x="5701" y="15988"/>
                  </a:lnTo>
                  <a:cubicBezTo>
                    <a:pt x="5021" y="16227"/>
                    <a:pt x="4569" y="16870"/>
                    <a:pt x="4569" y="17589"/>
                  </a:cubicBezTo>
                  <a:lnTo>
                    <a:pt x="4569" y="18760"/>
                  </a:lnTo>
                  <a:cubicBezTo>
                    <a:pt x="4569" y="19071"/>
                    <a:pt x="4819" y="19325"/>
                    <a:pt x="5133" y="19325"/>
                  </a:cubicBezTo>
                  <a:lnTo>
                    <a:pt x="14191" y="19325"/>
                  </a:lnTo>
                  <a:cubicBezTo>
                    <a:pt x="14506" y="19325"/>
                    <a:pt x="14759" y="19071"/>
                    <a:pt x="14759" y="18760"/>
                  </a:cubicBezTo>
                  <a:lnTo>
                    <a:pt x="14759" y="17589"/>
                  </a:lnTo>
                  <a:cubicBezTo>
                    <a:pt x="14756" y="16870"/>
                    <a:pt x="14303" y="16227"/>
                    <a:pt x="13627" y="15988"/>
                  </a:cubicBezTo>
                  <a:lnTo>
                    <a:pt x="13627" y="15324"/>
                  </a:lnTo>
                  <a:cubicBezTo>
                    <a:pt x="13624" y="14385"/>
                    <a:pt x="12866" y="13627"/>
                    <a:pt x="11927" y="13627"/>
                  </a:cubicBezTo>
                  <a:lnTo>
                    <a:pt x="11389" y="13627"/>
                  </a:lnTo>
                  <a:cubicBezTo>
                    <a:pt x="11507" y="12833"/>
                    <a:pt x="11981" y="12139"/>
                    <a:pt x="12679" y="11743"/>
                  </a:cubicBezTo>
                  <a:cubicBezTo>
                    <a:pt x="14044" y="10973"/>
                    <a:pt x="15088" y="10170"/>
                    <a:pt x="15593" y="9047"/>
                  </a:cubicBezTo>
                  <a:cubicBezTo>
                    <a:pt x="15623" y="9035"/>
                    <a:pt x="15650" y="9019"/>
                    <a:pt x="15677" y="9001"/>
                  </a:cubicBezTo>
                  <a:lnTo>
                    <a:pt x="18319" y="7241"/>
                  </a:lnTo>
                  <a:cubicBezTo>
                    <a:pt x="18947" y="6821"/>
                    <a:pt x="19328" y="6115"/>
                    <a:pt x="19328" y="5357"/>
                  </a:cubicBezTo>
                  <a:lnTo>
                    <a:pt x="19328" y="3437"/>
                  </a:lnTo>
                  <a:cubicBezTo>
                    <a:pt x="19325" y="2113"/>
                    <a:pt x="18239" y="1168"/>
                    <a:pt x="17057" y="1168"/>
                  </a:cubicBezTo>
                  <a:cubicBezTo>
                    <a:pt x="16681" y="1168"/>
                    <a:pt x="16295" y="1264"/>
                    <a:pt x="15931" y="1474"/>
                  </a:cubicBezTo>
                  <a:lnTo>
                    <a:pt x="15931" y="568"/>
                  </a:lnTo>
                  <a:cubicBezTo>
                    <a:pt x="15931" y="254"/>
                    <a:pt x="15677" y="0"/>
                    <a:pt x="15363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  <a:latin typeface="DM Sans" pitchFamily="2" charset="0"/>
              </a:endParaRPr>
            </a:p>
          </p:txBody>
        </p:sp>
      </p:grpSp>
      <p:grpSp>
        <p:nvGrpSpPr>
          <p:cNvPr id="17" name="Google Shape;8631;p67">
            <a:extLst>
              <a:ext uri="{FF2B5EF4-FFF2-40B4-BE49-F238E27FC236}">
                <a16:creationId xmlns:a16="http://schemas.microsoft.com/office/drawing/2014/main" id="{63ECE6AC-BDC6-0180-C4A4-04F0A9D6E78A}"/>
              </a:ext>
            </a:extLst>
          </p:cNvPr>
          <p:cNvGrpSpPr/>
          <p:nvPr/>
        </p:nvGrpSpPr>
        <p:grpSpPr>
          <a:xfrm>
            <a:off x="622064" y="3262371"/>
            <a:ext cx="367757" cy="340168"/>
            <a:chOff x="6239575" y="4416275"/>
            <a:chExt cx="489625" cy="449175"/>
          </a:xfrm>
          <a:solidFill>
            <a:schemeClr val="tx1"/>
          </a:solidFill>
        </p:grpSpPr>
        <p:sp>
          <p:nvSpPr>
            <p:cNvPr id="18" name="Google Shape;8632;p67">
              <a:extLst>
                <a:ext uri="{FF2B5EF4-FFF2-40B4-BE49-F238E27FC236}">
                  <a16:creationId xmlns:a16="http://schemas.microsoft.com/office/drawing/2014/main" id="{2AC95A66-3590-BD45-C2CA-7DE5F1879A03}"/>
                </a:ext>
              </a:extLst>
            </p:cNvPr>
            <p:cNvSpPr/>
            <p:nvPr/>
          </p:nvSpPr>
          <p:spPr>
            <a:xfrm>
              <a:off x="6239575" y="4416275"/>
              <a:ext cx="489625" cy="449175"/>
            </a:xfrm>
            <a:custGeom>
              <a:avLst/>
              <a:gdLst/>
              <a:ahLst/>
              <a:cxnLst/>
              <a:rect l="l" t="t" r="r" b="b"/>
              <a:pathLst>
                <a:path w="19585" h="17967" extrusionOk="0">
                  <a:moveTo>
                    <a:pt x="9792" y="1132"/>
                  </a:moveTo>
                  <a:cubicBezTo>
                    <a:pt x="10374" y="1132"/>
                    <a:pt x="10955" y="1424"/>
                    <a:pt x="11278" y="2009"/>
                  </a:cubicBezTo>
                  <a:lnTo>
                    <a:pt x="18111" y="14313"/>
                  </a:lnTo>
                  <a:cubicBezTo>
                    <a:pt x="18404" y="14838"/>
                    <a:pt x="18395" y="15481"/>
                    <a:pt x="18087" y="15998"/>
                  </a:cubicBezTo>
                  <a:cubicBezTo>
                    <a:pt x="17786" y="16518"/>
                    <a:pt x="17232" y="16834"/>
                    <a:pt x="16634" y="16834"/>
                  </a:cubicBezTo>
                  <a:cubicBezTo>
                    <a:pt x="16631" y="16834"/>
                    <a:pt x="16628" y="16834"/>
                    <a:pt x="16625" y="16834"/>
                  </a:cubicBezTo>
                  <a:lnTo>
                    <a:pt x="2962" y="16834"/>
                  </a:lnTo>
                  <a:cubicBezTo>
                    <a:pt x="1667" y="16834"/>
                    <a:pt x="849" y="15445"/>
                    <a:pt x="1474" y="14313"/>
                  </a:cubicBezTo>
                  <a:lnTo>
                    <a:pt x="8307" y="2009"/>
                  </a:lnTo>
                  <a:cubicBezTo>
                    <a:pt x="8630" y="1424"/>
                    <a:pt x="9211" y="1132"/>
                    <a:pt x="9792" y="1132"/>
                  </a:cubicBezTo>
                  <a:close/>
                  <a:moveTo>
                    <a:pt x="9792" y="1"/>
                  </a:moveTo>
                  <a:cubicBezTo>
                    <a:pt x="8763" y="1"/>
                    <a:pt x="7815" y="559"/>
                    <a:pt x="7317" y="1462"/>
                  </a:cubicBezTo>
                  <a:lnTo>
                    <a:pt x="483" y="13766"/>
                  </a:lnTo>
                  <a:cubicBezTo>
                    <a:pt x="0" y="14642"/>
                    <a:pt x="15" y="15711"/>
                    <a:pt x="523" y="16574"/>
                  </a:cubicBezTo>
                  <a:cubicBezTo>
                    <a:pt x="1033" y="17435"/>
                    <a:pt x="1960" y="17966"/>
                    <a:pt x="2962" y="17966"/>
                  </a:cubicBezTo>
                  <a:lnTo>
                    <a:pt x="16625" y="17966"/>
                  </a:lnTo>
                  <a:cubicBezTo>
                    <a:pt x="17625" y="17966"/>
                    <a:pt x="18555" y="17435"/>
                    <a:pt x="19062" y="16574"/>
                  </a:cubicBezTo>
                  <a:cubicBezTo>
                    <a:pt x="19572" y="15711"/>
                    <a:pt x="19585" y="14642"/>
                    <a:pt x="19101" y="13766"/>
                  </a:cubicBezTo>
                  <a:lnTo>
                    <a:pt x="12271" y="1462"/>
                  </a:lnTo>
                  <a:cubicBezTo>
                    <a:pt x="11770" y="559"/>
                    <a:pt x="10822" y="1"/>
                    <a:pt x="979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  <a:latin typeface="DM Sans" pitchFamily="2" charset="0"/>
              </a:endParaRPr>
            </a:p>
          </p:txBody>
        </p:sp>
        <p:sp>
          <p:nvSpPr>
            <p:cNvPr id="19" name="Google Shape;8633;p67">
              <a:extLst>
                <a:ext uri="{FF2B5EF4-FFF2-40B4-BE49-F238E27FC236}">
                  <a16:creationId xmlns:a16="http://schemas.microsoft.com/office/drawing/2014/main" id="{840DA70E-C81D-CB32-1AA2-4FF7DF59BA83}"/>
                </a:ext>
              </a:extLst>
            </p:cNvPr>
            <p:cNvSpPr/>
            <p:nvPr/>
          </p:nvSpPr>
          <p:spPr>
            <a:xfrm>
              <a:off x="6438550" y="4723875"/>
              <a:ext cx="88350" cy="84950"/>
            </a:xfrm>
            <a:custGeom>
              <a:avLst/>
              <a:gdLst/>
              <a:ahLst/>
              <a:cxnLst/>
              <a:rect l="l" t="t" r="r" b="b"/>
              <a:pathLst>
                <a:path w="3534" h="3398" extrusionOk="0">
                  <a:moveTo>
                    <a:pt x="1830" y="1132"/>
                  </a:moveTo>
                  <a:cubicBezTo>
                    <a:pt x="2122" y="1132"/>
                    <a:pt x="2401" y="1358"/>
                    <a:pt x="2401" y="1701"/>
                  </a:cubicBezTo>
                  <a:cubicBezTo>
                    <a:pt x="2401" y="2012"/>
                    <a:pt x="2147" y="2266"/>
                    <a:pt x="1833" y="2266"/>
                  </a:cubicBezTo>
                  <a:cubicBezTo>
                    <a:pt x="1329" y="2266"/>
                    <a:pt x="1076" y="1656"/>
                    <a:pt x="1432" y="1299"/>
                  </a:cubicBezTo>
                  <a:cubicBezTo>
                    <a:pt x="1548" y="1184"/>
                    <a:pt x="1691" y="1132"/>
                    <a:pt x="1830" y="1132"/>
                  </a:cubicBezTo>
                  <a:close/>
                  <a:moveTo>
                    <a:pt x="1833" y="1"/>
                  </a:moveTo>
                  <a:cubicBezTo>
                    <a:pt x="1145" y="1"/>
                    <a:pt x="526" y="415"/>
                    <a:pt x="263" y="1049"/>
                  </a:cubicBezTo>
                  <a:cubicBezTo>
                    <a:pt x="1" y="1683"/>
                    <a:pt x="146" y="2414"/>
                    <a:pt x="632" y="2900"/>
                  </a:cubicBezTo>
                  <a:cubicBezTo>
                    <a:pt x="957" y="3225"/>
                    <a:pt x="1391" y="3397"/>
                    <a:pt x="1833" y="3397"/>
                  </a:cubicBezTo>
                  <a:cubicBezTo>
                    <a:pt x="2052" y="3397"/>
                    <a:pt x="2273" y="3355"/>
                    <a:pt x="2483" y="3268"/>
                  </a:cubicBezTo>
                  <a:cubicBezTo>
                    <a:pt x="3117" y="3005"/>
                    <a:pt x="3533" y="2386"/>
                    <a:pt x="3533" y="1701"/>
                  </a:cubicBezTo>
                  <a:cubicBezTo>
                    <a:pt x="3530" y="762"/>
                    <a:pt x="2772" y="1"/>
                    <a:pt x="18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  <a:latin typeface="DM Sans" pitchFamily="2" charset="0"/>
              </a:endParaRPr>
            </a:p>
          </p:txBody>
        </p:sp>
        <p:sp>
          <p:nvSpPr>
            <p:cNvPr id="20" name="Google Shape;8634;p67">
              <a:extLst>
                <a:ext uri="{FF2B5EF4-FFF2-40B4-BE49-F238E27FC236}">
                  <a16:creationId xmlns:a16="http://schemas.microsoft.com/office/drawing/2014/main" id="{E619F48A-825C-53D1-4A80-60E0B6A203BB}"/>
                </a:ext>
              </a:extLst>
            </p:cNvPr>
            <p:cNvSpPr/>
            <p:nvPr/>
          </p:nvSpPr>
          <p:spPr>
            <a:xfrm>
              <a:off x="6441950" y="4497425"/>
              <a:ext cx="84950" cy="198250"/>
            </a:xfrm>
            <a:custGeom>
              <a:avLst/>
              <a:gdLst/>
              <a:ahLst/>
              <a:cxnLst/>
              <a:rect l="l" t="t" r="r" b="b"/>
              <a:pathLst>
                <a:path w="3398" h="7930" extrusionOk="0">
                  <a:moveTo>
                    <a:pt x="1697" y="1133"/>
                  </a:moveTo>
                  <a:cubicBezTo>
                    <a:pt x="2011" y="1133"/>
                    <a:pt x="2265" y="1387"/>
                    <a:pt x="2265" y="1701"/>
                  </a:cubicBezTo>
                  <a:lnTo>
                    <a:pt x="2265" y="6230"/>
                  </a:lnTo>
                  <a:cubicBezTo>
                    <a:pt x="2265" y="6544"/>
                    <a:pt x="2011" y="6797"/>
                    <a:pt x="1697" y="6797"/>
                  </a:cubicBezTo>
                  <a:cubicBezTo>
                    <a:pt x="1383" y="6797"/>
                    <a:pt x="1133" y="6544"/>
                    <a:pt x="1133" y="6230"/>
                  </a:cubicBezTo>
                  <a:lnTo>
                    <a:pt x="1133" y="1701"/>
                  </a:lnTo>
                  <a:cubicBezTo>
                    <a:pt x="1133" y="1387"/>
                    <a:pt x="1383" y="1133"/>
                    <a:pt x="1697" y="1133"/>
                  </a:cubicBezTo>
                  <a:close/>
                  <a:moveTo>
                    <a:pt x="1697" y="1"/>
                  </a:moveTo>
                  <a:cubicBezTo>
                    <a:pt x="758" y="1"/>
                    <a:pt x="1" y="762"/>
                    <a:pt x="1" y="1701"/>
                  </a:cubicBezTo>
                  <a:lnTo>
                    <a:pt x="1" y="6233"/>
                  </a:lnTo>
                  <a:cubicBezTo>
                    <a:pt x="1" y="7169"/>
                    <a:pt x="758" y="7930"/>
                    <a:pt x="1697" y="7930"/>
                  </a:cubicBezTo>
                  <a:cubicBezTo>
                    <a:pt x="2636" y="7930"/>
                    <a:pt x="3397" y="7169"/>
                    <a:pt x="3397" y="6233"/>
                  </a:cubicBezTo>
                  <a:lnTo>
                    <a:pt x="3397" y="1701"/>
                  </a:lnTo>
                  <a:cubicBezTo>
                    <a:pt x="3397" y="762"/>
                    <a:pt x="2636" y="1"/>
                    <a:pt x="169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  <a:latin typeface="DM Sans" pitchFamily="2" charset="0"/>
              </a:endParaRPr>
            </a:p>
          </p:txBody>
        </p:sp>
      </p:grpSp>
      <p:grpSp>
        <p:nvGrpSpPr>
          <p:cNvPr id="34" name="Google Shape;9389;p70">
            <a:extLst>
              <a:ext uri="{FF2B5EF4-FFF2-40B4-BE49-F238E27FC236}">
                <a16:creationId xmlns:a16="http://schemas.microsoft.com/office/drawing/2014/main" id="{05EBEE48-4DDD-4B26-B56D-FDF9DBBE5BC3}"/>
              </a:ext>
            </a:extLst>
          </p:cNvPr>
          <p:cNvGrpSpPr/>
          <p:nvPr/>
        </p:nvGrpSpPr>
        <p:grpSpPr>
          <a:xfrm>
            <a:off x="646087" y="1611437"/>
            <a:ext cx="340222" cy="340168"/>
            <a:chOff x="-31889075" y="2658950"/>
            <a:chExt cx="302475" cy="290775"/>
          </a:xfrm>
          <a:solidFill>
            <a:schemeClr val="tx1"/>
          </a:solidFill>
        </p:grpSpPr>
        <p:sp>
          <p:nvSpPr>
            <p:cNvPr id="35" name="Google Shape;9390;p70">
              <a:extLst>
                <a:ext uri="{FF2B5EF4-FFF2-40B4-BE49-F238E27FC236}">
                  <a16:creationId xmlns:a16="http://schemas.microsoft.com/office/drawing/2014/main" id="{444ADB04-6600-413E-8B7E-353B1A893B80}"/>
                </a:ext>
              </a:extLst>
            </p:cNvPr>
            <p:cNvSpPr/>
            <p:nvPr/>
          </p:nvSpPr>
          <p:spPr>
            <a:xfrm>
              <a:off x="-31889075" y="2658950"/>
              <a:ext cx="302475" cy="290775"/>
            </a:xfrm>
            <a:custGeom>
              <a:avLst/>
              <a:gdLst/>
              <a:ahLst/>
              <a:cxnLst/>
              <a:rect l="l" t="t" r="r" b="b"/>
              <a:pathLst>
                <a:path w="12099" h="11631" extrusionOk="0">
                  <a:moveTo>
                    <a:pt x="10555" y="712"/>
                  </a:moveTo>
                  <a:lnTo>
                    <a:pt x="11153" y="1310"/>
                  </a:lnTo>
                  <a:lnTo>
                    <a:pt x="10051" y="3138"/>
                  </a:lnTo>
                  <a:lnTo>
                    <a:pt x="8728" y="1814"/>
                  </a:lnTo>
                  <a:lnTo>
                    <a:pt x="10555" y="712"/>
                  </a:lnTo>
                  <a:close/>
                  <a:moveTo>
                    <a:pt x="8665" y="2696"/>
                  </a:moveTo>
                  <a:lnTo>
                    <a:pt x="9137" y="3169"/>
                  </a:lnTo>
                  <a:lnTo>
                    <a:pt x="7278" y="4996"/>
                  </a:lnTo>
                  <a:lnTo>
                    <a:pt x="6806" y="4524"/>
                  </a:lnTo>
                  <a:lnTo>
                    <a:pt x="8665" y="2696"/>
                  </a:lnTo>
                  <a:close/>
                  <a:moveTo>
                    <a:pt x="3022" y="640"/>
                  </a:moveTo>
                  <a:cubicBezTo>
                    <a:pt x="3549" y="640"/>
                    <a:pt x="4066" y="847"/>
                    <a:pt x="4443" y="1247"/>
                  </a:cubicBezTo>
                  <a:cubicBezTo>
                    <a:pt x="5010" y="1783"/>
                    <a:pt x="5199" y="2602"/>
                    <a:pt x="4915" y="3358"/>
                  </a:cubicBezTo>
                  <a:cubicBezTo>
                    <a:pt x="4884" y="3484"/>
                    <a:pt x="4915" y="3642"/>
                    <a:pt x="5010" y="3705"/>
                  </a:cubicBezTo>
                  <a:lnTo>
                    <a:pt x="8160" y="6855"/>
                  </a:lnTo>
                  <a:cubicBezTo>
                    <a:pt x="8208" y="6926"/>
                    <a:pt x="8308" y="6961"/>
                    <a:pt x="8409" y="6961"/>
                  </a:cubicBezTo>
                  <a:cubicBezTo>
                    <a:pt x="8442" y="6961"/>
                    <a:pt x="8476" y="6957"/>
                    <a:pt x="8507" y="6950"/>
                  </a:cubicBezTo>
                  <a:cubicBezTo>
                    <a:pt x="8741" y="6862"/>
                    <a:pt x="8981" y="6819"/>
                    <a:pt x="9217" y="6819"/>
                  </a:cubicBezTo>
                  <a:cubicBezTo>
                    <a:pt x="9743" y="6819"/>
                    <a:pt x="10248" y="7031"/>
                    <a:pt x="10618" y="7422"/>
                  </a:cubicBezTo>
                  <a:cubicBezTo>
                    <a:pt x="11153" y="7926"/>
                    <a:pt x="11342" y="8682"/>
                    <a:pt x="11153" y="9375"/>
                  </a:cubicBezTo>
                  <a:lnTo>
                    <a:pt x="10240" y="8493"/>
                  </a:lnTo>
                  <a:cubicBezTo>
                    <a:pt x="10035" y="8289"/>
                    <a:pt x="9767" y="8186"/>
                    <a:pt x="9503" y="8186"/>
                  </a:cubicBezTo>
                  <a:cubicBezTo>
                    <a:pt x="9240" y="8186"/>
                    <a:pt x="8980" y="8289"/>
                    <a:pt x="8791" y="8493"/>
                  </a:cubicBezTo>
                  <a:cubicBezTo>
                    <a:pt x="8381" y="8871"/>
                    <a:pt x="8381" y="9533"/>
                    <a:pt x="8791" y="9943"/>
                  </a:cubicBezTo>
                  <a:lnTo>
                    <a:pt x="9673" y="10856"/>
                  </a:lnTo>
                  <a:cubicBezTo>
                    <a:pt x="9498" y="10904"/>
                    <a:pt x="9318" y="10928"/>
                    <a:pt x="9140" y="10928"/>
                  </a:cubicBezTo>
                  <a:cubicBezTo>
                    <a:pt x="8614" y="10928"/>
                    <a:pt x="8096" y="10721"/>
                    <a:pt x="7719" y="10321"/>
                  </a:cubicBezTo>
                  <a:cubicBezTo>
                    <a:pt x="7152" y="9785"/>
                    <a:pt x="6963" y="8966"/>
                    <a:pt x="7247" y="8210"/>
                  </a:cubicBezTo>
                  <a:cubicBezTo>
                    <a:pt x="7278" y="8084"/>
                    <a:pt x="7247" y="7926"/>
                    <a:pt x="7152" y="7863"/>
                  </a:cubicBezTo>
                  <a:lnTo>
                    <a:pt x="4002" y="4713"/>
                  </a:lnTo>
                  <a:cubicBezTo>
                    <a:pt x="3960" y="4629"/>
                    <a:pt x="3876" y="4587"/>
                    <a:pt x="3787" y="4587"/>
                  </a:cubicBezTo>
                  <a:cubicBezTo>
                    <a:pt x="3743" y="4587"/>
                    <a:pt x="3697" y="4597"/>
                    <a:pt x="3655" y="4618"/>
                  </a:cubicBezTo>
                  <a:cubicBezTo>
                    <a:pt x="3421" y="4706"/>
                    <a:pt x="3181" y="4749"/>
                    <a:pt x="2945" y="4749"/>
                  </a:cubicBezTo>
                  <a:cubicBezTo>
                    <a:pt x="2419" y="4749"/>
                    <a:pt x="1914" y="4537"/>
                    <a:pt x="1544" y="4146"/>
                  </a:cubicBezTo>
                  <a:cubicBezTo>
                    <a:pt x="1009" y="3642"/>
                    <a:pt x="820" y="2885"/>
                    <a:pt x="1009" y="2192"/>
                  </a:cubicBezTo>
                  <a:lnTo>
                    <a:pt x="1009" y="2192"/>
                  </a:lnTo>
                  <a:lnTo>
                    <a:pt x="1922" y="3075"/>
                  </a:lnTo>
                  <a:cubicBezTo>
                    <a:pt x="2127" y="3279"/>
                    <a:pt x="2395" y="3382"/>
                    <a:pt x="2659" y="3382"/>
                  </a:cubicBezTo>
                  <a:cubicBezTo>
                    <a:pt x="2923" y="3382"/>
                    <a:pt x="3183" y="3279"/>
                    <a:pt x="3372" y="3075"/>
                  </a:cubicBezTo>
                  <a:cubicBezTo>
                    <a:pt x="3781" y="2696"/>
                    <a:pt x="3781" y="2035"/>
                    <a:pt x="3372" y="1625"/>
                  </a:cubicBezTo>
                  <a:lnTo>
                    <a:pt x="2490" y="712"/>
                  </a:lnTo>
                  <a:cubicBezTo>
                    <a:pt x="2665" y="664"/>
                    <a:pt x="2844" y="640"/>
                    <a:pt x="3022" y="640"/>
                  </a:cubicBezTo>
                  <a:close/>
                  <a:moveTo>
                    <a:pt x="4380" y="6036"/>
                  </a:moveTo>
                  <a:lnTo>
                    <a:pt x="5829" y="7485"/>
                  </a:lnTo>
                  <a:lnTo>
                    <a:pt x="2679" y="10636"/>
                  </a:lnTo>
                  <a:cubicBezTo>
                    <a:pt x="2474" y="10840"/>
                    <a:pt x="2206" y="10943"/>
                    <a:pt x="1942" y="10943"/>
                  </a:cubicBezTo>
                  <a:cubicBezTo>
                    <a:pt x="1678" y="10943"/>
                    <a:pt x="1418" y="10840"/>
                    <a:pt x="1229" y="10636"/>
                  </a:cubicBezTo>
                  <a:cubicBezTo>
                    <a:pt x="820" y="10226"/>
                    <a:pt x="820" y="9596"/>
                    <a:pt x="1229" y="9186"/>
                  </a:cubicBezTo>
                  <a:lnTo>
                    <a:pt x="4380" y="6036"/>
                  </a:lnTo>
                  <a:close/>
                  <a:moveTo>
                    <a:pt x="2915" y="1"/>
                  </a:moveTo>
                  <a:cubicBezTo>
                    <a:pt x="2465" y="1"/>
                    <a:pt x="2014" y="112"/>
                    <a:pt x="1607" y="334"/>
                  </a:cubicBezTo>
                  <a:cubicBezTo>
                    <a:pt x="1544" y="365"/>
                    <a:pt x="1450" y="491"/>
                    <a:pt x="1450" y="554"/>
                  </a:cubicBezTo>
                  <a:cubicBezTo>
                    <a:pt x="1450" y="680"/>
                    <a:pt x="1481" y="775"/>
                    <a:pt x="1544" y="838"/>
                  </a:cubicBezTo>
                  <a:lnTo>
                    <a:pt x="2836" y="2129"/>
                  </a:lnTo>
                  <a:cubicBezTo>
                    <a:pt x="2962" y="2255"/>
                    <a:pt x="2962" y="2507"/>
                    <a:pt x="2836" y="2602"/>
                  </a:cubicBezTo>
                  <a:cubicBezTo>
                    <a:pt x="2773" y="2665"/>
                    <a:pt x="2686" y="2696"/>
                    <a:pt x="2600" y="2696"/>
                  </a:cubicBezTo>
                  <a:cubicBezTo>
                    <a:pt x="2513" y="2696"/>
                    <a:pt x="2427" y="2665"/>
                    <a:pt x="2364" y="2602"/>
                  </a:cubicBezTo>
                  <a:lnTo>
                    <a:pt x="1072" y="1310"/>
                  </a:lnTo>
                  <a:cubicBezTo>
                    <a:pt x="1001" y="1239"/>
                    <a:pt x="912" y="1204"/>
                    <a:pt x="846" y="1204"/>
                  </a:cubicBezTo>
                  <a:cubicBezTo>
                    <a:pt x="824" y="1204"/>
                    <a:pt x="804" y="1208"/>
                    <a:pt x="788" y="1216"/>
                  </a:cubicBezTo>
                  <a:cubicBezTo>
                    <a:pt x="662" y="1216"/>
                    <a:pt x="599" y="1310"/>
                    <a:pt x="536" y="1373"/>
                  </a:cubicBezTo>
                  <a:cubicBezTo>
                    <a:pt x="1" y="2413"/>
                    <a:pt x="127" y="3736"/>
                    <a:pt x="1009" y="4618"/>
                  </a:cubicBezTo>
                  <a:cubicBezTo>
                    <a:pt x="1549" y="5135"/>
                    <a:pt x="2230" y="5407"/>
                    <a:pt x="2934" y="5407"/>
                  </a:cubicBezTo>
                  <a:cubicBezTo>
                    <a:pt x="3173" y="5407"/>
                    <a:pt x="3415" y="5375"/>
                    <a:pt x="3655" y="5311"/>
                  </a:cubicBezTo>
                  <a:lnTo>
                    <a:pt x="3907" y="5563"/>
                  </a:lnTo>
                  <a:lnTo>
                    <a:pt x="757" y="8714"/>
                  </a:lnTo>
                  <a:cubicBezTo>
                    <a:pt x="64" y="9344"/>
                    <a:pt x="64" y="10447"/>
                    <a:pt x="757" y="11108"/>
                  </a:cubicBezTo>
                  <a:cubicBezTo>
                    <a:pt x="1088" y="11455"/>
                    <a:pt x="1521" y="11628"/>
                    <a:pt x="1954" y="11628"/>
                  </a:cubicBezTo>
                  <a:cubicBezTo>
                    <a:pt x="2387" y="11628"/>
                    <a:pt x="2820" y="11455"/>
                    <a:pt x="3151" y="11108"/>
                  </a:cubicBezTo>
                  <a:lnTo>
                    <a:pt x="6302" y="7958"/>
                  </a:lnTo>
                  <a:lnTo>
                    <a:pt x="6522" y="8210"/>
                  </a:lnTo>
                  <a:cubicBezTo>
                    <a:pt x="6302" y="9155"/>
                    <a:pt x="6522" y="10132"/>
                    <a:pt x="7247" y="10825"/>
                  </a:cubicBezTo>
                  <a:cubicBezTo>
                    <a:pt x="7765" y="11362"/>
                    <a:pt x="8469" y="11630"/>
                    <a:pt x="9169" y="11630"/>
                  </a:cubicBezTo>
                  <a:cubicBezTo>
                    <a:pt x="9618" y="11630"/>
                    <a:pt x="10066" y="11519"/>
                    <a:pt x="10460" y="11297"/>
                  </a:cubicBezTo>
                  <a:cubicBezTo>
                    <a:pt x="10555" y="11266"/>
                    <a:pt x="10618" y="11140"/>
                    <a:pt x="10618" y="11077"/>
                  </a:cubicBezTo>
                  <a:cubicBezTo>
                    <a:pt x="10618" y="11014"/>
                    <a:pt x="10586" y="10888"/>
                    <a:pt x="10555" y="10793"/>
                  </a:cubicBezTo>
                  <a:lnTo>
                    <a:pt x="9263" y="9501"/>
                  </a:lnTo>
                  <a:cubicBezTo>
                    <a:pt x="9137" y="9375"/>
                    <a:pt x="9137" y="9155"/>
                    <a:pt x="9263" y="9029"/>
                  </a:cubicBezTo>
                  <a:cubicBezTo>
                    <a:pt x="9310" y="8966"/>
                    <a:pt x="9397" y="8934"/>
                    <a:pt x="9488" y="8934"/>
                  </a:cubicBezTo>
                  <a:cubicBezTo>
                    <a:pt x="9578" y="8934"/>
                    <a:pt x="9673" y="8966"/>
                    <a:pt x="9736" y="9029"/>
                  </a:cubicBezTo>
                  <a:lnTo>
                    <a:pt x="11027" y="10321"/>
                  </a:lnTo>
                  <a:cubicBezTo>
                    <a:pt x="11075" y="10392"/>
                    <a:pt x="11157" y="10427"/>
                    <a:pt x="11236" y="10427"/>
                  </a:cubicBezTo>
                  <a:cubicBezTo>
                    <a:pt x="11262" y="10427"/>
                    <a:pt x="11287" y="10423"/>
                    <a:pt x="11311" y="10415"/>
                  </a:cubicBezTo>
                  <a:cubicBezTo>
                    <a:pt x="11405" y="10415"/>
                    <a:pt x="11500" y="10321"/>
                    <a:pt x="11532" y="10258"/>
                  </a:cubicBezTo>
                  <a:cubicBezTo>
                    <a:pt x="12099" y="9218"/>
                    <a:pt x="11973" y="7895"/>
                    <a:pt x="11059" y="7013"/>
                  </a:cubicBezTo>
                  <a:cubicBezTo>
                    <a:pt x="10542" y="6496"/>
                    <a:pt x="9850" y="6224"/>
                    <a:pt x="9139" y="6224"/>
                  </a:cubicBezTo>
                  <a:cubicBezTo>
                    <a:pt x="8897" y="6224"/>
                    <a:pt x="8653" y="6255"/>
                    <a:pt x="8413" y="6320"/>
                  </a:cubicBezTo>
                  <a:lnTo>
                    <a:pt x="7719" y="5595"/>
                  </a:lnTo>
                  <a:lnTo>
                    <a:pt x="9578" y="3736"/>
                  </a:lnTo>
                  <a:lnTo>
                    <a:pt x="9799" y="3988"/>
                  </a:lnTo>
                  <a:cubicBezTo>
                    <a:pt x="9867" y="4056"/>
                    <a:pt x="9958" y="4089"/>
                    <a:pt x="10051" y="4089"/>
                  </a:cubicBezTo>
                  <a:cubicBezTo>
                    <a:pt x="10172" y="4089"/>
                    <a:pt x="10294" y="4032"/>
                    <a:pt x="10366" y="3925"/>
                  </a:cubicBezTo>
                  <a:lnTo>
                    <a:pt x="11815" y="1499"/>
                  </a:lnTo>
                  <a:cubicBezTo>
                    <a:pt x="11878" y="1373"/>
                    <a:pt x="11878" y="1184"/>
                    <a:pt x="11784" y="1090"/>
                  </a:cubicBezTo>
                  <a:lnTo>
                    <a:pt x="10775" y="82"/>
                  </a:lnTo>
                  <a:cubicBezTo>
                    <a:pt x="10723" y="30"/>
                    <a:pt x="10652" y="6"/>
                    <a:pt x="10573" y="6"/>
                  </a:cubicBezTo>
                  <a:cubicBezTo>
                    <a:pt x="10507" y="6"/>
                    <a:pt x="10437" y="22"/>
                    <a:pt x="10366" y="50"/>
                  </a:cubicBezTo>
                  <a:lnTo>
                    <a:pt x="7940" y="1499"/>
                  </a:lnTo>
                  <a:cubicBezTo>
                    <a:pt x="7751" y="1625"/>
                    <a:pt x="7719" y="1909"/>
                    <a:pt x="7877" y="2066"/>
                  </a:cubicBezTo>
                  <a:lnTo>
                    <a:pt x="8097" y="2287"/>
                  </a:lnTo>
                  <a:lnTo>
                    <a:pt x="6270" y="4146"/>
                  </a:lnTo>
                  <a:lnTo>
                    <a:pt x="5546" y="3421"/>
                  </a:lnTo>
                  <a:cubicBezTo>
                    <a:pt x="5798" y="2476"/>
                    <a:pt x="5546" y="1499"/>
                    <a:pt x="4852" y="806"/>
                  </a:cubicBezTo>
                  <a:cubicBezTo>
                    <a:pt x="4315" y="269"/>
                    <a:pt x="3615" y="1"/>
                    <a:pt x="29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9391;p70">
              <a:extLst>
                <a:ext uri="{FF2B5EF4-FFF2-40B4-BE49-F238E27FC236}">
                  <a16:creationId xmlns:a16="http://schemas.microsoft.com/office/drawing/2014/main" id="{8F371622-3701-4B4C-A090-8523C2F7BD1C}"/>
                </a:ext>
              </a:extLst>
            </p:cNvPr>
            <p:cNvSpPr/>
            <p:nvPr/>
          </p:nvSpPr>
          <p:spPr>
            <a:xfrm>
              <a:off x="-31838650" y="2838200"/>
              <a:ext cx="70100" cy="68550"/>
            </a:xfrm>
            <a:custGeom>
              <a:avLst/>
              <a:gdLst/>
              <a:ahLst/>
              <a:cxnLst/>
              <a:rect l="l" t="t" r="r" b="b"/>
              <a:pathLst>
                <a:path w="2804" h="2742" extrusionOk="0">
                  <a:moveTo>
                    <a:pt x="2430" y="0"/>
                  </a:moveTo>
                  <a:cubicBezTo>
                    <a:pt x="2339" y="0"/>
                    <a:pt x="2253" y="32"/>
                    <a:pt x="2205" y="95"/>
                  </a:cubicBezTo>
                  <a:lnTo>
                    <a:pt x="95" y="2174"/>
                  </a:lnTo>
                  <a:cubicBezTo>
                    <a:pt x="0" y="2300"/>
                    <a:pt x="0" y="2521"/>
                    <a:pt x="95" y="2647"/>
                  </a:cubicBezTo>
                  <a:cubicBezTo>
                    <a:pt x="158" y="2710"/>
                    <a:pt x="236" y="2741"/>
                    <a:pt x="319" y="2741"/>
                  </a:cubicBezTo>
                  <a:cubicBezTo>
                    <a:pt x="402" y="2741"/>
                    <a:pt x="488" y="2710"/>
                    <a:pt x="567" y="2647"/>
                  </a:cubicBezTo>
                  <a:lnTo>
                    <a:pt x="2678" y="567"/>
                  </a:lnTo>
                  <a:cubicBezTo>
                    <a:pt x="2804" y="441"/>
                    <a:pt x="2804" y="221"/>
                    <a:pt x="2678" y="95"/>
                  </a:cubicBezTo>
                  <a:cubicBezTo>
                    <a:pt x="2615" y="32"/>
                    <a:pt x="2520" y="0"/>
                    <a:pt x="24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61920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The Proposed Solution</a:t>
            </a:r>
            <a:endParaRPr dirty="0"/>
          </a:p>
        </p:txBody>
      </p:sp>
      <p:sp>
        <p:nvSpPr>
          <p:cNvPr id="342" name="Google Shape;342;p35"/>
          <p:cNvSpPr/>
          <p:nvPr/>
        </p:nvSpPr>
        <p:spPr>
          <a:xfrm>
            <a:off x="1024796" y="1439100"/>
            <a:ext cx="6401916" cy="4425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sz="2400" b="1" dirty="0">
                <a:solidFill>
                  <a:schemeClr val="tx1"/>
                </a:solidFill>
                <a:latin typeface="Montserrat" panose="00000500000000000000" pitchFamily="2" charset="0"/>
              </a:rPr>
              <a:t>An Optimization-Based System.</a:t>
            </a:r>
            <a:endParaRPr sz="2200" b="1" dirty="0">
              <a:solidFill>
                <a:schemeClr val="tx1"/>
              </a:solidFill>
              <a:latin typeface="Montserrat" panose="00000500000000000000" pitchFamily="2" charset="0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43" name="Google Shape;343;p35"/>
          <p:cNvSpPr/>
          <p:nvPr/>
        </p:nvSpPr>
        <p:spPr>
          <a:xfrm>
            <a:off x="1523722" y="2077725"/>
            <a:ext cx="2259300" cy="4425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sz="2400" b="1" dirty="0">
                <a:solidFill>
                  <a:schemeClr val="tx1"/>
                </a:solidFill>
                <a:latin typeface="Montserrat" panose="00000500000000000000" pitchFamily="2" charset="0"/>
              </a:rPr>
              <a:t>Input</a:t>
            </a:r>
            <a:endParaRPr sz="2200" b="1" dirty="0">
              <a:solidFill>
                <a:schemeClr val="tx1"/>
              </a:solidFill>
              <a:latin typeface="Montserrat" panose="00000500000000000000" pitchFamily="2" charset="0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44" name="Google Shape;344;p35"/>
          <p:cNvSpPr txBox="1"/>
          <p:nvPr/>
        </p:nvSpPr>
        <p:spPr>
          <a:xfrm>
            <a:off x="3464200" y="2042700"/>
            <a:ext cx="4331060" cy="4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Structured Data (Teams, Stadiums, Rules)</a:t>
            </a:r>
            <a:endParaRPr dirty="0">
              <a:solidFill>
                <a:schemeClr val="tx1"/>
              </a:solidFill>
              <a:latin typeface="DM Sans" pitchFamily="2" charset="0"/>
              <a:ea typeface="DM Sans"/>
              <a:cs typeface="DM Sans"/>
              <a:sym typeface="DM Sans"/>
            </a:endParaRPr>
          </a:p>
        </p:txBody>
      </p:sp>
      <p:sp>
        <p:nvSpPr>
          <p:cNvPr id="345" name="!!Model"/>
          <p:cNvSpPr/>
          <p:nvPr/>
        </p:nvSpPr>
        <p:spPr>
          <a:xfrm>
            <a:off x="1523722" y="2658300"/>
            <a:ext cx="2259300" cy="4425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sz="2400" b="1" dirty="0">
                <a:solidFill>
                  <a:schemeClr val="tx1"/>
                </a:solidFill>
                <a:latin typeface="Montserrat" panose="00000500000000000000" pitchFamily="2" charset="0"/>
              </a:rPr>
              <a:t>Model</a:t>
            </a:r>
            <a:endParaRPr sz="2200" b="1" dirty="0">
              <a:solidFill>
                <a:schemeClr val="tx1"/>
              </a:solidFill>
              <a:latin typeface="Montserrat" panose="00000500000000000000" pitchFamily="2" charset="0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46" name="Google Shape;346;p35"/>
          <p:cNvSpPr txBox="1"/>
          <p:nvPr/>
        </p:nvSpPr>
        <p:spPr>
          <a:xfrm>
            <a:off x="3445833" y="2658300"/>
            <a:ext cx="4527656" cy="4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Mathematical Constraints &amp; Objective Functions</a:t>
            </a:r>
            <a:endParaRPr dirty="0">
              <a:solidFill>
                <a:schemeClr val="tx1"/>
              </a:solidFill>
              <a:latin typeface="DM Sans" pitchFamily="2" charset="0"/>
              <a:ea typeface="DM Sans"/>
              <a:cs typeface="DM Sans"/>
              <a:sym typeface="DM Sans"/>
            </a:endParaRPr>
          </a:p>
        </p:txBody>
      </p:sp>
      <p:sp>
        <p:nvSpPr>
          <p:cNvPr id="347" name="Google Shape;347;p35"/>
          <p:cNvSpPr/>
          <p:nvPr/>
        </p:nvSpPr>
        <p:spPr>
          <a:xfrm>
            <a:off x="1523722" y="3238875"/>
            <a:ext cx="2259300" cy="4425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sz="2400" b="1" dirty="0">
                <a:solidFill>
                  <a:schemeClr val="tx1"/>
                </a:solidFill>
                <a:latin typeface="Montserrat" panose="00000500000000000000" pitchFamily="2" charset="0"/>
              </a:rPr>
              <a:t>Output</a:t>
            </a:r>
            <a:endParaRPr sz="2200" b="1" dirty="0">
              <a:solidFill>
                <a:schemeClr val="tx1"/>
              </a:solidFill>
              <a:latin typeface="Montserrat" panose="00000500000000000000" pitchFamily="2" charset="0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48" name="Google Shape;348;p35"/>
          <p:cNvSpPr txBox="1"/>
          <p:nvPr/>
        </p:nvSpPr>
        <p:spPr>
          <a:xfrm>
            <a:off x="3445833" y="3266350"/>
            <a:ext cx="5271830" cy="4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dirty="0">
                <a:solidFill>
                  <a:schemeClr val="tx1"/>
                </a:solidFill>
              </a:rPr>
              <a:t>An efficient schedule that balances efficiency and fairness.</a:t>
            </a:r>
            <a:endParaRPr dirty="0">
              <a:solidFill>
                <a:schemeClr val="tx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351" name="Google Shape;351;p35"/>
          <p:cNvCxnSpPr>
            <a:cxnSpLocks/>
            <a:stCxn id="342" idx="1"/>
            <a:endCxn id="343" idx="1"/>
          </p:cNvCxnSpPr>
          <p:nvPr/>
        </p:nvCxnSpPr>
        <p:spPr>
          <a:xfrm rot="10800000" flipH="1" flipV="1">
            <a:off x="1024796" y="1660349"/>
            <a:ext cx="498926" cy="638625"/>
          </a:xfrm>
          <a:prstGeom prst="bentConnector3">
            <a:avLst>
              <a:gd name="adj1" fmla="val -45818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352" name="Google Shape;352;p35"/>
          <p:cNvCxnSpPr>
            <a:cxnSpLocks/>
            <a:stCxn id="342" idx="1"/>
            <a:endCxn id="345" idx="1"/>
          </p:cNvCxnSpPr>
          <p:nvPr/>
        </p:nvCxnSpPr>
        <p:spPr>
          <a:xfrm rot="10800000" flipH="1" flipV="1">
            <a:off x="1024796" y="1660350"/>
            <a:ext cx="498926" cy="1219200"/>
          </a:xfrm>
          <a:prstGeom prst="bentConnector3">
            <a:avLst>
              <a:gd name="adj1" fmla="val -45818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353" name="Google Shape;353;p35"/>
          <p:cNvCxnSpPr>
            <a:cxnSpLocks/>
          </p:cNvCxnSpPr>
          <p:nvPr/>
        </p:nvCxnSpPr>
        <p:spPr>
          <a:xfrm rot="10800000" flipH="1" flipV="1">
            <a:off x="1024796" y="1671862"/>
            <a:ext cx="498926" cy="1799775"/>
          </a:xfrm>
          <a:prstGeom prst="bentConnector3">
            <a:avLst>
              <a:gd name="adj1" fmla="val -45818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355" name="Google Shape;355;p35"/>
          <p:cNvCxnSpPr>
            <a:cxnSpLocks/>
          </p:cNvCxnSpPr>
          <p:nvPr/>
        </p:nvCxnSpPr>
        <p:spPr>
          <a:xfrm>
            <a:off x="2739082" y="2269050"/>
            <a:ext cx="671700" cy="600"/>
          </a:xfrm>
          <a:prstGeom prst="bentConnector3">
            <a:avLst>
              <a:gd name="adj1" fmla="val 5000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356" name="Google Shape;356;p35"/>
          <p:cNvCxnSpPr>
            <a:cxnSpLocks/>
          </p:cNvCxnSpPr>
          <p:nvPr/>
        </p:nvCxnSpPr>
        <p:spPr>
          <a:xfrm>
            <a:off x="2739082" y="2879550"/>
            <a:ext cx="671700" cy="600"/>
          </a:xfrm>
          <a:prstGeom prst="bentConnector3">
            <a:avLst>
              <a:gd name="adj1" fmla="val 5000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357" name="Google Shape;357;p35"/>
          <p:cNvCxnSpPr>
            <a:cxnSpLocks/>
          </p:cNvCxnSpPr>
          <p:nvPr/>
        </p:nvCxnSpPr>
        <p:spPr>
          <a:xfrm>
            <a:off x="2776252" y="3495034"/>
            <a:ext cx="671700" cy="600"/>
          </a:xfrm>
          <a:prstGeom prst="bentConnector3">
            <a:avLst>
              <a:gd name="adj1" fmla="val 5000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3" grpId="0"/>
      <p:bldP spid="344" grpId="0"/>
      <p:bldP spid="345" grpId="0"/>
      <p:bldP spid="346" grpId="0"/>
      <p:bldP spid="347" grpId="0"/>
      <p:bldP spid="34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Model">
            <a:extLst>
              <a:ext uri="{FF2B5EF4-FFF2-40B4-BE49-F238E27FC236}">
                <a16:creationId xmlns:a16="http://schemas.microsoft.com/office/drawing/2014/main" id="{AC1FC312-2BAE-C58E-111F-1C9861127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068" y="133461"/>
            <a:ext cx="7704000" cy="572700"/>
          </a:xfrm>
        </p:spPr>
        <p:txBody>
          <a:bodyPr/>
          <a:lstStyle/>
          <a:p>
            <a:r>
              <a:rPr lang="en-US" dirty="0"/>
              <a:t>Model</a:t>
            </a:r>
          </a:p>
        </p:txBody>
      </p:sp>
      <p:sp>
        <p:nvSpPr>
          <p:cNvPr id="18" name="Google Shape;365;p36">
            <a:extLst>
              <a:ext uri="{FF2B5EF4-FFF2-40B4-BE49-F238E27FC236}">
                <a16:creationId xmlns:a16="http://schemas.microsoft.com/office/drawing/2014/main" id="{7E911C9D-57B1-7EC8-FF62-0A5D7C5026CD}"/>
              </a:ext>
            </a:extLst>
          </p:cNvPr>
          <p:cNvSpPr txBox="1">
            <a:spLocks/>
          </p:cNvSpPr>
          <p:nvPr/>
        </p:nvSpPr>
        <p:spPr>
          <a:xfrm>
            <a:off x="4168833" y="1197770"/>
            <a:ext cx="4914380" cy="10886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96900" lvl="1"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  <a:latin typeface="DM Sans" pitchFamily="2" charset="0"/>
              </a:rPr>
              <a:t>Stadium Sharing </a:t>
            </a:r>
          </a:p>
          <a:p>
            <a:pPr marL="882650" lvl="1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No simultaneous matches allowed for teams sharing a home venue</a:t>
            </a:r>
          </a:p>
          <a:p>
            <a:pPr marL="596900" lvl="1">
              <a:lnSpc>
                <a:spcPct val="150000"/>
              </a:lnSpc>
              <a:buClr>
                <a:schemeClr val="tx1"/>
              </a:buClr>
            </a:pPr>
            <a:endParaRPr lang="en-US" dirty="0">
              <a:solidFill>
                <a:schemeClr val="tx1"/>
              </a:solidFill>
              <a:latin typeface="DM Sans" pitchFamily="2" charset="0"/>
            </a:endParaRPr>
          </a:p>
          <a:p>
            <a:pPr marL="882650" lvl="1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tx1"/>
              </a:solidFill>
              <a:latin typeface="DM Sans" pitchFamily="2" charset="0"/>
            </a:endParaRPr>
          </a:p>
        </p:txBody>
      </p:sp>
      <p:sp>
        <p:nvSpPr>
          <p:cNvPr id="19" name="Google Shape;367;p36">
            <a:extLst>
              <a:ext uri="{FF2B5EF4-FFF2-40B4-BE49-F238E27FC236}">
                <a16:creationId xmlns:a16="http://schemas.microsoft.com/office/drawing/2014/main" id="{C5155247-C3CE-4C46-99CD-497C96B3BD87}"/>
              </a:ext>
            </a:extLst>
          </p:cNvPr>
          <p:cNvSpPr txBox="1">
            <a:spLocks/>
          </p:cNvSpPr>
          <p:nvPr/>
        </p:nvSpPr>
        <p:spPr>
          <a:xfrm>
            <a:off x="799929" y="883022"/>
            <a:ext cx="3041678" cy="43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 b="1" dirty="0">
                <a:solidFill>
                  <a:schemeClr val="tx1"/>
                </a:solidFill>
                <a:latin typeface="DM Sans" pitchFamily="2" charset="0"/>
              </a:rPr>
              <a:t>Objectives</a:t>
            </a:r>
          </a:p>
        </p:txBody>
      </p:sp>
      <p:sp>
        <p:nvSpPr>
          <p:cNvPr id="20" name="Google Shape;368;p36">
            <a:extLst>
              <a:ext uri="{FF2B5EF4-FFF2-40B4-BE49-F238E27FC236}">
                <a16:creationId xmlns:a16="http://schemas.microsoft.com/office/drawing/2014/main" id="{712D51C5-59FB-3C73-CEE5-ACEB5339FC9C}"/>
              </a:ext>
            </a:extLst>
          </p:cNvPr>
          <p:cNvSpPr txBox="1">
            <a:spLocks/>
          </p:cNvSpPr>
          <p:nvPr/>
        </p:nvSpPr>
        <p:spPr>
          <a:xfrm>
            <a:off x="5143373" y="883022"/>
            <a:ext cx="3920127" cy="43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 b="1" dirty="0">
                <a:solidFill>
                  <a:schemeClr val="tx1"/>
                </a:solidFill>
                <a:latin typeface="DM Sans" pitchFamily="2" charset="0"/>
              </a:rPr>
              <a:t>Constraints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11D24BA-05FD-5269-4FF6-282C1C5A431A}"/>
              </a:ext>
            </a:extLst>
          </p:cNvPr>
          <p:cNvSpPr txBox="1"/>
          <p:nvPr/>
        </p:nvSpPr>
        <p:spPr>
          <a:xfrm>
            <a:off x="514689" y="3635942"/>
            <a:ext cx="3771794" cy="3860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b="1" dirty="0">
                <a:solidFill>
                  <a:schemeClr val="tx1"/>
                </a:solidFill>
                <a:latin typeface="DM Sans" pitchFamily="2" charset="0"/>
              </a:rPr>
              <a:t>Minimize Travel  Fatigue (TTP)</a:t>
            </a:r>
          </a:p>
        </p:txBody>
      </p:sp>
      <p:sp>
        <p:nvSpPr>
          <p:cNvPr id="33" name="Google Shape;8465;p67">
            <a:extLst>
              <a:ext uri="{FF2B5EF4-FFF2-40B4-BE49-F238E27FC236}">
                <a16:creationId xmlns:a16="http://schemas.microsoft.com/office/drawing/2014/main" id="{0C424A50-E1F8-B937-700B-3F9AA746FA19}"/>
              </a:ext>
            </a:extLst>
          </p:cNvPr>
          <p:cNvSpPr/>
          <p:nvPr/>
        </p:nvSpPr>
        <p:spPr>
          <a:xfrm>
            <a:off x="506627" y="928329"/>
            <a:ext cx="300037" cy="296944"/>
          </a:xfrm>
          <a:custGeom>
            <a:avLst/>
            <a:gdLst/>
            <a:ahLst/>
            <a:cxnLst/>
            <a:rect l="l" t="t" r="r" b="b"/>
            <a:pathLst>
              <a:path w="19516" h="19326" extrusionOk="0">
                <a:moveTo>
                  <a:pt x="15929" y="1934"/>
                </a:moveTo>
                <a:lnTo>
                  <a:pt x="15929" y="2834"/>
                </a:lnTo>
                <a:cubicBezTo>
                  <a:pt x="15929" y="3145"/>
                  <a:pt x="16182" y="3398"/>
                  <a:pt x="16496" y="3398"/>
                </a:cubicBezTo>
                <a:lnTo>
                  <a:pt x="17393" y="3398"/>
                </a:lnTo>
                <a:lnTo>
                  <a:pt x="16261" y="4531"/>
                </a:lnTo>
                <a:lnTo>
                  <a:pt x="14796" y="4531"/>
                </a:lnTo>
                <a:lnTo>
                  <a:pt x="14796" y="3066"/>
                </a:lnTo>
                <a:lnTo>
                  <a:pt x="15929" y="1934"/>
                </a:lnTo>
                <a:close/>
                <a:moveTo>
                  <a:pt x="9663" y="7927"/>
                </a:moveTo>
                <a:cubicBezTo>
                  <a:pt x="9926" y="7927"/>
                  <a:pt x="10183" y="7991"/>
                  <a:pt x="10418" y="8109"/>
                </a:cubicBezTo>
                <a:lnTo>
                  <a:pt x="9262" y="9262"/>
                </a:lnTo>
                <a:cubicBezTo>
                  <a:pt x="9041" y="9485"/>
                  <a:pt x="9041" y="9842"/>
                  <a:pt x="9262" y="10065"/>
                </a:cubicBezTo>
                <a:cubicBezTo>
                  <a:pt x="9372" y="10175"/>
                  <a:pt x="9517" y="10231"/>
                  <a:pt x="9662" y="10231"/>
                </a:cubicBezTo>
                <a:cubicBezTo>
                  <a:pt x="9807" y="10231"/>
                  <a:pt x="9952" y="10175"/>
                  <a:pt x="10062" y="10065"/>
                </a:cubicBezTo>
                <a:lnTo>
                  <a:pt x="11218" y="8909"/>
                </a:lnTo>
                <a:cubicBezTo>
                  <a:pt x="11336" y="9141"/>
                  <a:pt x="11399" y="9401"/>
                  <a:pt x="11399" y="9664"/>
                </a:cubicBezTo>
                <a:cubicBezTo>
                  <a:pt x="11399" y="10585"/>
                  <a:pt x="10605" y="11364"/>
                  <a:pt x="9663" y="11364"/>
                </a:cubicBezTo>
                <a:cubicBezTo>
                  <a:pt x="8721" y="11364"/>
                  <a:pt x="7927" y="10585"/>
                  <a:pt x="7927" y="9664"/>
                </a:cubicBezTo>
                <a:cubicBezTo>
                  <a:pt x="7927" y="8722"/>
                  <a:pt x="8721" y="7927"/>
                  <a:pt x="9663" y="7927"/>
                </a:cubicBezTo>
                <a:close/>
                <a:moveTo>
                  <a:pt x="9663" y="5663"/>
                </a:moveTo>
                <a:cubicBezTo>
                  <a:pt x="10527" y="5666"/>
                  <a:pt x="11363" y="5953"/>
                  <a:pt x="12049" y="6478"/>
                </a:cubicBezTo>
                <a:lnTo>
                  <a:pt x="11242" y="7287"/>
                </a:lnTo>
                <a:cubicBezTo>
                  <a:pt x="10777" y="6967"/>
                  <a:pt x="10228" y="6798"/>
                  <a:pt x="9663" y="6795"/>
                </a:cubicBezTo>
                <a:cubicBezTo>
                  <a:pt x="8108" y="6795"/>
                  <a:pt x="6795" y="8109"/>
                  <a:pt x="6795" y="9664"/>
                </a:cubicBezTo>
                <a:cubicBezTo>
                  <a:pt x="6795" y="10422"/>
                  <a:pt x="7103" y="11143"/>
                  <a:pt x="7649" y="11669"/>
                </a:cubicBezTo>
                <a:cubicBezTo>
                  <a:pt x="8208" y="12220"/>
                  <a:pt x="8935" y="12495"/>
                  <a:pt x="9663" y="12495"/>
                </a:cubicBezTo>
                <a:cubicBezTo>
                  <a:pt x="10391" y="12495"/>
                  <a:pt x="11119" y="12220"/>
                  <a:pt x="11677" y="11669"/>
                </a:cubicBezTo>
                <a:cubicBezTo>
                  <a:pt x="12224" y="11143"/>
                  <a:pt x="12532" y="10422"/>
                  <a:pt x="12532" y="9664"/>
                </a:cubicBezTo>
                <a:cubicBezTo>
                  <a:pt x="12529" y="9099"/>
                  <a:pt x="12360" y="8549"/>
                  <a:pt x="12043" y="8084"/>
                </a:cubicBezTo>
                <a:lnTo>
                  <a:pt x="12849" y="7278"/>
                </a:lnTo>
                <a:cubicBezTo>
                  <a:pt x="13374" y="7964"/>
                  <a:pt x="13661" y="8800"/>
                  <a:pt x="13664" y="9664"/>
                </a:cubicBezTo>
                <a:cubicBezTo>
                  <a:pt x="13664" y="11850"/>
                  <a:pt x="11870" y="13628"/>
                  <a:pt x="9663" y="13628"/>
                </a:cubicBezTo>
                <a:cubicBezTo>
                  <a:pt x="7456" y="13628"/>
                  <a:pt x="5662" y="11850"/>
                  <a:pt x="5662" y="9664"/>
                </a:cubicBezTo>
                <a:cubicBezTo>
                  <a:pt x="5662" y="7496"/>
                  <a:pt x="7495" y="5663"/>
                  <a:pt x="9663" y="5663"/>
                </a:cubicBezTo>
                <a:close/>
                <a:moveTo>
                  <a:pt x="9676" y="3398"/>
                </a:moveTo>
                <a:cubicBezTo>
                  <a:pt x="11130" y="3398"/>
                  <a:pt x="12541" y="3902"/>
                  <a:pt x="13664" y="4826"/>
                </a:cubicBezTo>
                <a:lnTo>
                  <a:pt x="13664" y="4863"/>
                </a:lnTo>
                <a:lnTo>
                  <a:pt x="12861" y="5663"/>
                </a:lnTo>
                <a:cubicBezTo>
                  <a:pt x="11911" y="4901"/>
                  <a:pt x="10770" y="4528"/>
                  <a:pt x="9634" y="4528"/>
                </a:cubicBezTo>
                <a:cubicBezTo>
                  <a:pt x="8214" y="4528"/>
                  <a:pt x="6803" y="5111"/>
                  <a:pt x="5786" y="6246"/>
                </a:cubicBezTo>
                <a:cubicBezTo>
                  <a:pt x="3959" y="8287"/>
                  <a:pt x="4047" y="11403"/>
                  <a:pt x="5985" y="13341"/>
                </a:cubicBezTo>
                <a:cubicBezTo>
                  <a:pt x="6991" y="14346"/>
                  <a:pt x="8313" y="14852"/>
                  <a:pt x="9638" y="14852"/>
                </a:cubicBezTo>
                <a:cubicBezTo>
                  <a:pt x="10866" y="14852"/>
                  <a:pt x="12096" y="14417"/>
                  <a:pt x="13078" y="13538"/>
                </a:cubicBezTo>
                <a:cubicBezTo>
                  <a:pt x="15119" y="11711"/>
                  <a:pt x="15376" y="8604"/>
                  <a:pt x="13664" y="6463"/>
                </a:cubicBezTo>
                <a:lnTo>
                  <a:pt x="14464" y="5663"/>
                </a:lnTo>
                <a:lnTo>
                  <a:pt x="14503" y="5663"/>
                </a:lnTo>
                <a:cubicBezTo>
                  <a:pt x="15430" y="6789"/>
                  <a:pt x="15935" y="8205"/>
                  <a:pt x="15929" y="9664"/>
                </a:cubicBezTo>
                <a:cubicBezTo>
                  <a:pt x="15929" y="13100"/>
                  <a:pt x="13117" y="15893"/>
                  <a:pt x="9663" y="15893"/>
                </a:cubicBezTo>
                <a:cubicBezTo>
                  <a:pt x="6209" y="15893"/>
                  <a:pt x="3398" y="13100"/>
                  <a:pt x="3398" y="9664"/>
                </a:cubicBezTo>
                <a:cubicBezTo>
                  <a:pt x="3398" y="6209"/>
                  <a:pt x="6209" y="3398"/>
                  <a:pt x="9663" y="3398"/>
                </a:cubicBezTo>
                <a:cubicBezTo>
                  <a:pt x="9668" y="3398"/>
                  <a:pt x="9672" y="3398"/>
                  <a:pt x="9676" y="3398"/>
                </a:cubicBezTo>
                <a:close/>
                <a:moveTo>
                  <a:pt x="9663" y="1134"/>
                </a:moveTo>
                <a:cubicBezTo>
                  <a:pt x="11176" y="1134"/>
                  <a:pt x="12661" y="1532"/>
                  <a:pt x="13975" y="2287"/>
                </a:cubicBezTo>
                <a:lnTo>
                  <a:pt x="13830" y="2432"/>
                </a:lnTo>
                <a:cubicBezTo>
                  <a:pt x="13724" y="2538"/>
                  <a:pt x="13664" y="2683"/>
                  <a:pt x="13664" y="2834"/>
                </a:cubicBezTo>
                <a:lnTo>
                  <a:pt x="13664" y="3428"/>
                </a:lnTo>
                <a:cubicBezTo>
                  <a:pt x="12473" y="2670"/>
                  <a:pt x="11090" y="2266"/>
                  <a:pt x="9679" y="2266"/>
                </a:cubicBezTo>
                <a:cubicBezTo>
                  <a:pt x="9674" y="2266"/>
                  <a:pt x="9668" y="2266"/>
                  <a:pt x="9663" y="2266"/>
                </a:cubicBezTo>
                <a:cubicBezTo>
                  <a:pt x="7701" y="2266"/>
                  <a:pt x="5847" y="3039"/>
                  <a:pt x="4443" y="4443"/>
                </a:cubicBezTo>
                <a:cubicBezTo>
                  <a:pt x="3039" y="5847"/>
                  <a:pt x="2266" y="7701"/>
                  <a:pt x="2266" y="9664"/>
                </a:cubicBezTo>
                <a:cubicBezTo>
                  <a:pt x="2266" y="11626"/>
                  <a:pt x="3039" y="13474"/>
                  <a:pt x="4443" y="14866"/>
                </a:cubicBezTo>
                <a:cubicBezTo>
                  <a:pt x="5886" y="16305"/>
                  <a:pt x="7775" y="17024"/>
                  <a:pt x="9663" y="17024"/>
                </a:cubicBezTo>
                <a:cubicBezTo>
                  <a:pt x="11552" y="17024"/>
                  <a:pt x="13441" y="16305"/>
                  <a:pt x="14884" y="14866"/>
                </a:cubicBezTo>
                <a:cubicBezTo>
                  <a:pt x="16288" y="13474"/>
                  <a:pt x="17061" y="11626"/>
                  <a:pt x="17061" y="9664"/>
                </a:cubicBezTo>
                <a:cubicBezTo>
                  <a:pt x="17064" y="8248"/>
                  <a:pt x="16659" y="6859"/>
                  <a:pt x="15898" y="5663"/>
                </a:cubicBezTo>
                <a:lnTo>
                  <a:pt x="16496" y="5663"/>
                </a:lnTo>
                <a:cubicBezTo>
                  <a:pt x="16644" y="5663"/>
                  <a:pt x="16789" y="5602"/>
                  <a:pt x="16895" y="5497"/>
                </a:cubicBezTo>
                <a:lnTo>
                  <a:pt x="17040" y="5352"/>
                </a:lnTo>
                <a:cubicBezTo>
                  <a:pt x="17795" y="6665"/>
                  <a:pt x="18193" y="8151"/>
                  <a:pt x="18193" y="9664"/>
                </a:cubicBezTo>
                <a:cubicBezTo>
                  <a:pt x="18193" y="14368"/>
                  <a:pt x="14367" y="18194"/>
                  <a:pt x="9663" y="18194"/>
                </a:cubicBezTo>
                <a:cubicBezTo>
                  <a:pt x="4959" y="18194"/>
                  <a:pt x="1133" y="14368"/>
                  <a:pt x="1133" y="9664"/>
                </a:cubicBezTo>
                <a:cubicBezTo>
                  <a:pt x="1133" y="4959"/>
                  <a:pt x="4959" y="1134"/>
                  <a:pt x="9663" y="1134"/>
                </a:cubicBezTo>
                <a:close/>
                <a:moveTo>
                  <a:pt x="16491" y="0"/>
                </a:moveTo>
                <a:cubicBezTo>
                  <a:pt x="16352" y="0"/>
                  <a:pt x="16210" y="52"/>
                  <a:pt x="16095" y="167"/>
                </a:cubicBezTo>
                <a:lnTo>
                  <a:pt x="14799" y="1463"/>
                </a:lnTo>
                <a:cubicBezTo>
                  <a:pt x="13256" y="509"/>
                  <a:pt x="11478" y="4"/>
                  <a:pt x="9663" y="1"/>
                </a:cubicBezTo>
                <a:cubicBezTo>
                  <a:pt x="7094" y="1"/>
                  <a:pt x="4669" y="1010"/>
                  <a:pt x="2839" y="2840"/>
                </a:cubicBezTo>
                <a:cubicBezTo>
                  <a:pt x="1009" y="4669"/>
                  <a:pt x="1" y="7094"/>
                  <a:pt x="1" y="9664"/>
                </a:cubicBezTo>
                <a:cubicBezTo>
                  <a:pt x="1" y="12233"/>
                  <a:pt x="1009" y="14658"/>
                  <a:pt x="2839" y="16488"/>
                </a:cubicBezTo>
                <a:cubicBezTo>
                  <a:pt x="4669" y="18317"/>
                  <a:pt x="7094" y="19326"/>
                  <a:pt x="9663" y="19326"/>
                </a:cubicBezTo>
                <a:cubicBezTo>
                  <a:pt x="12233" y="19326"/>
                  <a:pt x="14657" y="18317"/>
                  <a:pt x="16487" y="16488"/>
                </a:cubicBezTo>
                <a:cubicBezTo>
                  <a:pt x="18317" y="14658"/>
                  <a:pt x="19325" y="12233"/>
                  <a:pt x="19325" y="9664"/>
                </a:cubicBezTo>
                <a:cubicBezTo>
                  <a:pt x="19322" y="7849"/>
                  <a:pt x="18818" y="6070"/>
                  <a:pt x="17864" y="4528"/>
                </a:cubicBezTo>
                <a:lnTo>
                  <a:pt x="19159" y="3232"/>
                </a:lnTo>
                <a:cubicBezTo>
                  <a:pt x="19516" y="2876"/>
                  <a:pt x="19265" y="2266"/>
                  <a:pt x="18761" y="2266"/>
                </a:cubicBezTo>
                <a:lnTo>
                  <a:pt x="17061" y="2266"/>
                </a:lnTo>
                <a:lnTo>
                  <a:pt x="17061" y="569"/>
                </a:lnTo>
                <a:cubicBezTo>
                  <a:pt x="17061" y="226"/>
                  <a:pt x="16782" y="0"/>
                  <a:pt x="1649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grpSp>
        <p:nvGrpSpPr>
          <p:cNvPr id="38" name="Google Shape;8894;p68">
            <a:extLst>
              <a:ext uri="{FF2B5EF4-FFF2-40B4-BE49-F238E27FC236}">
                <a16:creationId xmlns:a16="http://schemas.microsoft.com/office/drawing/2014/main" id="{6276CA8F-2CAA-600E-C0F6-9D9430273DF0}"/>
              </a:ext>
            </a:extLst>
          </p:cNvPr>
          <p:cNvGrpSpPr/>
          <p:nvPr/>
        </p:nvGrpSpPr>
        <p:grpSpPr>
          <a:xfrm>
            <a:off x="4795245" y="866871"/>
            <a:ext cx="354136" cy="334348"/>
            <a:chOff x="-25844850" y="2357750"/>
            <a:chExt cx="296175" cy="279625"/>
          </a:xfrm>
          <a:solidFill>
            <a:schemeClr val="tx1">
              <a:lumMod val="95000"/>
            </a:schemeClr>
          </a:solidFill>
        </p:grpSpPr>
        <p:sp>
          <p:nvSpPr>
            <p:cNvPr id="39" name="Google Shape;8895;p68">
              <a:extLst>
                <a:ext uri="{FF2B5EF4-FFF2-40B4-BE49-F238E27FC236}">
                  <a16:creationId xmlns:a16="http://schemas.microsoft.com/office/drawing/2014/main" id="{9C95C29F-BC39-A94D-69E4-D43F3ADCFD9B}"/>
                </a:ext>
              </a:extLst>
            </p:cNvPr>
            <p:cNvSpPr/>
            <p:nvPr/>
          </p:nvSpPr>
          <p:spPr>
            <a:xfrm>
              <a:off x="-25792075" y="2428625"/>
              <a:ext cx="191425" cy="208750"/>
            </a:xfrm>
            <a:custGeom>
              <a:avLst/>
              <a:gdLst/>
              <a:ahLst/>
              <a:cxnLst/>
              <a:rect l="l" t="t" r="r" b="b"/>
              <a:pathLst>
                <a:path w="7657" h="8350" extrusionOk="0">
                  <a:moveTo>
                    <a:pt x="3781" y="2773"/>
                  </a:moveTo>
                  <a:cubicBezTo>
                    <a:pt x="3970" y="2773"/>
                    <a:pt x="4128" y="2931"/>
                    <a:pt x="4128" y="3120"/>
                  </a:cubicBezTo>
                  <a:cubicBezTo>
                    <a:pt x="4128" y="3309"/>
                    <a:pt x="3970" y="3466"/>
                    <a:pt x="3781" y="3466"/>
                  </a:cubicBezTo>
                  <a:cubicBezTo>
                    <a:pt x="3592" y="3466"/>
                    <a:pt x="3435" y="3309"/>
                    <a:pt x="3435" y="3120"/>
                  </a:cubicBezTo>
                  <a:cubicBezTo>
                    <a:pt x="3435" y="2931"/>
                    <a:pt x="3592" y="2773"/>
                    <a:pt x="3781" y="2773"/>
                  </a:cubicBezTo>
                  <a:close/>
                  <a:moveTo>
                    <a:pt x="3813" y="694"/>
                  </a:moveTo>
                  <a:cubicBezTo>
                    <a:pt x="5167" y="694"/>
                    <a:pt x="6270" y="1796"/>
                    <a:pt x="6270" y="3120"/>
                  </a:cubicBezTo>
                  <a:lnTo>
                    <a:pt x="6270" y="6239"/>
                  </a:lnTo>
                  <a:lnTo>
                    <a:pt x="4191" y="6239"/>
                  </a:lnTo>
                  <a:lnTo>
                    <a:pt x="4191" y="4096"/>
                  </a:lnTo>
                  <a:cubicBezTo>
                    <a:pt x="4569" y="3939"/>
                    <a:pt x="4884" y="3592"/>
                    <a:pt x="4884" y="3120"/>
                  </a:cubicBezTo>
                  <a:cubicBezTo>
                    <a:pt x="4884" y="2521"/>
                    <a:pt x="4411" y="2111"/>
                    <a:pt x="3876" y="2111"/>
                  </a:cubicBezTo>
                  <a:cubicBezTo>
                    <a:pt x="3277" y="2111"/>
                    <a:pt x="2836" y="2584"/>
                    <a:pt x="2836" y="3120"/>
                  </a:cubicBezTo>
                  <a:cubicBezTo>
                    <a:pt x="2836" y="3561"/>
                    <a:pt x="3120" y="3939"/>
                    <a:pt x="3561" y="4096"/>
                  </a:cubicBezTo>
                  <a:lnTo>
                    <a:pt x="3561" y="6239"/>
                  </a:lnTo>
                  <a:lnTo>
                    <a:pt x="1450" y="6239"/>
                  </a:lnTo>
                  <a:lnTo>
                    <a:pt x="1450" y="3120"/>
                  </a:lnTo>
                  <a:lnTo>
                    <a:pt x="1387" y="3120"/>
                  </a:lnTo>
                  <a:cubicBezTo>
                    <a:pt x="1387" y="1796"/>
                    <a:pt x="2489" y="694"/>
                    <a:pt x="3813" y="694"/>
                  </a:cubicBezTo>
                  <a:close/>
                  <a:moveTo>
                    <a:pt x="6585" y="6932"/>
                  </a:moveTo>
                  <a:cubicBezTo>
                    <a:pt x="6774" y="6932"/>
                    <a:pt x="6932" y="7089"/>
                    <a:pt x="6932" y="7310"/>
                  </a:cubicBezTo>
                  <a:lnTo>
                    <a:pt x="6932" y="7625"/>
                  </a:lnTo>
                  <a:lnTo>
                    <a:pt x="662" y="7625"/>
                  </a:lnTo>
                  <a:lnTo>
                    <a:pt x="662" y="7310"/>
                  </a:lnTo>
                  <a:cubicBezTo>
                    <a:pt x="662" y="7089"/>
                    <a:pt x="820" y="6932"/>
                    <a:pt x="1040" y="6932"/>
                  </a:cubicBezTo>
                  <a:close/>
                  <a:moveTo>
                    <a:pt x="3813" y="1"/>
                  </a:moveTo>
                  <a:cubicBezTo>
                    <a:pt x="2080" y="1"/>
                    <a:pt x="725" y="1418"/>
                    <a:pt x="725" y="3120"/>
                  </a:cubicBezTo>
                  <a:lnTo>
                    <a:pt x="725" y="6302"/>
                  </a:lnTo>
                  <a:cubicBezTo>
                    <a:pt x="316" y="6459"/>
                    <a:pt x="1" y="6837"/>
                    <a:pt x="1" y="7310"/>
                  </a:cubicBezTo>
                  <a:lnTo>
                    <a:pt x="1" y="8003"/>
                  </a:lnTo>
                  <a:cubicBezTo>
                    <a:pt x="1" y="8192"/>
                    <a:pt x="158" y="8349"/>
                    <a:pt x="347" y="8349"/>
                  </a:cubicBezTo>
                  <a:lnTo>
                    <a:pt x="7278" y="8349"/>
                  </a:lnTo>
                  <a:cubicBezTo>
                    <a:pt x="7499" y="8349"/>
                    <a:pt x="7656" y="8192"/>
                    <a:pt x="7656" y="8003"/>
                  </a:cubicBezTo>
                  <a:lnTo>
                    <a:pt x="7656" y="7310"/>
                  </a:lnTo>
                  <a:cubicBezTo>
                    <a:pt x="7593" y="6837"/>
                    <a:pt x="7341" y="6428"/>
                    <a:pt x="6932" y="6302"/>
                  </a:cubicBezTo>
                  <a:lnTo>
                    <a:pt x="6932" y="3120"/>
                  </a:lnTo>
                  <a:cubicBezTo>
                    <a:pt x="6932" y="1387"/>
                    <a:pt x="5514" y="1"/>
                    <a:pt x="38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  <a:latin typeface="DM Sans" pitchFamily="2" charset="0"/>
              </a:endParaRPr>
            </a:p>
          </p:txBody>
        </p:sp>
        <p:sp>
          <p:nvSpPr>
            <p:cNvPr id="40" name="Google Shape;8896;p68">
              <a:extLst>
                <a:ext uri="{FF2B5EF4-FFF2-40B4-BE49-F238E27FC236}">
                  <a16:creationId xmlns:a16="http://schemas.microsoft.com/office/drawing/2014/main" id="{6C2B765E-E44A-99C6-7723-7AFAF5820D96}"/>
                </a:ext>
              </a:extLst>
            </p:cNvPr>
            <p:cNvSpPr/>
            <p:nvPr/>
          </p:nvSpPr>
          <p:spPr>
            <a:xfrm>
              <a:off x="-25602250" y="2497950"/>
              <a:ext cx="53575" cy="17350"/>
            </a:xfrm>
            <a:custGeom>
              <a:avLst/>
              <a:gdLst/>
              <a:ahLst/>
              <a:cxnLst/>
              <a:rect l="l" t="t" r="r" b="b"/>
              <a:pathLst>
                <a:path w="2143" h="694" extrusionOk="0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78" y="693"/>
                  </a:cubicBezTo>
                  <a:lnTo>
                    <a:pt x="1796" y="693"/>
                  </a:lnTo>
                  <a:cubicBezTo>
                    <a:pt x="1985" y="693"/>
                    <a:pt x="2143" y="536"/>
                    <a:pt x="2143" y="347"/>
                  </a:cubicBezTo>
                  <a:cubicBezTo>
                    <a:pt x="2143" y="158"/>
                    <a:pt x="1985" y="0"/>
                    <a:pt x="17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  <a:latin typeface="DM Sans" pitchFamily="2" charset="0"/>
              </a:endParaRPr>
            </a:p>
          </p:txBody>
        </p:sp>
        <p:sp>
          <p:nvSpPr>
            <p:cNvPr id="41" name="Google Shape;8897;p68">
              <a:extLst>
                <a:ext uri="{FF2B5EF4-FFF2-40B4-BE49-F238E27FC236}">
                  <a16:creationId xmlns:a16="http://schemas.microsoft.com/office/drawing/2014/main" id="{25C8891F-CA6F-2B2B-E778-7FA7CAC927B2}"/>
                </a:ext>
              </a:extLst>
            </p:cNvPr>
            <p:cNvSpPr/>
            <p:nvPr/>
          </p:nvSpPr>
          <p:spPr>
            <a:xfrm>
              <a:off x="-25844850" y="2497950"/>
              <a:ext cx="52800" cy="17350"/>
            </a:xfrm>
            <a:custGeom>
              <a:avLst/>
              <a:gdLst/>
              <a:ahLst/>
              <a:cxnLst/>
              <a:rect l="l" t="t" r="r" b="b"/>
              <a:pathLst>
                <a:path w="2112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7" y="693"/>
                  </a:cubicBezTo>
                  <a:lnTo>
                    <a:pt x="1765" y="693"/>
                  </a:lnTo>
                  <a:cubicBezTo>
                    <a:pt x="1954" y="693"/>
                    <a:pt x="2112" y="536"/>
                    <a:pt x="2112" y="347"/>
                  </a:cubicBezTo>
                  <a:cubicBezTo>
                    <a:pt x="2080" y="158"/>
                    <a:pt x="1923" y="0"/>
                    <a:pt x="17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  <a:latin typeface="DM Sans" pitchFamily="2" charset="0"/>
              </a:endParaRPr>
            </a:p>
          </p:txBody>
        </p:sp>
        <p:sp>
          <p:nvSpPr>
            <p:cNvPr id="42" name="Google Shape;8898;p68">
              <a:extLst>
                <a:ext uri="{FF2B5EF4-FFF2-40B4-BE49-F238E27FC236}">
                  <a16:creationId xmlns:a16="http://schemas.microsoft.com/office/drawing/2014/main" id="{E25AD478-DB20-6BCC-81A6-A2C3FB2D3159}"/>
                </a:ext>
              </a:extLst>
            </p:cNvPr>
            <p:cNvSpPr/>
            <p:nvPr/>
          </p:nvSpPr>
          <p:spPr>
            <a:xfrm>
              <a:off x="-25706225" y="2357750"/>
              <a:ext cx="17350" cy="53575"/>
            </a:xfrm>
            <a:custGeom>
              <a:avLst/>
              <a:gdLst/>
              <a:ahLst/>
              <a:cxnLst/>
              <a:rect l="l" t="t" r="r" b="b"/>
              <a:pathLst>
                <a:path w="694" h="2143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1764"/>
                  </a:lnTo>
                  <a:cubicBezTo>
                    <a:pt x="1" y="1985"/>
                    <a:pt x="158" y="2143"/>
                    <a:pt x="347" y="2143"/>
                  </a:cubicBezTo>
                  <a:cubicBezTo>
                    <a:pt x="536" y="2143"/>
                    <a:pt x="694" y="1985"/>
                    <a:pt x="694" y="1764"/>
                  </a:cubicBezTo>
                  <a:lnTo>
                    <a:pt x="694" y="347"/>
                  </a:ln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  <a:latin typeface="DM Sans" pitchFamily="2" charset="0"/>
              </a:endParaRPr>
            </a:p>
          </p:txBody>
        </p:sp>
        <p:sp>
          <p:nvSpPr>
            <p:cNvPr id="43" name="Google Shape;8899;p68">
              <a:extLst>
                <a:ext uri="{FF2B5EF4-FFF2-40B4-BE49-F238E27FC236}">
                  <a16:creationId xmlns:a16="http://schemas.microsoft.com/office/drawing/2014/main" id="{59661993-21AD-E360-40CD-6D6872E6F8F8}"/>
                </a:ext>
              </a:extLst>
            </p:cNvPr>
            <p:cNvSpPr/>
            <p:nvPr/>
          </p:nvSpPr>
          <p:spPr>
            <a:xfrm>
              <a:off x="-25804675" y="2400275"/>
              <a:ext cx="42550" cy="41775"/>
            </a:xfrm>
            <a:custGeom>
              <a:avLst/>
              <a:gdLst/>
              <a:ahLst/>
              <a:cxnLst/>
              <a:rect l="l" t="t" r="r" b="b"/>
              <a:pathLst>
                <a:path w="1702" h="1671" extrusionOk="0">
                  <a:moveTo>
                    <a:pt x="351" y="0"/>
                  </a:moveTo>
                  <a:cubicBezTo>
                    <a:pt x="260" y="0"/>
                    <a:pt x="174" y="32"/>
                    <a:pt x="127" y="95"/>
                  </a:cubicBezTo>
                  <a:cubicBezTo>
                    <a:pt x="0" y="189"/>
                    <a:pt x="0" y="442"/>
                    <a:pt x="127" y="568"/>
                  </a:cubicBezTo>
                  <a:lnTo>
                    <a:pt x="1103" y="1544"/>
                  </a:lnTo>
                  <a:cubicBezTo>
                    <a:pt x="1166" y="1607"/>
                    <a:pt x="1261" y="1670"/>
                    <a:pt x="1324" y="1670"/>
                  </a:cubicBezTo>
                  <a:cubicBezTo>
                    <a:pt x="1418" y="1670"/>
                    <a:pt x="1544" y="1607"/>
                    <a:pt x="1576" y="1544"/>
                  </a:cubicBezTo>
                  <a:cubicBezTo>
                    <a:pt x="1702" y="1418"/>
                    <a:pt x="1702" y="1198"/>
                    <a:pt x="1576" y="1072"/>
                  </a:cubicBezTo>
                  <a:lnTo>
                    <a:pt x="599" y="95"/>
                  </a:lnTo>
                  <a:cubicBezTo>
                    <a:pt x="536" y="32"/>
                    <a:pt x="442" y="0"/>
                    <a:pt x="3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  <a:latin typeface="DM Sans" pitchFamily="2" charset="0"/>
              </a:endParaRPr>
            </a:p>
          </p:txBody>
        </p:sp>
        <p:sp>
          <p:nvSpPr>
            <p:cNvPr id="44" name="Google Shape;8900;p68">
              <a:extLst>
                <a:ext uri="{FF2B5EF4-FFF2-40B4-BE49-F238E27FC236}">
                  <a16:creationId xmlns:a16="http://schemas.microsoft.com/office/drawing/2014/main" id="{9DB09741-20AE-EC4A-C649-832160557183}"/>
                </a:ext>
              </a:extLst>
            </p:cNvPr>
            <p:cNvSpPr/>
            <p:nvPr/>
          </p:nvSpPr>
          <p:spPr>
            <a:xfrm>
              <a:off x="-25632175" y="2400275"/>
              <a:ext cx="41750" cy="41775"/>
            </a:xfrm>
            <a:custGeom>
              <a:avLst/>
              <a:gdLst/>
              <a:ahLst/>
              <a:cxnLst/>
              <a:rect l="l" t="t" r="r" b="b"/>
              <a:pathLst>
                <a:path w="1670" h="1671" extrusionOk="0">
                  <a:moveTo>
                    <a:pt x="1327" y="0"/>
                  </a:moveTo>
                  <a:cubicBezTo>
                    <a:pt x="1237" y="0"/>
                    <a:pt x="1150" y="32"/>
                    <a:pt x="1103" y="95"/>
                  </a:cubicBezTo>
                  <a:lnTo>
                    <a:pt x="95" y="1072"/>
                  </a:lnTo>
                  <a:cubicBezTo>
                    <a:pt x="0" y="1198"/>
                    <a:pt x="0" y="1418"/>
                    <a:pt x="95" y="1544"/>
                  </a:cubicBezTo>
                  <a:cubicBezTo>
                    <a:pt x="158" y="1607"/>
                    <a:pt x="252" y="1670"/>
                    <a:pt x="347" y="1670"/>
                  </a:cubicBezTo>
                  <a:cubicBezTo>
                    <a:pt x="410" y="1670"/>
                    <a:pt x="536" y="1607"/>
                    <a:pt x="567" y="1544"/>
                  </a:cubicBezTo>
                  <a:lnTo>
                    <a:pt x="1575" y="568"/>
                  </a:lnTo>
                  <a:cubicBezTo>
                    <a:pt x="1670" y="442"/>
                    <a:pt x="1670" y="189"/>
                    <a:pt x="1575" y="95"/>
                  </a:cubicBezTo>
                  <a:cubicBezTo>
                    <a:pt x="1512" y="32"/>
                    <a:pt x="1418" y="0"/>
                    <a:pt x="13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  <a:latin typeface="DM Sans" pitchFamily="2" charset="0"/>
              </a:endParaRP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2CEB3D9E-BD28-189C-40BC-598B3DBDB21E}"/>
              </a:ext>
            </a:extLst>
          </p:cNvPr>
          <p:cNvSpPr txBox="1"/>
          <p:nvPr/>
        </p:nvSpPr>
        <p:spPr>
          <a:xfrm>
            <a:off x="506627" y="1995359"/>
            <a:ext cx="4034489" cy="1668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b="1" dirty="0">
                <a:solidFill>
                  <a:schemeClr val="tx1"/>
                </a:solidFill>
                <a:latin typeface="DM Sans" pitchFamily="2" charset="0"/>
              </a:rPr>
              <a:t>Maximize Fairness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Enforce </a:t>
            </a:r>
            <a:r>
              <a:rPr lang="en-US" b="1" dirty="0">
                <a:solidFill>
                  <a:schemeClr val="tx1"/>
                </a:solidFill>
                <a:latin typeface="DM Sans" pitchFamily="2" charset="0"/>
              </a:rPr>
              <a:t>simultaneous kick-offs</a:t>
            </a: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 for the final critical rounds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Balance </a:t>
            </a:r>
            <a:r>
              <a:rPr lang="en-US" b="1" dirty="0">
                <a:solidFill>
                  <a:schemeClr val="tx1"/>
                </a:solidFill>
                <a:latin typeface="DM Sans" pitchFamily="2" charset="0"/>
              </a:rPr>
              <a:t>rest days</a:t>
            </a: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 between opponents to ensure equity</a:t>
            </a:r>
            <a:endParaRPr lang="en-US" b="1" dirty="0">
              <a:solidFill>
                <a:schemeClr val="tx1"/>
              </a:solidFill>
              <a:latin typeface="DM Sans" pitchFamily="2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1912519-9CD7-3C7B-60D7-2520A50766E7}"/>
              </a:ext>
            </a:extLst>
          </p:cNvPr>
          <p:cNvSpPr txBox="1"/>
          <p:nvPr/>
        </p:nvSpPr>
        <p:spPr>
          <a:xfrm>
            <a:off x="514689" y="1313822"/>
            <a:ext cx="4154906" cy="709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b="1" dirty="0">
                <a:solidFill>
                  <a:schemeClr val="tx1"/>
                </a:solidFill>
                <a:latin typeface="DM Sans" pitchFamily="2" charset="0"/>
              </a:rPr>
              <a:t>Maximize Commercial Value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Important matches in prime-time weekend</a:t>
            </a:r>
          </a:p>
        </p:txBody>
      </p:sp>
      <p:sp>
        <p:nvSpPr>
          <p:cNvPr id="55" name="Google Shape;365;p36">
            <a:extLst>
              <a:ext uri="{FF2B5EF4-FFF2-40B4-BE49-F238E27FC236}">
                <a16:creationId xmlns:a16="http://schemas.microsoft.com/office/drawing/2014/main" id="{1F66A6B1-2A53-6F35-8CC0-F98CCF2BEE05}"/>
              </a:ext>
            </a:extLst>
          </p:cNvPr>
          <p:cNvSpPr txBox="1">
            <a:spLocks/>
          </p:cNvSpPr>
          <p:nvPr/>
        </p:nvSpPr>
        <p:spPr>
          <a:xfrm>
            <a:off x="4168795" y="2092326"/>
            <a:ext cx="4914380" cy="10886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96900" lvl="1"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  <a:latin typeface="DM Sans" pitchFamily="2" charset="0"/>
              </a:rPr>
              <a:t>Continental Blockers</a:t>
            </a:r>
          </a:p>
          <a:p>
            <a:pPr marL="882650" lvl="1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Mandatory  ± 3 </a:t>
            </a:r>
            <a:r>
              <a:rPr lang="en-US" b="1" dirty="0">
                <a:solidFill>
                  <a:schemeClr val="tx1"/>
                </a:solidFill>
                <a:latin typeface="DM Sans" pitchFamily="2" charset="0"/>
              </a:rPr>
              <a:t>day buffer</a:t>
            </a: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 around any CAF</a:t>
            </a:r>
          </a:p>
        </p:txBody>
      </p:sp>
      <p:sp>
        <p:nvSpPr>
          <p:cNvPr id="59" name="Google Shape;365;p36">
            <a:extLst>
              <a:ext uri="{FF2B5EF4-FFF2-40B4-BE49-F238E27FC236}">
                <a16:creationId xmlns:a16="http://schemas.microsoft.com/office/drawing/2014/main" id="{60A144D4-7122-FE5A-F1D4-6D2BE7ED9A29}"/>
              </a:ext>
            </a:extLst>
          </p:cNvPr>
          <p:cNvSpPr txBox="1">
            <a:spLocks/>
          </p:cNvSpPr>
          <p:nvPr/>
        </p:nvSpPr>
        <p:spPr>
          <a:xfrm>
            <a:off x="4173210" y="2754129"/>
            <a:ext cx="4914380" cy="10886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96900" lvl="1"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  <a:latin typeface="DM Sans" pitchFamily="2" charset="0"/>
              </a:rPr>
              <a:t>Security Matrix</a:t>
            </a:r>
          </a:p>
          <a:p>
            <a:pPr marL="882650" lvl="1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High-risk matchups must be in neutral venues</a:t>
            </a:r>
          </a:p>
          <a:p>
            <a:pPr marL="596900" lvl="1">
              <a:lnSpc>
                <a:spcPct val="150000"/>
              </a:lnSpc>
            </a:pPr>
            <a:endParaRPr lang="en-US" b="1" dirty="0">
              <a:solidFill>
                <a:schemeClr val="tx1"/>
              </a:solidFill>
              <a:latin typeface="DM Sans" pitchFamily="2" charset="0"/>
            </a:endParaRPr>
          </a:p>
        </p:txBody>
      </p:sp>
      <p:sp>
        <p:nvSpPr>
          <p:cNvPr id="60" name="Google Shape;365;p36">
            <a:extLst>
              <a:ext uri="{FF2B5EF4-FFF2-40B4-BE49-F238E27FC236}">
                <a16:creationId xmlns:a16="http://schemas.microsoft.com/office/drawing/2014/main" id="{D23261F5-39CF-E1F9-C78D-CC4BB4FBF8AC}"/>
              </a:ext>
            </a:extLst>
          </p:cNvPr>
          <p:cNvSpPr txBox="1">
            <a:spLocks/>
          </p:cNvSpPr>
          <p:nvPr/>
        </p:nvSpPr>
        <p:spPr>
          <a:xfrm>
            <a:off x="4168795" y="3494869"/>
            <a:ext cx="4914380" cy="10886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96900" lvl="1"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  <a:latin typeface="DM Sans" pitchFamily="2" charset="0"/>
              </a:rPr>
              <a:t>League Structure</a:t>
            </a:r>
          </a:p>
          <a:p>
            <a:pPr marL="882650" lvl="1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 Every team plays exactly </a:t>
            </a:r>
            <a:r>
              <a:rPr lang="en-US" b="1" i="1" dirty="0">
                <a:solidFill>
                  <a:schemeClr val="tx1"/>
                </a:solidFill>
                <a:latin typeface="DM Sans" pitchFamily="2" charset="0"/>
              </a:rPr>
              <a:t>one match per Game Week</a:t>
            </a: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 (Double Round Robin integrity)</a:t>
            </a:r>
            <a:endParaRPr lang="en-US" b="1" dirty="0">
              <a:solidFill>
                <a:schemeClr val="tx1"/>
              </a:solidFill>
              <a:latin typeface="DM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19965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uiExpand="1" build="p"/>
      <p:bldP spid="19" grpId="0" build="p"/>
      <p:bldP spid="20" grpId="0" build="p"/>
      <p:bldP spid="21" grpId="0"/>
      <p:bldP spid="33" grpId="0" animBg="1"/>
      <p:bldP spid="46" grpId="0"/>
      <p:bldP spid="50" grpId="0"/>
      <p:bldP spid="55" grpId="0" uiExpand="1" build="p"/>
      <p:bldP spid="59" grpId="0" build="p"/>
      <p:bldP spid="60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>
          <a:extLst>
            <a:ext uri="{FF2B5EF4-FFF2-40B4-BE49-F238E27FC236}">
              <a16:creationId xmlns:a16="http://schemas.microsoft.com/office/drawing/2014/main" id="{3970FA2D-FD44-7D92-8B6F-6525F1824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4">
            <a:extLst>
              <a:ext uri="{FF2B5EF4-FFF2-40B4-BE49-F238E27FC236}">
                <a16:creationId xmlns:a16="http://schemas.microsoft.com/office/drawing/2014/main" id="{37794F3A-5E94-46FB-BC62-1992972078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83725" y="1527636"/>
            <a:ext cx="4894500" cy="96572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Background</a:t>
            </a:r>
            <a:endParaRPr dirty="0"/>
          </a:p>
        </p:txBody>
      </p:sp>
      <p:sp>
        <p:nvSpPr>
          <p:cNvPr id="331" name="Google Shape;331;p34">
            <a:extLst>
              <a:ext uri="{FF2B5EF4-FFF2-40B4-BE49-F238E27FC236}">
                <a16:creationId xmlns:a16="http://schemas.microsoft.com/office/drawing/2014/main" id="{98945EFF-B046-F0BB-4DFD-4FF7CD683054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330" name="Google Shape;330;p34">
            <a:extLst>
              <a:ext uri="{FF2B5EF4-FFF2-40B4-BE49-F238E27FC236}">
                <a16:creationId xmlns:a16="http://schemas.microsoft.com/office/drawing/2014/main" id="{EB5634CC-271C-E3EA-E6EA-F1130A72691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124750" y="2800190"/>
            <a:ext cx="5806964" cy="5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b="1" dirty="0"/>
              <a:t>Background And Existing Work</a:t>
            </a:r>
          </a:p>
        </p:txBody>
      </p:sp>
      <p:grpSp>
        <p:nvGrpSpPr>
          <p:cNvPr id="332" name="Google Shape;332;p34">
            <a:extLst>
              <a:ext uri="{FF2B5EF4-FFF2-40B4-BE49-F238E27FC236}">
                <a16:creationId xmlns:a16="http://schemas.microsoft.com/office/drawing/2014/main" id="{04259A00-5ECF-353B-1552-53F59FAA14FE}"/>
              </a:ext>
            </a:extLst>
          </p:cNvPr>
          <p:cNvGrpSpPr/>
          <p:nvPr/>
        </p:nvGrpSpPr>
        <p:grpSpPr>
          <a:xfrm>
            <a:off x="7931714" y="398014"/>
            <a:ext cx="281947" cy="1094035"/>
            <a:chOff x="7256520" y="835200"/>
            <a:chExt cx="562320" cy="2181960"/>
          </a:xfrm>
        </p:grpSpPr>
        <p:sp>
          <p:nvSpPr>
            <p:cNvPr id="333" name="Google Shape;333;p34">
              <a:extLst>
                <a:ext uri="{FF2B5EF4-FFF2-40B4-BE49-F238E27FC236}">
                  <a16:creationId xmlns:a16="http://schemas.microsoft.com/office/drawing/2014/main" id="{39FECC3B-C3AC-249C-AE9D-810A6073CDE1}"/>
                </a:ext>
              </a:extLst>
            </p:cNvPr>
            <p:cNvSpPr/>
            <p:nvPr/>
          </p:nvSpPr>
          <p:spPr>
            <a:xfrm>
              <a:off x="7256520" y="2444400"/>
              <a:ext cx="562320" cy="572760"/>
            </a:xfrm>
            <a:custGeom>
              <a:avLst/>
              <a:gdLst/>
              <a:ahLst/>
              <a:cxnLst/>
              <a:rect l="l" t="t" r="r" b="b"/>
              <a:pathLst>
                <a:path w="1562" h="1591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1"/>
                  </a:lnTo>
                  <a:lnTo>
                    <a:pt x="781" y="1096"/>
                  </a:lnTo>
                  <a:lnTo>
                    <a:pt x="1267" y="1591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34">
              <a:extLst>
                <a:ext uri="{FF2B5EF4-FFF2-40B4-BE49-F238E27FC236}">
                  <a16:creationId xmlns:a16="http://schemas.microsoft.com/office/drawing/2014/main" id="{9DEF47D0-C682-72A7-BD4D-EE13C93126D1}"/>
                </a:ext>
              </a:extLst>
            </p:cNvPr>
            <p:cNvSpPr/>
            <p:nvPr/>
          </p:nvSpPr>
          <p:spPr>
            <a:xfrm>
              <a:off x="7256520" y="1639800"/>
              <a:ext cx="562320" cy="573120"/>
            </a:xfrm>
            <a:custGeom>
              <a:avLst/>
              <a:gdLst/>
              <a:ahLst/>
              <a:cxnLst/>
              <a:rect l="l" t="t" r="r" b="b"/>
              <a:pathLst>
                <a:path w="1562" h="1592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2"/>
                  </a:lnTo>
                  <a:lnTo>
                    <a:pt x="781" y="1097"/>
                  </a:lnTo>
                  <a:lnTo>
                    <a:pt x="1267" y="1592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34">
              <a:extLst>
                <a:ext uri="{FF2B5EF4-FFF2-40B4-BE49-F238E27FC236}">
                  <a16:creationId xmlns:a16="http://schemas.microsoft.com/office/drawing/2014/main" id="{A875D415-AFA8-1726-A916-E7CAD9BBC211}"/>
                </a:ext>
              </a:extLst>
            </p:cNvPr>
            <p:cNvSpPr/>
            <p:nvPr/>
          </p:nvSpPr>
          <p:spPr>
            <a:xfrm>
              <a:off x="7256520" y="835200"/>
              <a:ext cx="562320" cy="573120"/>
            </a:xfrm>
            <a:custGeom>
              <a:avLst/>
              <a:gdLst/>
              <a:ahLst/>
              <a:cxnLst/>
              <a:rect l="l" t="t" r="r" b="b"/>
              <a:pathLst>
                <a:path w="1562" h="1592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2"/>
                  </a:lnTo>
                  <a:lnTo>
                    <a:pt x="781" y="1097"/>
                  </a:lnTo>
                  <a:lnTo>
                    <a:pt x="1267" y="1592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5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36" name="Google Shape;336;p34">
            <a:extLst>
              <a:ext uri="{FF2B5EF4-FFF2-40B4-BE49-F238E27FC236}">
                <a16:creationId xmlns:a16="http://schemas.microsoft.com/office/drawing/2014/main" id="{9A43F66E-60EB-F7D5-4EB1-B5B8B86197F9}"/>
              </a:ext>
            </a:extLst>
          </p:cNvPr>
          <p:cNvCxnSpPr/>
          <p:nvPr/>
        </p:nvCxnSpPr>
        <p:spPr>
          <a:xfrm rot="10800000">
            <a:off x="2124700" y="2598750"/>
            <a:ext cx="65568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542984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3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3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3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7" presetClass="emph" presetSubtype="0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" dur="125" autoRev="1" fill="remove"/>
                                        <p:tgtEl>
                                          <p:spTgt spid="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6" dur="125" autoRev="1" fill="remove"/>
                                        <p:tgtEl>
                                          <p:spTgt spid="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" dur="125" autoRev="1" fill="remove"/>
                                        <p:tgtEl>
                                          <p:spTgt spid="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" dur="125" autoRev="1" fill="remove"/>
                                        <p:tgtEl>
                                          <p:spTgt spid="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1" grpId="0" animBg="1"/>
      <p:bldP spid="33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6"/>
          <p:cNvSpPr txBox="1">
            <a:spLocks noGrp="1"/>
          </p:cNvSpPr>
          <p:nvPr>
            <p:ph type="title"/>
          </p:nvPr>
        </p:nvSpPr>
        <p:spPr>
          <a:xfrm>
            <a:off x="719999" y="445025"/>
            <a:ext cx="808946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Sports Scheduling as an Optimization Problem</a:t>
            </a:r>
            <a:endParaRPr dirty="0"/>
          </a:p>
        </p:txBody>
      </p:sp>
      <p:sp>
        <p:nvSpPr>
          <p:cNvPr id="365" name="Google Shape;365;p36"/>
          <p:cNvSpPr txBox="1">
            <a:spLocks noGrp="1"/>
          </p:cNvSpPr>
          <p:nvPr>
            <p:ph type="subTitle" idx="1"/>
          </p:nvPr>
        </p:nvSpPr>
        <p:spPr>
          <a:xfrm>
            <a:off x="2911683" y="2878695"/>
            <a:ext cx="3447553" cy="191151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96900" lvl="1" indent="0" algn="l">
              <a:lnSpc>
                <a:spcPct val="150000"/>
              </a:lnSpc>
            </a:pPr>
            <a:r>
              <a:rPr lang="en-US" dirty="0"/>
              <a:t>Standard football leagues follow a </a:t>
            </a:r>
            <a:r>
              <a:rPr lang="en-US" b="1" dirty="0"/>
              <a:t>Double Round Robin</a:t>
            </a:r>
            <a:endParaRPr lang="en-US" dirty="0"/>
          </a:p>
          <a:p>
            <a:pPr marL="8826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Each team plays every other team </a:t>
            </a:r>
            <a:r>
              <a:rPr lang="en-US" b="1" dirty="0"/>
              <a:t>twice</a:t>
            </a:r>
            <a:r>
              <a:rPr lang="en-US" dirty="0"/>
              <a:t> (home &amp; away)</a:t>
            </a:r>
          </a:p>
          <a:p>
            <a:pPr marL="8826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For </a:t>
            </a:r>
            <a:r>
              <a:rPr lang="en-US" i="1" dirty="0"/>
              <a:t>n</a:t>
            </a:r>
            <a:r>
              <a:rPr lang="en-US" dirty="0"/>
              <a:t> teams → </a:t>
            </a:r>
            <a:r>
              <a:rPr lang="en-US" b="1" dirty="0"/>
              <a:t>n(n−1)</a:t>
            </a:r>
            <a:r>
              <a:rPr lang="en-US" dirty="0"/>
              <a:t> total matches</a:t>
            </a:r>
          </a:p>
          <a:p>
            <a:pPr marL="596900" lvl="1" indent="0" algn="l"/>
            <a:endParaRPr lang="en-US" dirty="0"/>
          </a:p>
        </p:txBody>
      </p:sp>
      <p:sp>
        <p:nvSpPr>
          <p:cNvPr id="366" name="Google Shape;366;p36"/>
          <p:cNvSpPr txBox="1">
            <a:spLocks noGrp="1"/>
          </p:cNvSpPr>
          <p:nvPr>
            <p:ph type="subTitle" idx="2"/>
          </p:nvPr>
        </p:nvSpPr>
        <p:spPr>
          <a:xfrm>
            <a:off x="6434178" y="2889947"/>
            <a:ext cx="2784764" cy="154783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b="1" dirty="0">
                <a:solidFill>
                  <a:schemeClr val="tx1"/>
                </a:solidFill>
              </a:rPr>
              <a:t>Egyptian Premier League has: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18 teams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306 matches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34 rounds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67" name="Google Shape;367;p36"/>
          <p:cNvSpPr txBox="1">
            <a:spLocks noGrp="1"/>
          </p:cNvSpPr>
          <p:nvPr>
            <p:ph type="subTitle" idx="3"/>
          </p:nvPr>
        </p:nvSpPr>
        <p:spPr>
          <a:xfrm>
            <a:off x="2519621" y="2537446"/>
            <a:ext cx="3041678" cy="43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sz="2200" b="1" dirty="0"/>
              <a:t>NP-hard problem</a:t>
            </a:r>
            <a:endParaRPr sz="2200" dirty="0"/>
          </a:p>
        </p:txBody>
      </p:sp>
      <p:sp>
        <p:nvSpPr>
          <p:cNvPr id="368" name="Google Shape;368;p36"/>
          <p:cNvSpPr txBox="1">
            <a:spLocks noGrp="1"/>
          </p:cNvSpPr>
          <p:nvPr>
            <p:ph type="subTitle" idx="4"/>
          </p:nvPr>
        </p:nvSpPr>
        <p:spPr>
          <a:xfrm>
            <a:off x="3684051" y="2560498"/>
            <a:ext cx="3920127" cy="43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b="1" dirty="0"/>
              <a:t>DRR</a:t>
            </a:r>
            <a:r>
              <a:rPr lang="en-US" dirty="0"/>
              <a:t> format</a:t>
            </a:r>
            <a:endParaRPr dirty="0"/>
          </a:p>
        </p:txBody>
      </p:sp>
      <p:sp>
        <p:nvSpPr>
          <p:cNvPr id="369" name="Google Shape;369;p36"/>
          <p:cNvSpPr txBox="1">
            <a:spLocks noGrp="1"/>
          </p:cNvSpPr>
          <p:nvPr>
            <p:ph type="subTitle" idx="5"/>
          </p:nvPr>
        </p:nvSpPr>
        <p:spPr>
          <a:xfrm>
            <a:off x="6667410" y="2571750"/>
            <a:ext cx="2126672" cy="43772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b="1" dirty="0"/>
              <a:t>In the EPL:</a:t>
            </a:r>
            <a:endParaRPr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18C114-67AD-193B-A72F-37933924273A}"/>
              </a:ext>
            </a:extLst>
          </p:cNvPr>
          <p:cNvSpPr txBox="1"/>
          <p:nvPr/>
        </p:nvSpPr>
        <p:spPr>
          <a:xfrm>
            <a:off x="786907" y="1730896"/>
            <a:ext cx="79322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Sports scheduling is a subfield of Operations Research</a:t>
            </a:r>
            <a:r>
              <a:rPr lang="en-US" dirty="0">
                <a:solidFill>
                  <a:schemeClr val="tx1"/>
                </a:solidFill>
              </a:rPr>
              <a:t> and </a:t>
            </a:r>
            <a:r>
              <a:rPr lang="en-US" b="1" dirty="0">
                <a:solidFill>
                  <a:schemeClr val="tx1"/>
                </a:solidFill>
              </a:rPr>
              <a:t>Combinatorial Optimization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00338" y="2878695"/>
            <a:ext cx="3108771" cy="1355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Complexity grows exponentially with: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 number of teams 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 number of constraints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B739099-9304-A578-8F21-5FB60177D5E7}"/>
              </a:ext>
            </a:extLst>
          </p:cNvPr>
          <p:cNvCxnSpPr/>
          <p:nvPr/>
        </p:nvCxnSpPr>
        <p:spPr>
          <a:xfrm>
            <a:off x="3337931" y="2439535"/>
            <a:ext cx="0" cy="242615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35CA4A5-B5F2-93A9-6329-6DADFAA83C02}"/>
              </a:ext>
            </a:extLst>
          </p:cNvPr>
          <p:cNvCxnSpPr/>
          <p:nvPr/>
        </p:nvCxnSpPr>
        <p:spPr>
          <a:xfrm>
            <a:off x="6434178" y="2439535"/>
            <a:ext cx="0" cy="242615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7743 0 L -0.22743 0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3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1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022E-16 -0.25 L -1.11022E-16 4.44444E-6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3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750"/>
                            </p:stCondLst>
                            <p:childTnLst>
                              <p:par>
                                <p:cTn id="31" presetID="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5 3.7037E-7 L -2.77778E-6 3.7037E-7 " pathEditMode="relative" rAng="0" ptsTypes="AA">
                                      <p:cBhvr>
                                        <p:cTn id="51" dur="500" fill="hold"/>
                                        <p:tgtEl>
                                          <p:spTgt spid="3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250"/>
                            </p:stCondLst>
                            <p:childTnLst>
                              <p:par>
                                <p:cTn id="58" presetID="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000"/>
                            </p:stCondLst>
                            <p:childTnLst>
                              <p:par>
                                <p:cTn id="63" presetID="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750"/>
                            </p:stCondLst>
                            <p:childTnLst>
                              <p:par>
                                <p:cTn id="68" presetID="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5" grpId="0" build="p"/>
      <p:bldP spid="366" grpId="0" build="p"/>
      <p:bldP spid="367" grpId="0" build="p"/>
      <p:bldP spid="367" grpId="1" build="p"/>
      <p:bldP spid="368" grpId="1" build="p"/>
      <p:bldP spid="368" grpId="2" build="p"/>
      <p:bldP spid="369" grpId="0" build="p"/>
      <p:bldP spid="369" grpId="1" build="p"/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>
          <a:extLst>
            <a:ext uri="{FF2B5EF4-FFF2-40B4-BE49-F238E27FC236}">
              <a16:creationId xmlns:a16="http://schemas.microsoft.com/office/drawing/2014/main" id="{E88A992A-9822-62F1-8DF6-B1541D18C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6">
            <a:extLst>
              <a:ext uri="{FF2B5EF4-FFF2-40B4-BE49-F238E27FC236}">
                <a16:creationId xmlns:a16="http://schemas.microsoft.com/office/drawing/2014/main" id="{E92CD129-9F3B-D87D-C343-048FCE302A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9999" y="445025"/>
            <a:ext cx="808946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Fairness &amp; Travel</a:t>
            </a:r>
          </a:p>
        </p:txBody>
      </p:sp>
      <p:sp>
        <p:nvSpPr>
          <p:cNvPr id="365" name="Google Shape;365;p36">
            <a:extLst>
              <a:ext uri="{FF2B5EF4-FFF2-40B4-BE49-F238E27FC236}">
                <a16:creationId xmlns:a16="http://schemas.microsoft.com/office/drawing/2014/main" id="{97770C85-71D2-EA70-7D83-F92D6E9AD08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651274" y="1665178"/>
            <a:ext cx="4437862" cy="191151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96900" lvl="1" indent="0" algn="l">
              <a:lnSpc>
                <a:spcPct val="150000"/>
              </a:lnSpc>
            </a:pPr>
            <a:r>
              <a:rPr lang="en-US" b="1" dirty="0"/>
              <a:t>Traveling Tournament Problem (TTP) :</a:t>
            </a:r>
          </a:p>
          <a:p>
            <a:pPr marL="8826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Introduced to </a:t>
            </a:r>
            <a:r>
              <a:rPr lang="en-US" b="1" dirty="0"/>
              <a:t>minimize total travel distance</a:t>
            </a:r>
          </a:p>
          <a:p>
            <a:pPr marL="8826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Especially important in geographically spread leagues</a:t>
            </a:r>
          </a:p>
          <a:p>
            <a:pPr marL="8826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Travel fatigue directly affects performance and recovery</a:t>
            </a:r>
            <a:endParaRPr lang="en-US" b="1" dirty="0"/>
          </a:p>
        </p:txBody>
      </p:sp>
      <p:sp>
        <p:nvSpPr>
          <p:cNvPr id="367" name="Google Shape;367;p36">
            <a:extLst>
              <a:ext uri="{FF2B5EF4-FFF2-40B4-BE49-F238E27FC236}">
                <a16:creationId xmlns:a16="http://schemas.microsoft.com/office/drawing/2014/main" id="{A07A2F58-C3C1-CE5E-B3BD-ADA8FCBEF76E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879480" y="1346981"/>
            <a:ext cx="3041678" cy="43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sz="2000" b="1" dirty="0"/>
              <a:t>Patterns &amp; Breaks</a:t>
            </a:r>
            <a:endParaRPr sz="2000" b="1" dirty="0"/>
          </a:p>
        </p:txBody>
      </p:sp>
      <p:sp>
        <p:nvSpPr>
          <p:cNvPr id="368" name="Google Shape;368;p36">
            <a:extLst>
              <a:ext uri="{FF2B5EF4-FFF2-40B4-BE49-F238E27FC236}">
                <a16:creationId xmlns:a16="http://schemas.microsoft.com/office/drawing/2014/main" id="{97AE67B4-8469-39CB-EA7D-54BE632C3299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5423642" y="1346981"/>
            <a:ext cx="3920127" cy="43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sz="2000" b="1" dirty="0"/>
              <a:t>Travel &amp; TTP</a:t>
            </a:r>
            <a:endParaRPr sz="20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E032A7-FD91-F211-8515-DA89936D543E}"/>
              </a:ext>
            </a:extLst>
          </p:cNvPr>
          <p:cNvSpPr txBox="1"/>
          <p:nvPr/>
        </p:nvSpPr>
        <p:spPr>
          <a:xfrm>
            <a:off x="879480" y="1689232"/>
            <a:ext cx="3771794" cy="19994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DM Sans" pitchFamily="2" charset="0"/>
                <a:cs typeface="Diwani Simple Striped" panose="02010400000000000000" pitchFamily="2" charset="-78"/>
              </a:rPr>
              <a:t>Pattern</a:t>
            </a:r>
            <a:r>
              <a:rPr lang="en-US" dirty="0">
                <a:solidFill>
                  <a:schemeClr val="tx1"/>
                </a:solidFill>
                <a:latin typeface="DM Sans" pitchFamily="2" charset="0"/>
                <a:cs typeface="Diwani Simple Striped" panose="02010400000000000000" pitchFamily="2" charset="-78"/>
              </a:rPr>
              <a:t> is a sequence of Home (H) and Away (A) matches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DM Sans" pitchFamily="2" charset="0"/>
                <a:cs typeface="Diwani Simple Striped" panose="02010400000000000000" pitchFamily="2" charset="-78"/>
              </a:rPr>
              <a:t>Break</a:t>
            </a:r>
            <a:r>
              <a:rPr lang="en-US" dirty="0">
                <a:solidFill>
                  <a:schemeClr val="tx1"/>
                </a:solidFill>
                <a:latin typeface="DM Sans" pitchFamily="2" charset="0"/>
                <a:cs typeface="Diwani Simple Striped" panose="02010400000000000000" pitchFamily="2" charset="-78"/>
              </a:rPr>
              <a:t> = H–H or A–A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Away breaks = unfair &amp; exhausting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Perfect alternation (H–A–H–A) for all teams is </a:t>
            </a:r>
            <a:r>
              <a:rPr lang="en-US" b="1" dirty="0">
                <a:solidFill>
                  <a:schemeClr val="tx1"/>
                </a:solidFill>
                <a:latin typeface="DM Sans" pitchFamily="2" charset="0"/>
              </a:rPr>
              <a:t>mathematically impossible</a:t>
            </a: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 </a:t>
            </a:r>
            <a:endParaRPr lang="en-US" dirty="0">
              <a:solidFill>
                <a:schemeClr val="tx1"/>
              </a:solidFill>
              <a:latin typeface="DM Sans" pitchFamily="2" charset="0"/>
              <a:cs typeface="Diwani Simple Striped" panose="02010400000000000000" pitchFamily="2" charset="-78"/>
            </a:endParaRPr>
          </a:p>
        </p:txBody>
      </p:sp>
      <p:grpSp>
        <p:nvGrpSpPr>
          <p:cNvPr id="15" name="Google Shape;8613;p67">
            <a:extLst>
              <a:ext uri="{FF2B5EF4-FFF2-40B4-BE49-F238E27FC236}">
                <a16:creationId xmlns:a16="http://schemas.microsoft.com/office/drawing/2014/main" id="{D57AA411-39C1-7609-EA71-8B5C706AA8A8}"/>
              </a:ext>
            </a:extLst>
          </p:cNvPr>
          <p:cNvGrpSpPr/>
          <p:nvPr/>
        </p:nvGrpSpPr>
        <p:grpSpPr>
          <a:xfrm>
            <a:off x="5131805" y="1346981"/>
            <a:ext cx="291837" cy="327679"/>
            <a:chOff x="2079300" y="4399325"/>
            <a:chExt cx="489850" cy="483100"/>
          </a:xfrm>
          <a:solidFill>
            <a:schemeClr val="tx1"/>
          </a:solidFill>
        </p:grpSpPr>
        <p:sp>
          <p:nvSpPr>
            <p:cNvPr id="16" name="Google Shape;8614;p67">
              <a:extLst>
                <a:ext uri="{FF2B5EF4-FFF2-40B4-BE49-F238E27FC236}">
                  <a16:creationId xmlns:a16="http://schemas.microsoft.com/office/drawing/2014/main" id="{213C9F4A-FE7B-FE10-2BDC-D5CDE5759191}"/>
                </a:ext>
              </a:extLst>
            </p:cNvPr>
            <p:cNvSpPr/>
            <p:nvPr/>
          </p:nvSpPr>
          <p:spPr>
            <a:xfrm>
              <a:off x="2079300" y="4399325"/>
              <a:ext cx="489850" cy="483100"/>
            </a:xfrm>
            <a:custGeom>
              <a:avLst/>
              <a:gdLst/>
              <a:ahLst/>
              <a:cxnLst/>
              <a:rect l="l" t="t" r="r" b="b"/>
              <a:pathLst>
                <a:path w="19594" h="19324" extrusionOk="0">
                  <a:moveTo>
                    <a:pt x="17109" y="1134"/>
                  </a:moveTo>
                  <a:cubicBezTo>
                    <a:pt x="17415" y="1134"/>
                    <a:pt x="17714" y="1254"/>
                    <a:pt x="17939" y="1479"/>
                  </a:cubicBezTo>
                  <a:cubicBezTo>
                    <a:pt x="18268" y="1805"/>
                    <a:pt x="18371" y="2297"/>
                    <a:pt x="18205" y="2732"/>
                  </a:cubicBezTo>
                  <a:cubicBezTo>
                    <a:pt x="18003" y="3260"/>
                    <a:pt x="17770" y="3774"/>
                    <a:pt x="17507" y="4275"/>
                  </a:cubicBezTo>
                  <a:cubicBezTo>
                    <a:pt x="16288" y="4088"/>
                    <a:pt x="15330" y="3130"/>
                    <a:pt x="15143" y="1911"/>
                  </a:cubicBezTo>
                  <a:cubicBezTo>
                    <a:pt x="15644" y="1648"/>
                    <a:pt x="16158" y="1415"/>
                    <a:pt x="16686" y="1210"/>
                  </a:cubicBezTo>
                  <a:lnTo>
                    <a:pt x="16686" y="1213"/>
                  </a:lnTo>
                  <a:cubicBezTo>
                    <a:pt x="16824" y="1160"/>
                    <a:pt x="16967" y="1134"/>
                    <a:pt x="17109" y="1134"/>
                  </a:cubicBezTo>
                  <a:close/>
                  <a:moveTo>
                    <a:pt x="2905" y="2901"/>
                  </a:moveTo>
                  <a:lnTo>
                    <a:pt x="10016" y="4541"/>
                  </a:lnTo>
                  <a:cubicBezTo>
                    <a:pt x="9744" y="4855"/>
                    <a:pt x="9485" y="5178"/>
                    <a:pt x="9234" y="5513"/>
                  </a:cubicBezTo>
                  <a:lnTo>
                    <a:pt x="9234" y="5516"/>
                  </a:lnTo>
                  <a:lnTo>
                    <a:pt x="7812" y="7463"/>
                  </a:lnTo>
                  <a:lnTo>
                    <a:pt x="2027" y="3780"/>
                  </a:lnTo>
                  <a:lnTo>
                    <a:pt x="2905" y="2901"/>
                  </a:lnTo>
                  <a:close/>
                  <a:moveTo>
                    <a:pt x="2465" y="11352"/>
                  </a:moveTo>
                  <a:lnTo>
                    <a:pt x="4738" y="11676"/>
                  </a:lnTo>
                  <a:lnTo>
                    <a:pt x="3488" y="13388"/>
                  </a:lnTo>
                  <a:lnTo>
                    <a:pt x="1574" y="12240"/>
                  </a:lnTo>
                  <a:lnTo>
                    <a:pt x="2465" y="11352"/>
                  </a:lnTo>
                  <a:close/>
                  <a:moveTo>
                    <a:pt x="14111" y="2502"/>
                  </a:moveTo>
                  <a:cubicBezTo>
                    <a:pt x="14479" y="3870"/>
                    <a:pt x="15545" y="4939"/>
                    <a:pt x="16913" y="5308"/>
                  </a:cubicBezTo>
                  <a:cubicBezTo>
                    <a:pt x="16318" y="6250"/>
                    <a:pt x="15617" y="7122"/>
                    <a:pt x="14823" y="7907"/>
                  </a:cubicBezTo>
                  <a:cubicBezTo>
                    <a:pt x="14811" y="7916"/>
                    <a:pt x="14802" y="7928"/>
                    <a:pt x="14793" y="7937"/>
                  </a:cubicBezTo>
                  <a:cubicBezTo>
                    <a:pt x="14304" y="8418"/>
                    <a:pt x="13784" y="8861"/>
                    <a:pt x="13235" y="9269"/>
                  </a:cubicBezTo>
                  <a:lnTo>
                    <a:pt x="5140" y="15184"/>
                  </a:lnTo>
                  <a:cubicBezTo>
                    <a:pt x="5128" y="15196"/>
                    <a:pt x="5113" y="15208"/>
                    <a:pt x="5101" y="15217"/>
                  </a:cubicBezTo>
                  <a:cubicBezTo>
                    <a:pt x="5082" y="15235"/>
                    <a:pt x="5061" y="15248"/>
                    <a:pt x="5040" y="15260"/>
                  </a:cubicBezTo>
                  <a:cubicBezTo>
                    <a:pt x="5031" y="15263"/>
                    <a:pt x="5022" y="15269"/>
                    <a:pt x="5016" y="15272"/>
                  </a:cubicBezTo>
                  <a:cubicBezTo>
                    <a:pt x="4925" y="15314"/>
                    <a:pt x="4801" y="15339"/>
                    <a:pt x="4674" y="15339"/>
                  </a:cubicBezTo>
                  <a:cubicBezTo>
                    <a:pt x="4506" y="15339"/>
                    <a:pt x="4333" y="15295"/>
                    <a:pt x="4228" y="15190"/>
                  </a:cubicBezTo>
                  <a:cubicBezTo>
                    <a:pt x="3998" y="14961"/>
                    <a:pt x="4004" y="14544"/>
                    <a:pt x="4237" y="14278"/>
                  </a:cubicBezTo>
                  <a:cubicBezTo>
                    <a:pt x="4249" y="14266"/>
                    <a:pt x="4261" y="14251"/>
                    <a:pt x="4270" y="14239"/>
                  </a:cubicBezTo>
                  <a:lnTo>
                    <a:pt x="10149" y="6186"/>
                  </a:lnTo>
                  <a:cubicBezTo>
                    <a:pt x="11230" y="4722"/>
                    <a:pt x="12574" y="3475"/>
                    <a:pt x="14111" y="2502"/>
                  </a:cubicBezTo>
                  <a:close/>
                  <a:moveTo>
                    <a:pt x="14877" y="9402"/>
                  </a:moveTo>
                  <a:lnTo>
                    <a:pt x="16517" y="16513"/>
                  </a:lnTo>
                  <a:lnTo>
                    <a:pt x="15635" y="17391"/>
                  </a:lnTo>
                  <a:lnTo>
                    <a:pt x="11955" y="11606"/>
                  </a:lnTo>
                  <a:lnTo>
                    <a:pt x="13905" y="10181"/>
                  </a:lnTo>
                  <a:cubicBezTo>
                    <a:pt x="14240" y="9933"/>
                    <a:pt x="14563" y="9674"/>
                    <a:pt x="14877" y="9402"/>
                  </a:cubicBezTo>
                  <a:close/>
                  <a:moveTo>
                    <a:pt x="7743" y="14686"/>
                  </a:moveTo>
                  <a:lnTo>
                    <a:pt x="8069" y="16957"/>
                  </a:lnTo>
                  <a:lnTo>
                    <a:pt x="7181" y="17844"/>
                  </a:lnTo>
                  <a:lnTo>
                    <a:pt x="6034" y="15936"/>
                  </a:lnTo>
                  <a:lnTo>
                    <a:pt x="7743" y="14686"/>
                  </a:lnTo>
                  <a:close/>
                  <a:moveTo>
                    <a:pt x="17108" y="0"/>
                  </a:moveTo>
                  <a:cubicBezTo>
                    <a:pt x="16830" y="0"/>
                    <a:pt x="16550" y="50"/>
                    <a:pt x="16282" y="153"/>
                  </a:cubicBezTo>
                  <a:cubicBezTo>
                    <a:pt x="14280" y="923"/>
                    <a:pt x="12456" y="2092"/>
                    <a:pt x="10919" y="3586"/>
                  </a:cubicBezTo>
                  <a:lnTo>
                    <a:pt x="7758" y="2856"/>
                  </a:lnTo>
                  <a:lnTo>
                    <a:pt x="7978" y="2635"/>
                  </a:lnTo>
                  <a:cubicBezTo>
                    <a:pt x="8198" y="2415"/>
                    <a:pt x="8198" y="2056"/>
                    <a:pt x="7978" y="1835"/>
                  </a:cubicBezTo>
                  <a:cubicBezTo>
                    <a:pt x="7868" y="1724"/>
                    <a:pt x="7724" y="1669"/>
                    <a:pt x="7579" y="1669"/>
                  </a:cubicBezTo>
                  <a:cubicBezTo>
                    <a:pt x="7434" y="1669"/>
                    <a:pt x="7288" y="1725"/>
                    <a:pt x="7178" y="1835"/>
                  </a:cubicBezTo>
                  <a:lnTo>
                    <a:pt x="6456" y="2557"/>
                  </a:lnTo>
                  <a:lnTo>
                    <a:pt x="3850" y="1956"/>
                  </a:lnTo>
                  <a:lnTo>
                    <a:pt x="4074" y="1736"/>
                  </a:lnTo>
                  <a:cubicBezTo>
                    <a:pt x="4300" y="1515"/>
                    <a:pt x="4303" y="1150"/>
                    <a:pt x="4080" y="926"/>
                  </a:cubicBezTo>
                  <a:cubicBezTo>
                    <a:pt x="3969" y="816"/>
                    <a:pt x="3824" y="761"/>
                    <a:pt x="3679" y="761"/>
                  </a:cubicBezTo>
                  <a:cubicBezTo>
                    <a:pt x="3531" y="761"/>
                    <a:pt x="3384" y="818"/>
                    <a:pt x="3274" y="932"/>
                  </a:cubicBezTo>
                  <a:lnTo>
                    <a:pt x="1945" y="2261"/>
                  </a:lnTo>
                  <a:lnTo>
                    <a:pt x="725" y="3478"/>
                  </a:lnTo>
                  <a:cubicBezTo>
                    <a:pt x="469" y="3734"/>
                    <a:pt x="517" y="4163"/>
                    <a:pt x="822" y="4356"/>
                  </a:cubicBezTo>
                  <a:lnTo>
                    <a:pt x="7145" y="8378"/>
                  </a:lnTo>
                  <a:lnTo>
                    <a:pt x="5496" y="10640"/>
                  </a:lnTo>
                  <a:lnTo>
                    <a:pt x="2344" y="10190"/>
                  </a:lnTo>
                  <a:cubicBezTo>
                    <a:pt x="2317" y="10186"/>
                    <a:pt x="2290" y="10185"/>
                    <a:pt x="2264" y="10185"/>
                  </a:cubicBezTo>
                  <a:cubicBezTo>
                    <a:pt x="2113" y="10185"/>
                    <a:pt x="1969" y="10242"/>
                    <a:pt x="1864" y="10350"/>
                  </a:cubicBezTo>
                  <a:lnTo>
                    <a:pt x="260" y="11950"/>
                  </a:lnTo>
                  <a:cubicBezTo>
                    <a:pt x="1" y="12213"/>
                    <a:pt x="55" y="12648"/>
                    <a:pt x="369" y="12838"/>
                  </a:cubicBezTo>
                  <a:lnTo>
                    <a:pt x="2966" y="14393"/>
                  </a:lnTo>
                  <a:cubicBezTo>
                    <a:pt x="2851" y="14964"/>
                    <a:pt x="3008" y="15574"/>
                    <a:pt x="3428" y="15990"/>
                  </a:cubicBezTo>
                  <a:cubicBezTo>
                    <a:pt x="3757" y="16322"/>
                    <a:pt x="4219" y="16467"/>
                    <a:pt x="4669" y="16467"/>
                  </a:cubicBezTo>
                  <a:cubicBezTo>
                    <a:pt x="4786" y="16467"/>
                    <a:pt x="4901" y="16458"/>
                    <a:pt x="5016" y="16440"/>
                  </a:cubicBezTo>
                  <a:lnTo>
                    <a:pt x="6580" y="19049"/>
                  </a:lnTo>
                  <a:cubicBezTo>
                    <a:pt x="6671" y="19197"/>
                    <a:pt x="6825" y="19297"/>
                    <a:pt x="6997" y="19318"/>
                  </a:cubicBezTo>
                  <a:cubicBezTo>
                    <a:pt x="7021" y="19321"/>
                    <a:pt x="7042" y="19324"/>
                    <a:pt x="7066" y="19324"/>
                  </a:cubicBezTo>
                  <a:cubicBezTo>
                    <a:pt x="7217" y="19324"/>
                    <a:pt x="7359" y="19263"/>
                    <a:pt x="7465" y="19158"/>
                  </a:cubicBezTo>
                  <a:lnTo>
                    <a:pt x="9068" y="17554"/>
                  </a:lnTo>
                  <a:cubicBezTo>
                    <a:pt x="9192" y="17431"/>
                    <a:pt x="9252" y="17252"/>
                    <a:pt x="9228" y="17074"/>
                  </a:cubicBezTo>
                  <a:lnTo>
                    <a:pt x="8778" y="13931"/>
                  </a:lnTo>
                  <a:lnTo>
                    <a:pt x="11040" y="12276"/>
                  </a:lnTo>
                  <a:lnTo>
                    <a:pt x="15062" y="18596"/>
                  </a:lnTo>
                  <a:cubicBezTo>
                    <a:pt x="15152" y="18741"/>
                    <a:pt x="15306" y="18835"/>
                    <a:pt x="15475" y="18853"/>
                  </a:cubicBezTo>
                  <a:cubicBezTo>
                    <a:pt x="15496" y="18856"/>
                    <a:pt x="15518" y="18859"/>
                    <a:pt x="15539" y="18859"/>
                  </a:cubicBezTo>
                  <a:cubicBezTo>
                    <a:pt x="15687" y="18859"/>
                    <a:pt x="15832" y="18798"/>
                    <a:pt x="15937" y="18693"/>
                  </a:cubicBezTo>
                  <a:lnTo>
                    <a:pt x="16740" y="17890"/>
                  </a:lnTo>
                  <a:lnTo>
                    <a:pt x="18483" y="16144"/>
                  </a:lnTo>
                  <a:cubicBezTo>
                    <a:pt x="18712" y="15924"/>
                    <a:pt x="18715" y="15562"/>
                    <a:pt x="18492" y="15338"/>
                  </a:cubicBezTo>
                  <a:cubicBezTo>
                    <a:pt x="18381" y="15228"/>
                    <a:pt x="18236" y="15172"/>
                    <a:pt x="18090" y="15172"/>
                  </a:cubicBezTo>
                  <a:cubicBezTo>
                    <a:pt x="17942" y="15172"/>
                    <a:pt x="17794" y="15230"/>
                    <a:pt x="17683" y="15344"/>
                  </a:cubicBezTo>
                  <a:lnTo>
                    <a:pt x="17462" y="15568"/>
                  </a:lnTo>
                  <a:lnTo>
                    <a:pt x="16861" y="12965"/>
                  </a:lnTo>
                  <a:lnTo>
                    <a:pt x="17583" y="12243"/>
                  </a:lnTo>
                  <a:cubicBezTo>
                    <a:pt x="17803" y="12020"/>
                    <a:pt x="17803" y="11660"/>
                    <a:pt x="17583" y="11440"/>
                  </a:cubicBezTo>
                  <a:cubicBezTo>
                    <a:pt x="17473" y="11330"/>
                    <a:pt x="17328" y="11275"/>
                    <a:pt x="17183" y="11275"/>
                  </a:cubicBezTo>
                  <a:cubicBezTo>
                    <a:pt x="17038" y="11275"/>
                    <a:pt x="16893" y="11330"/>
                    <a:pt x="16783" y="11440"/>
                  </a:cubicBezTo>
                  <a:lnTo>
                    <a:pt x="16559" y="11663"/>
                  </a:lnTo>
                  <a:lnTo>
                    <a:pt x="15835" y="8499"/>
                  </a:lnTo>
                  <a:cubicBezTo>
                    <a:pt x="17329" y="6962"/>
                    <a:pt x="18498" y="5138"/>
                    <a:pt x="19265" y="3137"/>
                  </a:cubicBezTo>
                  <a:cubicBezTo>
                    <a:pt x="19594" y="2285"/>
                    <a:pt x="19389" y="1322"/>
                    <a:pt x="18742" y="676"/>
                  </a:cubicBezTo>
                  <a:cubicBezTo>
                    <a:pt x="18302" y="236"/>
                    <a:pt x="17711" y="0"/>
                    <a:pt x="171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7" name="Google Shape;8615;p67">
              <a:extLst>
                <a:ext uri="{FF2B5EF4-FFF2-40B4-BE49-F238E27FC236}">
                  <a16:creationId xmlns:a16="http://schemas.microsoft.com/office/drawing/2014/main" id="{97E7CD92-237F-7FB0-6A09-82EC39B4A250}"/>
                </a:ext>
              </a:extLst>
            </p:cNvPr>
            <p:cNvSpPr/>
            <p:nvPr/>
          </p:nvSpPr>
          <p:spPr>
            <a:xfrm>
              <a:off x="2348725" y="4522375"/>
              <a:ext cx="94375" cy="88150"/>
            </a:xfrm>
            <a:custGeom>
              <a:avLst/>
              <a:gdLst/>
              <a:ahLst/>
              <a:cxnLst/>
              <a:rect l="l" t="t" r="r" b="b"/>
              <a:pathLst>
                <a:path w="3775" h="3526" extrusionOk="0">
                  <a:moveTo>
                    <a:pt x="3155" y="0"/>
                  </a:moveTo>
                  <a:cubicBezTo>
                    <a:pt x="3013" y="0"/>
                    <a:pt x="2870" y="53"/>
                    <a:pt x="2760" y="159"/>
                  </a:cubicBezTo>
                  <a:lnTo>
                    <a:pt x="359" y="2560"/>
                  </a:lnTo>
                  <a:cubicBezTo>
                    <a:pt x="0" y="2916"/>
                    <a:pt x="254" y="3526"/>
                    <a:pt x="758" y="3526"/>
                  </a:cubicBezTo>
                  <a:cubicBezTo>
                    <a:pt x="909" y="3526"/>
                    <a:pt x="1054" y="3468"/>
                    <a:pt x="1160" y="3360"/>
                  </a:cubicBezTo>
                  <a:lnTo>
                    <a:pt x="3560" y="959"/>
                  </a:lnTo>
                  <a:cubicBezTo>
                    <a:pt x="3774" y="736"/>
                    <a:pt x="3771" y="383"/>
                    <a:pt x="3554" y="165"/>
                  </a:cubicBezTo>
                  <a:cubicBezTo>
                    <a:pt x="3444" y="55"/>
                    <a:pt x="3300" y="0"/>
                    <a:pt x="31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8" name="Google Shape;8385;p67">
            <a:extLst>
              <a:ext uri="{FF2B5EF4-FFF2-40B4-BE49-F238E27FC236}">
                <a16:creationId xmlns:a16="http://schemas.microsoft.com/office/drawing/2014/main" id="{8CA7A05D-8C4E-9E9D-1CB9-F52C71C5C242}"/>
              </a:ext>
            </a:extLst>
          </p:cNvPr>
          <p:cNvGrpSpPr/>
          <p:nvPr/>
        </p:nvGrpSpPr>
        <p:grpSpPr>
          <a:xfrm>
            <a:off x="557335" y="1349064"/>
            <a:ext cx="322146" cy="316114"/>
            <a:chOff x="3857225" y="238125"/>
            <a:chExt cx="500575" cy="483125"/>
          </a:xfrm>
          <a:solidFill>
            <a:schemeClr val="tx1"/>
          </a:solidFill>
        </p:grpSpPr>
        <p:sp>
          <p:nvSpPr>
            <p:cNvPr id="19" name="Google Shape;8386;p67">
              <a:extLst>
                <a:ext uri="{FF2B5EF4-FFF2-40B4-BE49-F238E27FC236}">
                  <a16:creationId xmlns:a16="http://schemas.microsoft.com/office/drawing/2014/main" id="{1934B1AC-7282-3930-D28D-FB23F0A48B38}"/>
                </a:ext>
              </a:extLst>
            </p:cNvPr>
            <p:cNvSpPr/>
            <p:nvPr/>
          </p:nvSpPr>
          <p:spPr>
            <a:xfrm>
              <a:off x="3857225" y="238125"/>
              <a:ext cx="500575" cy="483125"/>
            </a:xfrm>
            <a:custGeom>
              <a:avLst/>
              <a:gdLst/>
              <a:ahLst/>
              <a:cxnLst/>
              <a:rect l="l" t="t" r="r" b="b"/>
              <a:pathLst>
                <a:path w="20023" h="19325" extrusionOk="0">
                  <a:moveTo>
                    <a:pt x="15671" y="3398"/>
                  </a:moveTo>
                  <a:cubicBezTo>
                    <a:pt x="15707" y="3398"/>
                    <a:pt x="15744" y="3402"/>
                    <a:pt x="15780" y="3409"/>
                  </a:cubicBezTo>
                  <a:lnTo>
                    <a:pt x="15801" y="3415"/>
                  </a:lnTo>
                  <a:cubicBezTo>
                    <a:pt x="15814" y="3415"/>
                    <a:pt x="15823" y="3418"/>
                    <a:pt x="15835" y="3421"/>
                  </a:cubicBezTo>
                  <a:cubicBezTo>
                    <a:pt x="15844" y="3424"/>
                    <a:pt x="15856" y="3430"/>
                    <a:pt x="15868" y="3433"/>
                  </a:cubicBezTo>
                  <a:lnTo>
                    <a:pt x="15886" y="3439"/>
                  </a:lnTo>
                  <a:cubicBezTo>
                    <a:pt x="15892" y="3442"/>
                    <a:pt x="15898" y="3445"/>
                    <a:pt x="15904" y="3448"/>
                  </a:cubicBezTo>
                  <a:cubicBezTo>
                    <a:pt x="15922" y="3457"/>
                    <a:pt x="15943" y="3466"/>
                    <a:pt x="15964" y="3478"/>
                  </a:cubicBezTo>
                  <a:cubicBezTo>
                    <a:pt x="15986" y="3494"/>
                    <a:pt x="16010" y="3509"/>
                    <a:pt x="16031" y="3524"/>
                  </a:cubicBezTo>
                  <a:cubicBezTo>
                    <a:pt x="16046" y="3536"/>
                    <a:pt x="16058" y="3551"/>
                    <a:pt x="16073" y="3563"/>
                  </a:cubicBezTo>
                  <a:cubicBezTo>
                    <a:pt x="16085" y="3575"/>
                    <a:pt x="16100" y="3590"/>
                    <a:pt x="16112" y="3605"/>
                  </a:cubicBezTo>
                  <a:cubicBezTo>
                    <a:pt x="16294" y="3829"/>
                    <a:pt x="16279" y="4158"/>
                    <a:pt x="16073" y="4363"/>
                  </a:cubicBezTo>
                  <a:lnTo>
                    <a:pt x="13054" y="7383"/>
                  </a:lnTo>
                  <a:cubicBezTo>
                    <a:pt x="12939" y="7232"/>
                    <a:pt x="12815" y="7090"/>
                    <a:pt x="12682" y="6954"/>
                  </a:cubicBezTo>
                  <a:cubicBezTo>
                    <a:pt x="12546" y="6821"/>
                    <a:pt x="12405" y="6697"/>
                    <a:pt x="12254" y="6582"/>
                  </a:cubicBezTo>
                  <a:lnTo>
                    <a:pt x="15273" y="3563"/>
                  </a:lnTo>
                  <a:cubicBezTo>
                    <a:pt x="15380" y="3456"/>
                    <a:pt x="15523" y="3398"/>
                    <a:pt x="15671" y="3398"/>
                  </a:cubicBezTo>
                  <a:close/>
                  <a:moveTo>
                    <a:pt x="9887" y="9183"/>
                  </a:moveTo>
                  <a:cubicBezTo>
                    <a:pt x="10031" y="9183"/>
                    <a:pt x="10176" y="9238"/>
                    <a:pt x="10288" y="9348"/>
                  </a:cubicBezTo>
                  <a:cubicBezTo>
                    <a:pt x="10511" y="9575"/>
                    <a:pt x="10508" y="9937"/>
                    <a:pt x="10279" y="10157"/>
                  </a:cubicBezTo>
                  <a:cubicBezTo>
                    <a:pt x="10169" y="10268"/>
                    <a:pt x="10024" y="10323"/>
                    <a:pt x="9879" y="10323"/>
                  </a:cubicBezTo>
                  <a:cubicBezTo>
                    <a:pt x="9734" y="10323"/>
                    <a:pt x="9589" y="10268"/>
                    <a:pt x="9479" y="10157"/>
                  </a:cubicBezTo>
                  <a:cubicBezTo>
                    <a:pt x="9258" y="9937"/>
                    <a:pt x="9258" y="9578"/>
                    <a:pt x="9479" y="9357"/>
                  </a:cubicBezTo>
                  <a:cubicBezTo>
                    <a:pt x="9590" y="9241"/>
                    <a:pt x="9739" y="9183"/>
                    <a:pt x="9887" y="9183"/>
                  </a:cubicBezTo>
                  <a:close/>
                  <a:moveTo>
                    <a:pt x="15746" y="1062"/>
                  </a:moveTo>
                  <a:cubicBezTo>
                    <a:pt x="16469" y="1062"/>
                    <a:pt x="17193" y="1337"/>
                    <a:pt x="17746" y="1890"/>
                  </a:cubicBezTo>
                  <a:cubicBezTo>
                    <a:pt x="18878" y="3022"/>
                    <a:pt x="18845" y="4870"/>
                    <a:pt x="17673" y="5963"/>
                  </a:cubicBezTo>
                  <a:lnTo>
                    <a:pt x="11879" y="11758"/>
                  </a:lnTo>
                  <a:cubicBezTo>
                    <a:pt x="11337" y="12300"/>
                    <a:pt x="10612" y="12586"/>
                    <a:pt x="9878" y="12586"/>
                  </a:cubicBezTo>
                  <a:cubicBezTo>
                    <a:pt x="9472" y="12586"/>
                    <a:pt x="9062" y="12499"/>
                    <a:pt x="8679" y="12319"/>
                  </a:cubicBezTo>
                  <a:lnTo>
                    <a:pt x="8663" y="12313"/>
                  </a:lnTo>
                  <a:cubicBezTo>
                    <a:pt x="8198" y="12093"/>
                    <a:pt x="7803" y="11746"/>
                    <a:pt x="7516" y="11317"/>
                  </a:cubicBezTo>
                  <a:lnTo>
                    <a:pt x="8346" y="10487"/>
                  </a:lnTo>
                  <a:cubicBezTo>
                    <a:pt x="8645" y="11113"/>
                    <a:pt x="9259" y="11453"/>
                    <a:pt x="9883" y="11453"/>
                  </a:cubicBezTo>
                  <a:cubicBezTo>
                    <a:pt x="10311" y="11453"/>
                    <a:pt x="10744" y="11293"/>
                    <a:pt x="11082" y="10955"/>
                  </a:cubicBezTo>
                  <a:lnTo>
                    <a:pt x="16873" y="5160"/>
                  </a:lnTo>
                  <a:cubicBezTo>
                    <a:pt x="17541" y="4514"/>
                    <a:pt x="17562" y="3448"/>
                    <a:pt x="16922" y="2775"/>
                  </a:cubicBezTo>
                  <a:cubicBezTo>
                    <a:pt x="16588" y="2423"/>
                    <a:pt x="16140" y="2245"/>
                    <a:pt x="15690" y="2245"/>
                  </a:cubicBezTo>
                  <a:cubicBezTo>
                    <a:pt x="15275" y="2245"/>
                    <a:pt x="14860" y="2395"/>
                    <a:pt x="14533" y="2699"/>
                  </a:cubicBezTo>
                  <a:cubicBezTo>
                    <a:pt x="14512" y="2718"/>
                    <a:pt x="14491" y="2739"/>
                    <a:pt x="14470" y="2760"/>
                  </a:cubicBezTo>
                  <a:lnTo>
                    <a:pt x="11212" y="6021"/>
                  </a:lnTo>
                  <a:cubicBezTo>
                    <a:pt x="10783" y="5867"/>
                    <a:pt x="10333" y="5791"/>
                    <a:pt x="9877" y="5791"/>
                  </a:cubicBezTo>
                  <a:lnTo>
                    <a:pt x="9838" y="5791"/>
                  </a:lnTo>
                  <a:lnTo>
                    <a:pt x="13673" y="1963"/>
                  </a:lnTo>
                  <a:cubicBezTo>
                    <a:pt x="14232" y="1363"/>
                    <a:pt x="14988" y="1062"/>
                    <a:pt x="15746" y="1062"/>
                  </a:cubicBezTo>
                  <a:close/>
                  <a:moveTo>
                    <a:pt x="6707" y="12129"/>
                  </a:moveTo>
                  <a:cubicBezTo>
                    <a:pt x="6819" y="12283"/>
                    <a:pt x="6942" y="12425"/>
                    <a:pt x="7078" y="12558"/>
                  </a:cubicBezTo>
                  <a:cubicBezTo>
                    <a:pt x="7211" y="12694"/>
                    <a:pt x="7353" y="12818"/>
                    <a:pt x="7507" y="12932"/>
                  </a:cubicBezTo>
                  <a:lnTo>
                    <a:pt x="4675" y="15762"/>
                  </a:lnTo>
                  <a:cubicBezTo>
                    <a:pt x="4565" y="15872"/>
                    <a:pt x="4420" y="15927"/>
                    <a:pt x="4275" y="15927"/>
                  </a:cubicBezTo>
                  <a:cubicBezTo>
                    <a:pt x="4130" y="15927"/>
                    <a:pt x="3985" y="15872"/>
                    <a:pt x="3875" y="15762"/>
                  </a:cubicBezTo>
                  <a:cubicBezTo>
                    <a:pt x="3654" y="15541"/>
                    <a:pt x="3654" y="15182"/>
                    <a:pt x="3875" y="14961"/>
                  </a:cubicBezTo>
                  <a:lnTo>
                    <a:pt x="6707" y="12129"/>
                  </a:lnTo>
                  <a:close/>
                  <a:moveTo>
                    <a:pt x="9884" y="6926"/>
                  </a:moveTo>
                  <a:cubicBezTo>
                    <a:pt x="10290" y="6926"/>
                    <a:pt x="10698" y="7013"/>
                    <a:pt x="11082" y="7192"/>
                  </a:cubicBezTo>
                  <a:lnTo>
                    <a:pt x="11094" y="7198"/>
                  </a:lnTo>
                  <a:cubicBezTo>
                    <a:pt x="11562" y="7422"/>
                    <a:pt x="11958" y="7766"/>
                    <a:pt x="12242" y="8198"/>
                  </a:cubicBezTo>
                  <a:lnTo>
                    <a:pt x="11411" y="9028"/>
                  </a:lnTo>
                  <a:cubicBezTo>
                    <a:pt x="11112" y="8400"/>
                    <a:pt x="10499" y="8061"/>
                    <a:pt x="9877" y="8061"/>
                  </a:cubicBezTo>
                  <a:cubicBezTo>
                    <a:pt x="9448" y="8061"/>
                    <a:pt x="9016" y="8222"/>
                    <a:pt x="8679" y="8560"/>
                  </a:cubicBezTo>
                  <a:lnTo>
                    <a:pt x="3074" y="14161"/>
                  </a:lnTo>
                  <a:cubicBezTo>
                    <a:pt x="2410" y="14822"/>
                    <a:pt x="2410" y="15900"/>
                    <a:pt x="3074" y="16562"/>
                  </a:cubicBezTo>
                  <a:cubicBezTo>
                    <a:pt x="3405" y="16894"/>
                    <a:pt x="3840" y="17060"/>
                    <a:pt x="4275" y="17060"/>
                  </a:cubicBezTo>
                  <a:cubicBezTo>
                    <a:pt x="4710" y="17060"/>
                    <a:pt x="5144" y="16894"/>
                    <a:pt x="5475" y="16562"/>
                  </a:cubicBezTo>
                  <a:lnTo>
                    <a:pt x="8546" y="13491"/>
                  </a:lnTo>
                  <a:cubicBezTo>
                    <a:pt x="8974" y="13642"/>
                    <a:pt x="9424" y="13720"/>
                    <a:pt x="9880" y="13720"/>
                  </a:cubicBezTo>
                  <a:lnTo>
                    <a:pt x="9920" y="13720"/>
                  </a:lnTo>
                  <a:lnTo>
                    <a:pt x="6275" y="17362"/>
                  </a:lnTo>
                  <a:cubicBezTo>
                    <a:pt x="5716" y="17961"/>
                    <a:pt x="4960" y="18262"/>
                    <a:pt x="4202" y="18262"/>
                  </a:cubicBezTo>
                  <a:cubicBezTo>
                    <a:pt x="3479" y="18262"/>
                    <a:pt x="2755" y="17987"/>
                    <a:pt x="2202" y="17434"/>
                  </a:cubicBezTo>
                  <a:cubicBezTo>
                    <a:pt x="1070" y="16302"/>
                    <a:pt x="1103" y="14454"/>
                    <a:pt x="2274" y="13361"/>
                  </a:cubicBezTo>
                  <a:lnTo>
                    <a:pt x="7878" y="7757"/>
                  </a:lnTo>
                  <a:cubicBezTo>
                    <a:pt x="8422" y="7214"/>
                    <a:pt x="9147" y="6926"/>
                    <a:pt x="9884" y="6926"/>
                  </a:cubicBezTo>
                  <a:close/>
                  <a:moveTo>
                    <a:pt x="15673" y="1"/>
                  </a:moveTo>
                  <a:cubicBezTo>
                    <a:pt x="14659" y="1"/>
                    <a:pt x="13644" y="388"/>
                    <a:pt x="12870" y="1162"/>
                  </a:cubicBezTo>
                  <a:lnTo>
                    <a:pt x="7078" y="6957"/>
                  </a:lnTo>
                  <a:lnTo>
                    <a:pt x="1471" y="12561"/>
                  </a:lnTo>
                  <a:cubicBezTo>
                    <a:pt x="339" y="13693"/>
                    <a:pt x="1" y="15399"/>
                    <a:pt x="614" y="16879"/>
                  </a:cubicBezTo>
                  <a:cubicBezTo>
                    <a:pt x="1230" y="18358"/>
                    <a:pt x="2673" y="19324"/>
                    <a:pt x="4276" y="19324"/>
                  </a:cubicBezTo>
                  <a:cubicBezTo>
                    <a:pt x="4280" y="19325"/>
                    <a:pt x="4284" y="19325"/>
                    <a:pt x="4288" y="19325"/>
                  </a:cubicBezTo>
                  <a:cubicBezTo>
                    <a:pt x="5334" y="19325"/>
                    <a:pt x="6338" y="18908"/>
                    <a:pt x="7078" y="18165"/>
                  </a:cubicBezTo>
                  <a:lnTo>
                    <a:pt x="12682" y="12561"/>
                  </a:lnTo>
                  <a:lnTo>
                    <a:pt x="18477" y="6767"/>
                  </a:lnTo>
                  <a:cubicBezTo>
                    <a:pt x="20023" y="5221"/>
                    <a:pt x="20023" y="2711"/>
                    <a:pt x="18477" y="1162"/>
                  </a:cubicBezTo>
                  <a:cubicBezTo>
                    <a:pt x="17702" y="388"/>
                    <a:pt x="16688" y="1"/>
                    <a:pt x="156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" name="Google Shape;8387;p67">
              <a:extLst>
                <a:ext uri="{FF2B5EF4-FFF2-40B4-BE49-F238E27FC236}">
                  <a16:creationId xmlns:a16="http://schemas.microsoft.com/office/drawing/2014/main" id="{AD4A878D-8603-F795-021B-784F85154075}"/>
                </a:ext>
              </a:extLst>
            </p:cNvPr>
            <p:cNvSpPr/>
            <p:nvPr/>
          </p:nvSpPr>
          <p:spPr>
            <a:xfrm>
              <a:off x="4208775" y="588000"/>
              <a:ext cx="71125" cy="68350"/>
            </a:xfrm>
            <a:custGeom>
              <a:avLst/>
              <a:gdLst/>
              <a:ahLst/>
              <a:cxnLst/>
              <a:rect l="l" t="t" r="r" b="b"/>
              <a:pathLst>
                <a:path w="2845" h="2734" extrusionOk="0">
                  <a:moveTo>
                    <a:pt x="621" y="1"/>
                  </a:moveTo>
                  <a:cubicBezTo>
                    <a:pt x="476" y="1"/>
                    <a:pt x="331" y="56"/>
                    <a:pt x="221" y="166"/>
                  </a:cubicBezTo>
                  <a:cubicBezTo>
                    <a:pt x="0" y="387"/>
                    <a:pt x="0" y="746"/>
                    <a:pt x="221" y="966"/>
                  </a:cubicBezTo>
                  <a:lnTo>
                    <a:pt x="1821" y="2567"/>
                  </a:lnTo>
                  <a:cubicBezTo>
                    <a:pt x="1933" y="2677"/>
                    <a:pt x="2079" y="2733"/>
                    <a:pt x="2224" y="2733"/>
                  </a:cubicBezTo>
                  <a:cubicBezTo>
                    <a:pt x="2368" y="2733"/>
                    <a:pt x="2513" y="2678"/>
                    <a:pt x="2624" y="2567"/>
                  </a:cubicBezTo>
                  <a:cubicBezTo>
                    <a:pt x="2845" y="2346"/>
                    <a:pt x="2845" y="1987"/>
                    <a:pt x="2624" y="1767"/>
                  </a:cubicBezTo>
                  <a:lnTo>
                    <a:pt x="1021" y="166"/>
                  </a:lnTo>
                  <a:cubicBezTo>
                    <a:pt x="911" y="56"/>
                    <a:pt x="766" y="1"/>
                    <a:pt x="6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1" name="Google Shape;8388;p67">
              <a:extLst>
                <a:ext uri="{FF2B5EF4-FFF2-40B4-BE49-F238E27FC236}">
                  <a16:creationId xmlns:a16="http://schemas.microsoft.com/office/drawing/2014/main" id="{194A7191-2B19-C5A4-9F49-C44988118326}"/>
                </a:ext>
              </a:extLst>
            </p:cNvPr>
            <p:cNvSpPr/>
            <p:nvPr/>
          </p:nvSpPr>
          <p:spPr>
            <a:xfrm>
              <a:off x="4228400" y="527925"/>
              <a:ext cx="91050" cy="48400"/>
            </a:xfrm>
            <a:custGeom>
              <a:avLst/>
              <a:gdLst/>
              <a:ahLst/>
              <a:cxnLst/>
              <a:rect l="l" t="t" r="r" b="b"/>
              <a:pathLst>
                <a:path w="3642" h="1936" extrusionOk="0">
                  <a:moveTo>
                    <a:pt x="636" y="0"/>
                  </a:moveTo>
                  <a:cubicBezTo>
                    <a:pt x="400" y="0"/>
                    <a:pt x="180" y="150"/>
                    <a:pt x="100" y="389"/>
                  </a:cubicBezTo>
                  <a:cubicBezTo>
                    <a:pt x="0" y="685"/>
                    <a:pt x="160" y="1005"/>
                    <a:pt x="459" y="1105"/>
                  </a:cubicBezTo>
                  <a:lnTo>
                    <a:pt x="2860" y="1905"/>
                  </a:lnTo>
                  <a:cubicBezTo>
                    <a:pt x="2917" y="1923"/>
                    <a:pt x="2977" y="1935"/>
                    <a:pt x="3038" y="1935"/>
                  </a:cubicBezTo>
                  <a:cubicBezTo>
                    <a:pt x="3316" y="1932"/>
                    <a:pt x="3554" y="1733"/>
                    <a:pt x="3596" y="1458"/>
                  </a:cubicBezTo>
                  <a:cubicBezTo>
                    <a:pt x="3642" y="1183"/>
                    <a:pt x="3482" y="918"/>
                    <a:pt x="3219" y="830"/>
                  </a:cubicBezTo>
                  <a:lnTo>
                    <a:pt x="816" y="30"/>
                  </a:lnTo>
                  <a:cubicBezTo>
                    <a:pt x="756" y="10"/>
                    <a:pt x="695" y="0"/>
                    <a:pt x="6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2" name="Google Shape;8389;p67">
              <a:extLst>
                <a:ext uri="{FF2B5EF4-FFF2-40B4-BE49-F238E27FC236}">
                  <a16:creationId xmlns:a16="http://schemas.microsoft.com/office/drawing/2014/main" id="{047A730C-1FFC-8B93-63CE-478945CED863}"/>
                </a:ext>
              </a:extLst>
            </p:cNvPr>
            <p:cNvSpPr/>
            <p:nvPr/>
          </p:nvSpPr>
          <p:spPr>
            <a:xfrm>
              <a:off x="4148300" y="608000"/>
              <a:ext cx="52050" cy="88600"/>
            </a:xfrm>
            <a:custGeom>
              <a:avLst/>
              <a:gdLst/>
              <a:ahLst/>
              <a:cxnLst/>
              <a:rect l="l" t="t" r="r" b="b"/>
              <a:pathLst>
                <a:path w="2082" h="3544" extrusionOk="0">
                  <a:moveTo>
                    <a:pt x="639" y="1"/>
                  </a:moveTo>
                  <a:cubicBezTo>
                    <a:pt x="580" y="1"/>
                    <a:pt x="519" y="10"/>
                    <a:pt x="460" y="31"/>
                  </a:cubicBezTo>
                  <a:cubicBezTo>
                    <a:pt x="161" y="127"/>
                    <a:pt x="1" y="450"/>
                    <a:pt x="100" y="746"/>
                  </a:cubicBezTo>
                  <a:lnTo>
                    <a:pt x="903" y="3150"/>
                  </a:lnTo>
                  <a:cubicBezTo>
                    <a:pt x="979" y="3390"/>
                    <a:pt x="1202" y="3544"/>
                    <a:pt x="1441" y="3544"/>
                  </a:cubicBezTo>
                  <a:cubicBezTo>
                    <a:pt x="1500" y="3544"/>
                    <a:pt x="1560" y="3535"/>
                    <a:pt x="1619" y="3515"/>
                  </a:cubicBezTo>
                  <a:cubicBezTo>
                    <a:pt x="1921" y="3415"/>
                    <a:pt x="2081" y="3089"/>
                    <a:pt x="1975" y="2790"/>
                  </a:cubicBezTo>
                  <a:lnTo>
                    <a:pt x="1175" y="390"/>
                  </a:lnTo>
                  <a:cubicBezTo>
                    <a:pt x="1096" y="151"/>
                    <a:pt x="875" y="1"/>
                    <a:pt x="6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3" name="Google Shape;8390;p67">
              <a:extLst>
                <a:ext uri="{FF2B5EF4-FFF2-40B4-BE49-F238E27FC236}">
                  <a16:creationId xmlns:a16="http://schemas.microsoft.com/office/drawing/2014/main" id="{7BEC2A65-FF88-336C-4A9D-DF7F4051D46E}"/>
                </a:ext>
              </a:extLst>
            </p:cNvPr>
            <p:cNvSpPr/>
            <p:nvPr/>
          </p:nvSpPr>
          <p:spPr>
            <a:xfrm>
              <a:off x="3928725" y="307900"/>
              <a:ext cx="71200" cy="68375"/>
            </a:xfrm>
            <a:custGeom>
              <a:avLst/>
              <a:gdLst/>
              <a:ahLst/>
              <a:cxnLst/>
              <a:rect l="l" t="t" r="r" b="b"/>
              <a:pathLst>
                <a:path w="2848" h="2735" extrusionOk="0">
                  <a:moveTo>
                    <a:pt x="620" y="1"/>
                  </a:moveTo>
                  <a:cubicBezTo>
                    <a:pt x="475" y="1"/>
                    <a:pt x="330" y="57"/>
                    <a:pt x="221" y="168"/>
                  </a:cubicBezTo>
                  <a:cubicBezTo>
                    <a:pt x="3" y="385"/>
                    <a:pt x="0" y="739"/>
                    <a:pt x="214" y="962"/>
                  </a:cubicBezTo>
                  <a:lnTo>
                    <a:pt x="1815" y="2562"/>
                  </a:lnTo>
                  <a:cubicBezTo>
                    <a:pt x="1926" y="2677"/>
                    <a:pt x="2074" y="2734"/>
                    <a:pt x="2222" y="2734"/>
                  </a:cubicBezTo>
                  <a:cubicBezTo>
                    <a:pt x="2367" y="2734"/>
                    <a:pt x="2512" y="2679"/>
                    <a:pt x="2624" y="2569"/>
                  </a:cubicBezTo>
                  <a:cubicBezTo>
                    <a:pt x="2847" y="2345"/>
                    <a:pt x="2844" y="1983"/>
                    <a:pt x="2615" y="1762"/>
                  </a:cubicBezTo>
                  <a:lnTo>
                    <a:pt x="1015" y="162"/>
                  </a:lnTo>
                  <a:cubicBezTo>
                    <a:pt x="904" y="54"/>
                    <a:pt x="762" y="1"/>
                    <a:pt x="6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4" name="Google Shape;8391;p67">
              <a:extLst>
                <a:ext uri="{FF2B5EF4-FFF2-40B4-BE49-F238E27FC236}">
                  <a16:creationId xmlns:a16="http://schemas.microsoft.com/office/drawing/2014/main" id="{042E0535-A18B-5E63-55EB-81FD8C17B4A0}"/>
                </a:ext>
              </a:extLst>
            </p:cNvPr>
            <p:cNvSpPr/>
            <p:nvPr/>
          </p:nvSpPr>
          <p:spPr>
            <a:xfrm>
              <a:off x="4008200" y="267675"/>
              <a:ext cx="51875" cy="88450"/>
            </a:xfrm>
            <a:custGeom>
              <a:avLst/>
              <a:gdLst/>
              <a:ahLst/>
              <a:cxnLst/>
              <a:rect l="l" t="t" r="r" b="b"/>
              <a:pathLst>
                <a:path w="2075" h="3538" extrusionOk="0">
                  <a:moveTo>
                    <a:pt x="636" y="1"/>
                  </a:moveTo>
                  <a:cubicBezTo>
                    <a:pt x="577" y="1"/>
                    <a:pt x="518" y="10"/>
                    <a:pt x="460" y="29"/>
                  </a:cubicBezTo>
                  <a:cubicBezTo>
                    <a:pt x="161" y="128"/>
                    <a:pt x="1" y="449"/>
                    <a:pt x="100" y="747"/>
                  </a:cubicBezTo>
                  <a:lnTo>
                    <a:pt x="900" y="3151"/>
                  </a:lnTo>
                  <a:cubicBezTo>
                    <a:pt x="979" y="3380"/>
                    <a:pt x="1193" y="3537"/>
                    <a:pt x="1438" y="3537"/>
                  </a:cubicBezTo>
                  <a:cubicBezTo>
                    <a:pt x="1498" y="3534"/>
                    <a:pt x="1559" y="3525"/>
                    <a:pt x="1619" y="3507"/>
                  </a:cubicBezTo>
                  <a:cubicBezTo>
                    <a:pt x="1915" y="3408"/>
                    <a:pt x="2075" y="3088"/>
                    <a:pt x="1975" y="2789"/>
                  </a:cubicBezTo>
                  <a:lnTo>
                    <a:pt x="1175" y="388"/>
                  </a:lnTo>
                  <a:cubicBezTo>
                    <a:pt x="1095" y="151"/>
                    <a:pt x="873" y="1"/>
                    <a:pt x="6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5" name="Google Shape;8392;p67">
              <a:extLst>
                <a:ext uri="{FF2B5EF4-FFF2-40B4-BE49-F238E27FC236}">
                  <a16:creationId xmlns:a16="http://schemas.microsoft.com/office/drawing/2014/main" id="{86C34E3E-6F8B-A8F1-1F89-7A4408A2DA56}"/>
                </a:ext>
              </a:extLst>
            </p:cNvPr>
            <p:cNvSpPr/>
            <p:nvPr/>
          </p:nvSpPr>
          <p:spPr>
            <a:xfrm>
              <a:off x="3888100" y="387825"/>
              <a:ext cx="91675" cy="48300"/>
            </a:xfrm>
            <a:custGeom>
              <a:avLst/>
              <a:gdLst/>
              <a:ahLst/>
              <a:cxnLst/>
              <a:rect l="l" t="t" r="r" b="b"/>
              <a:pathLst>
                <a:path w="3667" h="1932" extrusionOk="0">
                  <a:moveTo>
                    <a:pt x="636" y="0"/>
                  </a:moveTo>
                  <a:cubicBezTo>
                    <a:pt x="400" y="0"/>
                    <a:pt x="180" y="150"/>
                    <a:pt x="100" y="386"/>
                  </a:cubicBezTo>
                  <a:cubicBezTo>
                    <a:pt x="1" y="685"/>
                    <a:pt x="161" y="1005"/>
                    <a:pt x="460" y="1105"/>
                  </a:cubicBezTo>
                  <a:lnTo>
                    <a:pt x="2860" y="1905"/>
                  </a:lnTo>
                  <a:cubicBezTo>
                    <a:pt x="2917" y="1923"/>
                    <a:pt x="2975" y="1932"/>
                    <a:pt x="3032" y="1932"/>
                  </a:cubicBezTo>
                  <a:cubicBezTo>
                    <a:pt x="3270" y="1932"/>
                    <a:pt x="3492" y="1781"/>
                    <a:pt x="3570" y="1543"/>
                  </a:cubicBezTo>
                  <a:cubicBezTo>
                    <a:pt x="3666" y="1250"/>
                    <a:pt x="3512" y="933"/>
                    <a:pt x="3219" y="830"/>
                  </a:cubicBezTo>
                  <a:lnTo>
                    <a:pt x="816" y="30"/>
                  </a:lnTo>
                  <a:cubicBezTo>
                    <a:pt x="756" y="10"/>
                    <a:pt x="696" y="0"/>
                    <a:pt x="6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42534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accel="37000" decel="55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5" grpId="0" build="p"/>
      <p:bldP spid="367" grpId="0" build="p"/>
      <p:bldP spid="368" grpId="0" build="p"/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1"/>
          <p:cNvSpPr txBox="1">
            <a:spLocks noGrp="1"/>
          </p:cNvSpPr>
          <p:nvPr>
            <p:ph type="title"/>
          </p:nvPr>
        </p:nvSpPr>
        <p:spPr>
          <a:xfrm>
            <a:off x="720000" y="12226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Chile Case Study</a:t>
            </a:r>
          </a:p>
        </p:txBody>
      </p:sp>
      <p:sp>
        <p:nvSpPr>
          <p:cNvPr id="459" name="Google Shape;459;p41"/>
          <p:cNvSpPr txBox="1">
            <a:spLocks noGrp="1"/>
          </p:cNvSpPr>
          <p:nvPr>
            <p:ph type="subTitle" idx="4294967295"/>
          </p:nvPr>
        </p:nvSpPr>
        <p:spPr>
          <a:xfrm>
            <a:off x="4791843" y="1761977"/>
            <a:ext cx="3859212" cy="42862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>
              <a:buNone/>
            </a:pPr>
            <a:r>
              <a:rPr lang="en-US" sz="2400" dirty="0"/>
              <a:t> Increase in attendance.</a:t>
            </a:r>
            <a:endParaRPr sz="2200" dirty="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460" name="Google Shape;460;p41"/>
          <p:cNvSpPr txBox="1">
            <a:spLocks noGrp="1"/>
          </p:cNvSpPr>
          <p:nvPr>
            <p:ph type="subTitle" idx="4294967295"/>
          </p:nvPr>
        </p:nvSpPr>
        <p:spPr>
          <a:xfrm>
            <a:off x="4791843" y="2800962"/>
            <a:ext cx="4176712" cy="42862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>
              <a:buNone/>
            </a:pPr>
            <a:r>
              <a:rPr lang="en-US" sz="2400" dirty="0"/>
              <a:t> Increase in ticket revenue.</a:t>
            </a:r>
            <a:endParaRPr sz="2200" dirty="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461" name="Google Shape;461;p41"/>
          <p:cNvSpPr txBox="1">
            <a:spLocks noGrp="1"/>
          </p:cNvSpPr>
          <p:nvPr>
            <p:ph type="subTitle" idx="4294967295"/>
          </p:nvPr>
        </p:nvSpPr>
        <p:spPr>
          <a:xfrm>
            <a:off x="4650919" y="3846891"/>
            <a:ext cx="4586287" cy="83661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139700" indent="0">
              <a:buNone/>
            </a:pPr>
            <a:r>
              <a:rPr lang="en-US" sz="2200" dirty="0"/>
              <a:t>Reduced travel costs and fairer distribution.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8892" y="730246"/>
            <a:ext cx="62524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DM Sans" panose="020B0604020202020204" charset="0"/>
              </a:rPr>
              <a:t>In 2005, the Chilean First Division switched from manual/random draws to ILP Optimization and </a:t>
            </a:r>
            <a:r>
              <a:rPr lang="en-US" sz="1600" dirty="0">
                <a:solidFill>
                  <a:schemeClr val="tx1"/>
                </a:solidFill>
                <a:latin typeface="DM Sans" panose="020B0604020202020204" charset="0"/>
              </a:rPr>
              <a:t>here’s</a:t>
            </a:r>
            <a:r>
              <a:rPr lang="en-US" dirty="0">
                <a:solidFill>
                  <a:schemeClr val="tx1"/>
                </a:solidFill>
                <a:latin typeface="DM Sans" panose="020B0604020202020204" charset="0"/>
              </a:rPr>
              <a:t> the results:</a:t>
            </a:r>
          </a:p>
        </p:txBody>
      </p:sp>
      <p:sp>
        <p:nvSpPr>
          <p:cNvPr id="21" name="Google Shape;8494;p67"/>
          <p:cNvSpPr/>
          <p:nvPr/>
        </p:nvSpPr>
        <p:spPr>
          <a:xfrm>
            <a:off x="4320485" y="2800962"/>
            <a:ext cx="330434" cy="316687"/>
          </a:xfrm>
          <a:custGeom>
            <a:avLst/>
            <a:gdLst/>
            <a:ahLst/>
            <a:cxnLst/>
            <a:rect l="l" t="t" r="r" b="b"/>
            <a:pathLst>
              <a:path w="18772" h="17991" extrusionOk="0">
                <a:moveTo>
                  <a:pt x="17492" y="6197"/>
                </a:moveTo>
                <a:lnTo>
                  <a:pt x="17217" y="8063"/>
                </a:lnTo>
                <a:lnTo>
                  <a:pt x="15626" y="6472"/>
                </a:lnTo>
                <a:lnTo>
                  <a:pt x="17492" y="6197"/>
                </a:lnTo>
                <a:close/>
                <a:moveTo>
                  <a:pt x="6055" y="9391"/>
                </a:moveTo>
                <a:lnTo>
                  <a:pt x="6055" y="16858"/>
                </a:lnTo>
                <a:lnTo>
                  <a:pt x="1133" y="16858"/>
                </a:lnTo>
                <a:lnTo>
                  <a:pt x="1133" y="13332"/>
                </a:lnTo>
                <a:lnTo>
                  <a:pt x="6055" y="9391"/>
                </a:lnTo>
                <a:close/>
                <a:moveTo>
                  <a:pt x="7187" y="9141"/>
                </a:moveTo>
                <a:lnTo>
                  <a:pt x="11903" y="11568"/>
                </a:lnTo>
                <a:lnTo>
                  <a:pt x="11903" y="16858"/>
                </a:lnTo>
                <a:lnTo>
                  <a:pt x="7187" y="16858"/>
                </a:lnTo>
                <a:lnTo>
                  <a:pt x="7187" y="9141"/>
                </a:lnTo>
                <a:close/>
                <a:moveTo>
                  <a:pt x="565" y="1"/>
                </a:moveTo>
                <a:cubicBezTo>
                  <a:pt x="254" y="1"/>
                  <a:pt x="1" y="255"/>
                  <a:pt x="1" y="569"/>
                </a:cubicBezTo>
                <a:lnTo>
                  <a:pt x="1" y="17423"/>
                </a:lnTo>
                <a:cubicBezTo>
                  <a:pt x="1" y="17737"/>
                  <a:pt x="254" y="17991"/>
                  <a:pt x="565" y="17991"/>
                </a:cubicBezTo>
                <a:lnTo>
                  <a:pt x="18141" y="17991"/>
                </a:lnTo>
                <a:cubicBezTo>
                  <a:pt x="18455" y="17991"/>
                  <a:pt x="18706" y="17737"/>
                  <a:pt x="18706" y="17423"/>
                </a:cubicBezTo>
                <a:cubicBezTo>
                  <a:pt x="18706" y="17112"/>
                  <a:pt x="18455" y="16858"/>
                  <a:pt x="18141" y="16858"/>
                </a:cubicBezTo>
                <a:lnTo>
                  <a:pt x="13033" y="16858"/>
                </a:lnTo>
                <a:lnTo>
                  <a:pt x="13033" y="11457"/>
                </a:lnTo>
                <a:lnTo>
                  <a:pt x="16022" y="8467"/>
                </a:lnTo>
                <a:lnTo>
                  <a:pt x="17214" y="9660"/>
                </a:lnTo>
                <a:cubicBezTo>
                  <a:pt x="17329" y="9774"/>
                  <a:pt x="17471" y="9826"/>
                  <a:pt x="17611" y="9826"/>
                </a:cubicBezTo>
                <a:cubicBezTo>
                  <a:pt x="17874" y="9826"/>
                  <a:pt x="18129" y="9643"/>
                  <a:pt x="18175" y="9343"/>
                </a:cubicBezTo>
                <a:lnTo>
                  <a:pt x="18721" y="5608"/>
                </a:lnTo>
                <a:cubicBezTo>
                  <a:pt x="18771" y="5262"/>
                  <a:pt x="18501" y="4962"/>
                  <a:pt x="18164" y="4962"/>
                </a:cubicBezTo>
                <a:cubicBezTo>
                  <a:pt x="18137" y="4962"/>
                  <a:pt x="18109" y="4964"/>
                  <a:pt x="18081" y="4968"/>
                </a:cubicBezTo>
                <a:lnTo>
                  <a:pt x="14346" y="5514"/>
                </a:lnTo>
                <a:cubicBezTo>
                  <a:pt x="13887" y="5584"/>
                  <a:pt x="13700" y="6145"/>
                  <a:pt x="14029" y="6475"/>
                </a:cubicBezTo>
                <a:lnTo>
                  <a:pt x="15222" y="7667"/>
                </a:lnTo>
                <a:lnTo>
                  <a:pt x="12359" y="10530"/>
                </a:lnTo>
                <a:lnTo>
                  <a:pt x="6879" y="7710"/>
                </a:lnTo>
                <a:cubicBezTo>
                  <a:pt x="6867" y="7703"/>
                  <a:pt x="6855" y="7697"/>
                  <a:pt x="6846" y="7694"/>
                </a:cubicBezTo>
                <a:lnTo>
                  <a:pt x="6831" y="7688"/>
                </a:lnTo>
                <a:lnTo>
                  <a:pt x="6794" y="7673"/>
                </a:lnTo>
                <a:lnTo>
                  <a:pt x="6776" y="7670"/>
                </a:lnTo>
                <a:cubicBezTo>
                  <a:pt x="6767" y="7667"/>
                  <a:pt x="6755" y="7664"/>
                  <a:pt x="6743" y="7661"/>
                </a:cubicBezTo>
                <a:lnTo>
                  <a:pt x="6728" y="7658"/>
                </a:lnTo>
                <a:cubicBezTo>
                  <a:pt x="6713" y="7655"/>
                  <a:pt x="6695" y="7652"/>
                  <a:pt x="6680" y="7649"/>
                </a:cubicBezTo>
                <a:lnTo>
                  <a:pt x="6553" y="7649"/>
                </a:lnTo>
                <a:cubicBezTo>
                  <a:pt x="6541" y="7649"/>
                  <a:pt x="6526" y="7655"/>
                  <a:pt x="6514" y="7655"/>
                </a:cubicBezTo>
                <a:lnTo>
                  <a:pt x="6495" y="7661"/>
                </a:lnTo>
                <a:cubicBezTo>
                  <a:pt x="6483" y="7661"/>
                  <a:pt x="6474" y="7664"/>
                  <a:pt x="6465" y="7667"/>
                </a:cubicBezTo>
                <a:lnTo>
                  <a:pt x="6447" y="7673"/>
                </a:lnTo>
                <a:cubicBezTo>
                  <a:pt x="6432" y="7679"/>
                  <a:pt x="6417" y="7682"/>
                  <a:pt x="6405" y="7688"/>
                </a:cubicBezTo>
                <a:lnTo>
                  <a:pt x="6387" y="7697"/>
                </a:lnTo>
                <a:lnTo>
                  <a:pt x="6360" y="7710"/>
                </a:lnTo>
                <a:lnTo>
                  <a:pt x="6341" y="7719"/>
                </a:lnTo>
                <a:cubicBezTo>
                  <a:pt x="6332" y="7725"/>
                  <a:pt x="6323" y="7731"/>
                  <a:pt x="6314" y="7737"/>
                </a:cubicBezTo>
                <a:lnTo>
                  <a:pt x="6299" y="7746"/>
                </a:lnTo>
                <a:cubicBezTo>
                  <a:pt x="6287" y="7752"/>
                  <a:pt x="6275" y="7761"/>
                  <a:pt x="6266" y="7770"/>
                </a:cubicBezTo>
                <a:lnTo>
                  <a:pt x="6260" y="7776"/>
                </a:lnTo>
                <a:lnTo>
                  <a:pt x="1133" y="11879"/>
                </a:lnTo>
                <a:lnTo>
                  <a:pt x="1133" y="569"/>
                </a:lnTo>
                <a:cubicBezTo>
                  <a:pt x="1133" y="255"/>
                  <a:pt x="879" y="1"/>
                  <a:pt x="565" y="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tx1"/>
              </a:solidFill>
            </a:endParaRPr>
          </a:p>
        </p:txBody>
      </p:sp>
      <p:sp>
        <p:nvSpPr>
          <p:cNvPr id="22" name="Google Shape;8494;p67"/>
          <p:cNvSpPr/>
          <p:nvPr/>
        </p:nvSpPr>
        <p:spPr>
          <a:xfrm>
            <a:off x="4320485" y="1714906"/>
            <a:ext cx="330434" cy="316687"/>
          </a:xfrm>
          <a:custGeom>
            <a:avLst/>
            <a:gdLst/>
            <a:ahLst/>
            <a:cxnLst/>
            <a:rect l="l" t="t" r="r" b="b"/>
            <a:pathLst>
              <a:path w="18772" h="17991" extrusionOk="0">
                <a:moveTo>
                  <a:pt x="17492" y="6197"/>
                </a:moveTo>
                <a:lnTo>
                  <a:pt x="17217" y="8063"/>
                </a:lnTo>
                <a:lnTo>
                  <a:pt x="15626" y="6472"/>
                </a:lnTo>
                <a:lnTo>
                  <a:pt x="17492" y="6197"/>
                </a:lnTo>
                <a:close/>
                <a:moveTo>
                  <a:pt x="6055" y="9391"/>
                </a:moveTo>
                <a:lnTo>
                  <a:pt x="6055" y="16858"/>
                </a:lnTo>
                <a:lnTo>
                  <a:pt x="1133" y="16858"/>
                </a:lnTo>
                <a:lnTo>
                  <a:pt x="1133" y="13332"/>
                </a:lnTo>
                <a:lnTo>
                  <a:pt x="6055" y="9391"/>
                </a:lnTo>
                <a:close/>
                <a:moveTo>
                  <a:pt x="7187" y="9141"/>
                </a:moveTo>
                <a:lnTo>
                  <a:pt x="11903" y="11568"/>
                </a:lnTo>
                <a:lnTo>
                  <a:pt x="11903" y="16858"/>
                </a:lnTo>
                <a:lnTo>
                  <a:pt x="7187" y="16858"/>
                </a:lnTo>
                <a:lnTo>
                  <a:pt x="7187" y="9141"/>
                </a:lnTo>
                <a:close/>
                <a:moveTo>
                  <a:pt x="565" y="1"/>
                </a:moveTo>
                <a:cubicBezTo>
                  <a:pt x="254" y="1"/>
                  <a:pt x="1" y="255"/>
                  <a:pt x="1" y="569"/>
                </a:cubicBezTo>
                <a:lnTo>
                  <a:pt x="1" y="17423"/>
                </a:lnTo>
                <a:cubicBezTo>
                  <a:pt x="1" y="17737"/>
                  <a:pt x="254" y="17991"/>
                  <a:pt x="565" y="17991"/>
                </a:cubicBezTo>
                <a:lnTo>
                  <a:pt x="18141" y="17991"/>
                </a:lnTo>
                <a:cubicBezTo>
                  <a:pt x="18455" y="17991"/>
                  <a:pt x="18706" y="17737"/>
                  <a:pt x="18706" y="17423"/>
                </a:cubicBezTo>
                <a:cubicBezTo>
                  <a:pt x="18706" y="17112"/>
                  <a:pt x="18455" y="16858"/>
                  <a:pt x="18141" y="16858"/>
                </a:cubicBezTo>
                <a:lnTo>
                  <a:pt x="13033" y="16858"/>
                </a:lnTo>
                <a:lnTo>
                  <a:pt x="13033" y="11457"/>
                </a:lnTo>
                <a:lnTo>
                  <a:pt x="16022" y="8467"/>
                </a:lnTo>
                <a:lnTo>
                  <a:pt x="17214" y="9660"/>
                </a:lnTo>
                <a:cubicBezTo>
                  <a:pt x="17329" y="9774"/>
                  <a:pt x="17471" y="9826"/>
                  <a:pt x="17611" y="9826"/>
                </a:cubicBezTo>
                <a:cubicBezTo>
                  <a:pt x="17874" y="9826"/>
                  <a:pt x="18129" y="9643"/>
                  <a:pt x="18175" y="9343"/>
                </a:cubicBezTo>
                <a:lnTo>
                  <a:pt x="18721" y="5608"/>
                </a:lnTo>
                <a:cubicBezTo>
                  <a:pt x="18771" y="5262"/>
                  <a:pt x="18501" y="4962"/>
                  <a:pt x="18164" y="4962"/>
                </a:cubicBezTo>
                <a:cubicBezTo>
                  <a:pt x="18137" y="4962"/>
                  <a:pt x="18109" y="4964"/>
                  <a:pt x="18081" y="4968"/>
                </a:cubicBezTo>
                <a:lnTo>
                  <a:pt x="14346" y="5514"/>
                </a:lnTo>
                <a:cubicBezTo>
                  <a:pt x="13887" y="5584"/>
                  <a:pt x="13700" y="6145"/>
                  <a:pt x="14029" y="6475"/>
                </a:cubicBezTo>
                <a:lnTo>
                  <a:pt x="15222" y="7667"/>
                </a:lnTo>
                <a:lnTo>
                  <a:pt x="12359" y="10530"/>
                </a:lnTo>
                <a:lnTo>
                  <a:pt x="6879" y="7710"/>
                </a:lnTo>
                <a:cubicBezTo>
                  <a:pt x="6867" y="7703"/>
                  <a:pt x="6855" y="7697"/>
                  <a:pt x="6846" y="7694"/>
                </a:cubicBezTo>
                <a:lnTo>
                  <a:pt x="6831" y="7688"/>
                </a:lnTo>
                <a:lnTo>
                  <a:pt x="6794" y="7673"/>
                </a:lnTo>
                <a:lnTo>
                  <a:pt x="6776" y="7670"/>
                </a:lnTo>
                <a:cubicBezTo>
                  <a:pt x="6767" y="7667"/>
                  <a:pt x="6755" y="7664"/>
                  <a:pt x="6743" y="7661"/>
                </a:cubicBezTo>
                <a:lnTo>
                  <a:pt x="6728" y="7658"/>
                </a:lnTo>
                <a:cubicBezTo>
                  <a:pt x="6713" y="7655"/>
                  <a:pt x="6695" y="7652"/>
                  <a:pt x="6680" y="7649"/>
                </a:cubicBezTo>
                <a:lnTo>
                  <a:pt x="6553" y="7649"/>
                </a:lnTo>
                <a:cubicBezTo>
                  <a:pt x="6541" y="7649"/>
                  <a:pt x="6526" y="7655"/>
                  <a:pt x="6514" y="7655"/>
                </a:cubicBezTo>
                <a:lnTo>
                  <a:pt x="6495" y="7661"/>
                </a:lnTo>
                <a:cubicBezTo>
                  <a:pt x="6483" y="7661"/>
                  <a:pt x="6474" y="7664"/>
                  <a:pt x="6465" y="7667"/>
                </a:cubicBezTo>
                <a:lnTo>
                  <a:pt x="6447" y="7673"/>
                </a:lnTo>
                <a:cubicBezTo>
                  <a:pt x="6432" y="7679"/>
                  <a:pt x="6417" y="7682"/>
                  <a:pt x="6405" y="7688"/>
                </a:cubicBezTo>
                <a:lnTo>
                  <a:pt x="6387" y="7697"/>
                </a:lnTo>
                <a:lnTo>
                  <a:pt x="6360" y="7710"/>
                </a:lnTo>
                <a:lnTo>
                  <a:pt x="6341" y="7719"/>
                </a:lnTo>
                <a:cubicBezTo>
                  <a:pt x="6332" y="7725"/>
                  <a:pt x="6323" y="7731"/>
                  <a:pt x="6314" y="7737"/>
                </a:cubicBezTo>
                <a:lnTo>
                  <a:pt x="6299" y="7746"/>
                </a:lnTo>
                <a:cubicBezTo>
                  <a:pt x="6287" y="7752"/>
                  <a:pt x="6275" y="7761"/>
                  <a:pt x="6266" y="7770"/>
                </a:cubicBezTo>
                <a:lnTo>
                  <a:pt x="6260" y="7776"/>
                </a:lnTo>
                <a:lnTo>
                  <a:pt x="1133" y="11879"/>
                </a:lnTo>
                <a:lnTo>
                  <a:pt x="1133" y="569"/>
                </a:lnTo>
                <a:cubicBezTo>
                  <a:pt x="1133" y="255"/>
                  <a:pt x="879" y="1"/>
                  <a:pt x="565" y="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tx1"/>
              </a:solidFill>
            </a:endParaRPr>
          </a:p>
        </p:txBody>
      </p:sp>
      <p:sp>
        <p:nvSpPr>
          <p:cNvPr id="28" name="Google Shape;9025;p69"/>
          <p:cNvSpPr/>
          <p:nvPr/>
        </p:nvSpPr>
        <p:spPr>
          <a:xfrm>
            <a:off x="4281903" y="3918153"/>
            <a:ext cx="369016" cy="364563"/>
          </a:xfrm>
          <a:custGeom>
            <a:avLst/>
            <a:gdLst/>
            <a:ahLst/>
            <a:cxnLst/>
            <a:rect l="l" t="t" r="r" b="b"/>
            <a:pathLst>
              <a:path w="12761" h="12607" extrusionOk="0">
                <a:moveTo>
                  <a:pt x="1860" y="2084"/>
                </a:moveTo>
                <a:lnTo>
                  <a:pt x="7373" y="2997"/>
                </a:lnTo>
                <a:lnTo>
                  <a:pt x="5861" y="4509"/>
                </a:lnTo>
                <a:lnTo>
                  <a:pt x="1261" y="2682"/>
                </a:lnTo>
                <a:lnTo>
                  <a:pt x="1860" y="2084"/>
                </a:lnTo>
                <a:close/>
                <a:moveTo>
                  <a:pt x="11229" y="836"/>
                </a:moveTo>
                <a:cubicBezTo>
                  <a:pt x="11412" y="836"/>
                  <a:pt x="11578" y="881"/>
                  <a:pt x="11689" y="981"/>
                </a:cubicBezTo>
                <a:cubicBezTo>
                  <a:pt x="11847" y="1107"/>
                  <a:pt x="11878" y="1359"/>
                  <a:pt x="11847" y="1611"/>
                </a:cubicBezTo>
                <a:cubicBezTo>
                  <a:pt x="11815" y="1894"/>
                  <a:pt x="11658" y="2210"/>
                  <a:pt x="11500" y="2367"/>
                </a:cubicBezTo>
                <a:lnTo>
                  <a:pt x="7405" y="6463"/>
                </a:lnTo>
                <a:lnTo>
                  <a:pt x="5168" y="8700"/>
                </a:lnTo>
                <a:cubicBezTo>
                  <a:pt x="5073" y="8794"/>
                  <a:pt x="5010" y="8952"/>
                  <a:pt x="5042" y="9078"/>
                </a:cubicBezTo>
                <a:lnTo>
                  <a:pt x="5262" y="10306"/>
                </a:lnTo>
                <a:lnTo>
                  <a:pt x="4223" y="11377"/>
                </a:lnTo>
                <a:lnTo>
                  <a:pt x="3782" y="9204"/>
                </a:lnTo>
                <a:cubicBezTo>
                  <a:pt x="3750" y="9046"/>
                  <a:pt x="3624" y="8952"/>
                  <a:pt x="3466" y="8889"/>
                </a:cubicBezTo>
                <a:lnTo>
                  <a:pt x="1293" y="8479"/>
                </a:lnTo>
                <a:lnTo>
                  <a:pt x="2364" y="7408"/>
                </a:lnTo>
                <a:lnTo>
                  <a:pt x="3624" y="7628"/>
                </a:lnTo>
                <a:cubicBezTo>
                  <a:pt x="3659" y="7646"/>
                  <a:pt x="3697" y="7654"/>
                  <a:pt x="3734" y="7654"/>
                </a:cubicBezTo>
                <a:cubicBezTo>
                  <a:pt x="3831" y="7654"/>
                  <a:pt x="3925" y="7602"/>
                  <a:pt x="3971" y="7534"/>
                </a:cubicBezTo>
                <a:lnTo>
                  <a:pt x="6207" y="5266"/>
                </a:lnTo>
                <a:lnTo>
                  <a:pt x="10272" y="1233"/>
                </a:lnTo>
                <a:cubicBezTo>
                  <a:pt x="10496" y="988"/>
                  <a:pt x="10892" y="836"/>
                  <a:pt x="11229" y="836"/>
                </a:cubicBezTo>
                <a:close/>
                <a:moveTo>
                  <a:pt x="9641" y="5360"/>
                </a:moveTo>
                <a:lnTo>
                  <a:pt x="10587" y="10873"/>
                </a:lnTo>
                <a:lnTo>
                  <a:pt x="9988" y="11472"/>
                </a:lnTo>
                <a:lnTo>
                  <a:pt x="8161" y="6872"/>
                </a:lnTo>
                <a:lnTo>
                  <a:pt x="9641" y="5360"/>
                </a:lnTo>
                <a:close/>
                <a:moveTo>
                  <a:pt x="11241" y="1"/>
                </a:moveTo>
                <a:cubicBezTo>
                  <a:pt x="10688" y="1"/>
                  <a:pt x="10104" y="248"/>
                  <a:pt x="9736" y="634"/>
                </a:cubicBezTo>
                <a:lnTo>
                  <a:pt x="8066" y="2304"/>
                </a:lnTo>
                <a:lnTo>
                  <a:pt x="1765" y="1233"/>
                </a:lnTo>
                <a:cubicBezTo>
                  <a:pt x="1742" y="1227"/>
                  <a:pt x="1718" y="1225"/>
                  <a:pt x="1693" y="1225"/>
                </a:cubicBezTo>
                <a:cubicBezTo>
                  <a:pt x="1585" y="1225"/>
                  <a:pt x="1470" y="1276"/>
                  <a:pt x="1419" y="1327"/>
                </a:cubicBezTo>
                <a:lnTo>
                  <a:pt x="221" y="2525"/>
                </a:lnTo>
                <a:cubicBezTo>
                  <a:pt x="158" y="2588"/>
                  <a:pt x="64" y="2745"/>
                  <a:pt x="127" y="2903"/>
                </a:cubicBezTo>
                <a:cubicBezTo>
                  <a:pt x="158" y="3029"/>
                  <a:pt x="221" y="3155"/>
                  <a:pt x="348" y="3218"/>
                </a:cubicBezTo>
                <a:lnTo>
                  <a:pt x="5199" y="5171"/>
                </a:lnTo>
                <a:lnTo>
                  <a:pt x="3561" y="6809"/>
                </a:lnTo>
                <a:lnTo>
                  <a:pt x="2301" y="6589"/>
                </a:lnTo>
                <a:cubicBezTo>
                  <a:pt x="2267" y="6572"/>
                  <a:pt x="2231" y="6564"/>
                  <a:pt x="2195" y="6564"/>
                </a:cubicBezTo>
                <a:cubicBezTo>
                  <a:pt x="2095" y="6564"/>
                  <a:pt x="1992" y="6622"/>
                  <a:pt x="1923" y="6715"/>
                </a:cubicBezTo>
                <a:lnTo>
                  <a:pt x="158" y="8479"/>
                </a:lnTo>
                <a:cubicBezTo>
                  <a:pt x="32" y="8605"/>
                  <a:pt x="1" y="8731"/>
                  <a:pt x="32" y="8857"/>
                </a:cubicBezTo>
                <a:cubicBezTo>
                  <a:pt x="95" y="9015"/>
                  <a:pt x="190" y="9109"/>
                  <a:pt x="348" y="9141"/>
                </a:cubicBezTo>
                <a:lnTo>
                  <a:pt x="2994" y="9645"/>
                </a:lnTo>
                <a:lnTo>
                  <a:pt x="3498" y="12291"/>
                </a:lnTo>
                <a:cubicBezTo>
                  <a:pt x="3561" y="12449"/>
                  <a:pt x="3656" y="12575"/>
                  <a:pt x="3782" y="12606"/>
                </a:cubicBezTo>
                <a:lnTo>
                  <a:pt x="3908" y="12606"/>
                </a:lnTo>
                <a:cubicBezTo>
                  <a:pt x="4034" y="12606"/>
                  <a:pt x="4097" y="12575"/>
                  <a:pt x="4191" y="12480"/>
                </a:cubicBezTo>
                <a:lnTo>
                  <a:pt x="5955" y="10716"/>
                </a:lnTo>
                <a:cubicBezTo>
                  <a:pt x="6018" y="10653"/>
                  <a:pt x="6113" y="10464"/>
                  <a:pt x="6081" y="10369"/>
                </a:cubicBezTo>
                <a:lnTo>
                  <a:pt x="5829" y="9109"/>
                </a:lnTo>
                <a:lnTo>
                  <a:pt x="7499" y="7439"/>
                </a:lnTo>
                <a:lnTo>
                  <a:pt x="9421" y="12291"/>
                </a:lnTo>
                <a:cubicBezTo>
                  <a:pt x="9452" y="12417"/>
                  <a:pt x="9578" y="12543"/>
                  <a:pt x="9736" y="12543"/>
                </a:cubicBezTo>
                <a:lnTo>
                  <a:pt x="9799" y="12543"/>
                </a:lnTo>
                <a:cubicBezTo>
                  <a:pt x="9925" y="12543"/>
                  <a:pt x="9988" y="12480"/>
                  <a:pt x="10083" y="12417"/>
                </a:cubicBezTo>
                <a:lnTo>
                  <a:pt x="11248" y="11220"/>
                </a:lnTo>
                <a:cubicBezTo>
                  <a:pt x="11343" y="11157"/>
                  <a:pt x="11374" y="10999"/>
                  <a:pt x="11374" y="10873"/>
                </a:cubicBezTo>
                <a:lnTo>
                  <a:pt x="10303" y="4572"/>
                </a:lnTo>
                <a:lnTo>
                  <a:pt x="11973" y="2903"/>
                </a:lnTo>
                <a:cubicBezTo>
                  <a:pt x="12288" y="2588"/>
                  <a:pt x="12477" y="2178"/>
                  <a:pt x="12571" y="1705"/>
                </a:cubicBezTo>
                <a:cubicBezTo>
                  <a:pt x="12760" y="1201"/>
                  <a:pt x="12603" y="729"/>
                  <a:pt x="12288" y="414"/>
                </a:cubicBezTo>
                <a:cubicBezTo>
                  <a:pt x="12013" y="126"/>
                  <a:pt x="11635" y="1"/>
                  <a:pt x="11241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" name="Google Shape;463;p41">
            <a:extLst>
              <a:ext uri="{FF2B5EF4-FFF2-40B4-BE49-F238E27FC236}">
                <a16:creationId xmlns:a16="http://schemas.microsoft.com/office/drawing/2014/main" id="{5672FF64-510C-B3AF-8A69-896BDBA38283}"/>
              </a:ext>
            </a:extLst>
          </p:cNvPr>
          <p:cNvSpPr txBox="1">
            <a:spLocks/>
          </p:cNvSpPr>
          <p:nvPr/>
        </p:nvSpPr>
        <p:spPr>
          <a:xfrm>
            <a:off x="3145710" y="1539777"/>
            <a:ext cx="880612" cy="619714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ctr"/>
            <a:r>
              <a:rPr lang="en" sz="2200"/>
              <a:t>36%</a:t>
            </a:r>
            <a:endParaRPr lang="en" sz="2200" dirty="0"/>
          </a:p>
        </p:txBody>
      </p:sp>
      <p:sp>
        <p:nvSpPr>
          <p:cNvPr id="12" name="Google Shape;464;p41">
            <a:extLst>
              <a:ext uri="{FF2B5EF4-FFF2-40B4-BE49-F238E27FC236}">
                <a16:creationId xmlns:a16="http://schemas.microsoft.com/office/drawing/2014/main" id="{6AC0DCF6-4C5B-4B33-D7F2-F0A162C30BE2}"/>
              </a:ext>
            </a:extLst>
          </p:cNvPr>
          <p:cNvSpPr/>
          <p:nvPr/>
        </p:nvSpPr>
        <p:spPr>
          <a:xfrm>
            <a:off x="913301" y="1539777"/>
            <a:ext cx="2091485" cy="619714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" name="Google Shape;465;p41">
            <a:extLst>
              <a:ext uri="{FF2B5EF4-FFF2-40B4-BE49-F238E27FC236}">
                <a16:creationId xmlns:a16="http://schemas.microsoft.com/office/drawing/2014/main" id="{BA9EA9CC-36E5-FB42-16E4-8C83D21FD9CA}"/>
              </a:ext>
            </a:extLst>
          </p:cNvPr>
          <p:cNvSpPr txBox="1">
            <a:spLocks/>
          </p:cNvSpPr>
          <p:nvPr/>
        </p:nvSpPr>
        <p:spPr>
          <a:xfrm>
            <a:off x="3145710" y="2668377"/>
            <a:ext cx="880612" cy="619714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ctr"/>
            <a:r>
              <a:rPr lang="en-US" sz="2200"/>
              <a:t>2x</a:t>
            </a:r>
            <a:endParaRPr lang="en-US" sz="2200" dirty="0"/>
          </a:p>
        </p:txBody>
      </p:sp>
      <p:sp>
        <p:nvSpPr>
          <p:cNvPr id="14" name="Google Shape;466;p41">
            <a:extLst>
              <a:ext uri="{FF2B5EF4-FFF2-40B4-BE49-F238E27FC236}">
                <a16:creationId xmlns:a16="http://schemas.microsoft.com/office/drawing/2014/main" id="{204186B1-73E8-444B-D333-FE338672675F}"/>
              </a:ext>
            </a:extLst>
          </p:cNvPr>
          <p:cNvSpPr/>
          <p:nvPr/>
        </p:nvSpPr>
        <p:spPr>
          <a:xfrm>
            <a:off x="913301" y="2668377"/>
            <a:ext cx="2091485" cy="619714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" name="Google Shape;467;p41">
            <a:extLst>
              <a:ext uri="{FF2B5EF4-FFF2-40B4-BE49-F238E27FC236}">
                <a16:creationId xmlns:a16="http://schemas.microsoft.com/office/drawing/2014/main" id="{94035BD7-C460-3BAC-66F9-FED136BC939B}"/>
              </a:ext>
            </a:extLst>
          </p:cNvPr>
          <p:cNvSpPr/>
          <p:nvPr/>
        </p:nvSpPr>
        <p:spPr>
          <a:xfrm>
            <a:off x="913326" y="2668377"/>
            <a:ext cx="2091464" cy="619714"/>
          </a:xfrm>
          <a:prstGeom prst="rect">
            <a:avLst/>
          </a:prstGeom>
          <a:solidFill>
            <a:schemeClr val="dk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" name="Google Shape;468;p41">
            <a:extLst>
              <a:ext uri="{FF2B5EF4-FFF2-40B4-BE49-F238E27FC236}">
                <a16:creationId xmlns:a16="http://schemas.microsoft.com/office/drawing/2014/main" id="{265720D1-6C9D-BE1D-9E69-5276360531C0}"/>
              </a:ext>
            </a:extLst>
          </p:cNvPr>
          <p:cNvSpPr txBox="1">
            <a:spLocks/>
          </p:cNvSpPr>
          <p:nvPr/>
        </p:nvSpPr>
        <p:spPr>
          <a:xfrm>
            <a:off x="3145710" y="3796977"/>
            <a:ext cx="880612" cy="619714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ctr"/>
            <a:r>
              <a:rPr lang="en" sz="2200"/>
              <a:t>45%</a:t>
            </a:r>
            <a:endParaRPr lang="en" sz="2200" dirty="0"/>
          </a:p>
        </p:txBody>
      </p:sp>
      <p:sp>
        <p:nvSpPr>
          <p:cNvPr id="17" name="Google Shape;469;p41">
            <a:extLst>
              <a:ext uri="{FF2B5EF4-FFF2-40B4-BE49-F238E27FC236}">
                <a16:creationId xmlns:a16="http://schemas.microsoft.com/office/drawing/2014/main" id="{B22A7BB4-54C7-7943-2B07-C409B1F9D715}"/>
              </a:ext>
            </a:extLst>
          </p:cNvPr>
          <p:cNvSpPr/>
          <p:nvPr/>
        </p:nvSpPr>
        <p:spPr>
          <a:xfrm>
            <a:off x="913301" y="3796977"/>
            <a:ext cx="2091485" cy="619714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" name="Google Shape;470;p41">
            <a:extLst>
              <a:ext uri="{FF2B5EF4-FFF2-40B4-BE49-F238E27FC236}">
                <a16:creationId xmlns:a16="http://schemas.microsoft.com/office/drawing/2014/main" id="{1C424AC2-CEE7-579B-7858-EA0FE3759B37}"/>
              </a:ext>
            </a:extLst>
          </p:cNvPr>
          <p:cNvSpPr/>
          <p:nvPr/>
        </p:nvSpPr>
        <p:spPr>
          <a:xfrm>
            <a:off x="913326" y="3796977"/>
            <a:ext cx="1022638" cy="619714"/>
          </a:xfrm>
          <a:prstGeom prst="rect">
            <a:avLst/>
          </a:prstGeom>
          <a:solidFill>
            <a:schemeClr val="dk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" name="Google Shape;471;p41">
            <a:extLst>
              <a:ext uri="{FF2B5EF4-FFF2-40B4-BE49-F238E27FC236}">
                <a16:creationId xmlns:a16="http://schemas.microsoft.com/office/drawing/2014/main" id="{D3294635-FCB2-D038-2A70-132506DC046A}"/>
              </a:ext>
            </a:extLst>
          </p:cNvPr>
          <p:cNvSpPr/>
          <p:nvPr/>
        </p:nvSpPr>
        <p:spPr>
          <a:xfrm>
            <a:off x="913326" y="1539777"/>
            <a:ext cx="732316" cy="619714"/>
          </a:xfrm>
          <a:prstGeom prst="rect">
            <a:avLst/>
          </a:prstGeom>
          <a:solidFill>
            <a:schemeClr val="dk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9" grpId="0" build="p"/>
      <p:bldP spid="461" grpId="0" build="p"/>
      <p:bldP spid="21" grpId="0" animBg="1"/>
      <p:bldP spid="22" grpId="0" animBg="1"/>
      <p:bldP spid="2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5"/>
          <p:cNvSpPr txBox="1">
            <a:spLocks noGrp="1"/>
          </p:cNvSpPr>
          <p:nvPr>
            <p:ph type="title"/>
          </p:nvPr>
        </p:nvSpPr>
        <p:spPr>
          <a:xfrm>
            <a:off x="328919" y="59360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The Egyptian Gap</a:t>
            </a:r>
          </a:p>
        </p:txBody>
      </p:sp>
      <p:sp>
        <p:nvSpPr>
          <p:cNvPr id="342" name="Google Shape;342;p35"/>
          <p:cNvSpPr/>
          <p:nvPr/>
        </p:nvSpPr>
        <p:spPr>
          <a:xfrm>
            <a:off x="2429368" y="1302411"/>
            <a:ext cx="4154312" cy="4425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Montserrat" panose="00000500000000000000" pitchFamily="2" charset="0"/>
              </a:rPr>
              <a:t>Why can't we just copy?</a:t>
            </a:r>
          </a:p>
        </p:txBody>
      </p:sp>
      <p:sp>
        <p:nvSpPr>
          <p:cNvPr id="343" name="Google Shape;343;p35"/>
          <p:cNvSpPr/>
          <p:nvPr/>
        </p:nvSpPr>
        <p:spPr>
          <a:xfrm>
            <a:off x="87357" y="2339507"/>
            <a:ext cx="2721152" cy="4425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sz="2000" b="1" dirty="0">
                <a:solidFill>
                  <a:schemeClr val="tx1"/>
                </a:solidFill>
              </a:rPr>
              <a:t> Security Approvals</a:t>
            </a:r>
            <a:endParaRPr sz="2000" b="1" dirty="0">
              <a:solidFill>
                <a:schemeClr val="tx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44" name="Google Shape;344;p35"/>
          <p:cNvSpPr txBox="1"/>
          <p:nvPr/>
        </p:nvSpPr>
        <p:spPr>
          <a:xfrm>
            <a:off x="159859" y="2733331"/>
            <a:ext cx="2648650" cy="4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Specific match-ups are banned in specific cities</a:t>
            </a:r>
            <a:endParaRPr dirty="0">
              <a:solidFill>
                <a:schemeClr val="tx1"/>
              </a:solidFill>
              <a:latin typeface="DM Sans" pitchFamily="2" charset="0"/>
              <a:ea typeface="DM Sans"/>
              <a:cs typeface="DM Sans"/>
              <a:sym typeface="DM Sans"/>
            </a:endParaRPr>
          </a:p>
        </p:txBody>
      </p:sp>
      <p:sp>
        <p:nvSpPr>
          <p:cNvPr id="345" name="Google Shape;345;p35"/>
          <p:cNvSpPr/>
          <p:nvPr/>
        </p:nvSpPr>
        <p:spPr>
          <a:xfrm>
            <a:off x="3232294" y="2484312"/>
            <a:ext cx="2721151" cy="4425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sz="2000" b="1" dirty="0">
                <a:solidFill>
                  <a:schemeClr val="tx1"/>
                </a:solidFill>
              </a:rPr>
              <a:t>Shared Resources</a:t>
            </a:r>
            <a:endParaRPr sz="2000" b="1" dirty="0">
              <a:solidFill>
                <a:schemeClr val="tx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46" name="Google Shape;346;p35"/>
          <p:cNvSpPr txBox="1"/>
          <p:nvPr/>
        </p:nvSpPr>
        <p:spPr>
          <a:xfrm>
            <a:off x="3232294" y="2867143"/>
            <a:ext cx="2573776" cy="834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Multiple teams share "Cairo International" and "Borg Al-Arab," creating bottlenecks</a:t>
            </a:r>
          </a:p>
          <a:p>
            <a:pPr lvl="0">
              <a:lnSpc>
                <a:spcPct val="115000"/>
              </a:lnSpc>
            </a:pPr>
            <a:endParaRPr dirty="0">
              <a:solidFill>
                <a:schemeClr val="tx1"/>
              </a:solidFill>
              <a:latin typeface="DM Sans" pitchFamily="2" charset="0"/>
              <a:ea typeface="DM Sans"/>
              <a:cs typeface="DM Sans"/>
              <a:sym typeface="DM Sans"/>
            </a:endParaRPr>
          </a:p>
        </p:txBody>
      </p:sp>
      <p:sp>
        <p:nvSpPr>
          <p:cNvPr id="347" name="Google Shape;347;p35"/>
          <p:cNvSpPr/>
          <p:nvPr/>
        </p:nvSpPr>
        <p:spPr>
          <a:xfrm>
            <a:off x="6295089" y="2339507"/>
            <a:ext cx="2653423" cy="4425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sz="2000" b="1" dirty="0">
                <a:solidFill>
                  <a:schemeClr val="tx1"/>
                </a:solidFill>
              </a:rPr>
              <a:t>CAF Conflict</a:t>
            </a:r>
            <a:endParaRPr sz="2000" b="1" dirty="0">
              <a:solidFill>
                <a:schemeClr val="tx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48" name="Google Shape;348;p35"/>
          <p:cNvSpPr txBox="1"/>
          <p:nvPr/>
        </p:nvSpPr>
        <p:spPr>
          <a:xfrm>
            <a:off x="6295089" y="2733331"/>
            <a:ext cx="2380559" cy="524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 Al </a:t>
            </a:r>
            <a:r>
              <a:rPr lang="en-US" dirty="0" err="1">
                <a:solidFill>
                  <a:schemeClr val="tx1"/>
                </a:solidFill>
                <a:latin typeface="DM Sans" pitchFamily="2" charset="0"/>
              </a:rPr>
              <a:t>Ahly</a:t>
            </a: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 &amp; Zamalek schedules are fluid, breaking standard mathematical patterns.</a:t>
            </a:r>
            <a:endParaRPr dirty="0">
              <a:solidFill>
                <a:schemeClr val="tx1"/>
              </a:solidFill>
              <a:latin typeface="DM Sans" pitchFamily="2" charset="0"/>
              <a:ea typeface="DM Sans"/>
              <a:cs typeface="DM Sans"/>
              <a:sym typeface="DM Sans"/>
            </a:endParaRP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37CDB699-762F-A6F8-D9EC-54ED2B4B6F2A}"/>
              </a:ext>
            </a:extLst>
          </p:cNvPr>
          <p:cNvCxnSpPr>
            <a:cxnSpLocks/>
            <a:stCxn id="342" idx="2"/>
            <a:endCxn id="343" idx="0"/>
          </p:cNvCxnSpPr>
          <p:nvPr/>
        </p:nvCxnSpPr>
        <p:spPr>
          <a:xfrm rot="5400000">
            <a:off x="2679931" y="512914"/>
            <a:ext cx="594596" cy="3058591"/>
          </a:xfrm>
          <a:prstGeom prst="bentConnector3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F524A420-87B7-83E6-72E6-099792FD800E}"/>
              </a:ext>
            </a:extLst>
          </p:cNvPr>
          <p:cNvCxnSpPr>
            <a:cxnSpLocks/>
            <a:stCxn id="342" idx="2"/>
            <a:endCxn id="347" idx="0"/>
          </p:cNvCxnSpPr>
          <p:nvPr/>
        </p:nvCxnSpPr>
        <p:spPr>
          <a:xfrm rot="16200000" flipH="1">
            <a:off x="5766864" y="484570"/>
            <a:ext cx="594596" cy="3115277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grpSp>
        <p:nvGrpSpPr>
          <p:cNvPr id="26" name="Google Shape;4456;p46">
            <a:extLst>
              <a:ext uri="{FF2B5EF4-FFF2-40B4-BE49-F238E27FC236}">
                <a16:creationId xmlns:a16="http://schemas.microsoft.com/office/drawing/2014/main" id="{31084F08-4D3A-483E-BD40-0055565203CE}"/>
              </a:ext>
            </a:extLst>
          </p:cNvPr>
          <p:cNvGrpSpPr/>
          <p:nvPr/>
        </p:nvGrpSpPr>
        <p:grpSpPr>
          <a:xfrm>
            <a:off x="4303437" y="2162859"/>
            <a:ext cx="406172" cy="321452"/>
            <a:chOff x="5328475" y="2592950"/>
            <a:chExt cx="435200" cy="344425"/>
          </a:xfrm>
        </p:grpSpPr>
        <p:sp>
          <p:nvSpPr>
            <p:cNvPr id="27" name="Google Shape;4457;p46">
              <a:extLst>
                <a:ext uri="{FF2B5EF4-FFF2-40B4-BE49-F238E27FC236}">
                  <a16:creationId xmlns:a16="http://schemas.microsoft.com/office/drawing/2014/main" id="{93D39677-A4B8-41F4-8A6F-DF7C715F34A5}"/>
                </a:ext>
              </a:extLst>
            </p:cNvPr>
            <p:cNvSpPr/>
            <p:nvPr/>
          </p:nvSpPr>
          <p:spPr>
            <a:xfrm>
              <a:off x="5328475" y="2749225"/>
              <a:ext cx="113425" cy="176525"/>
            </a:xfrm>
            <a:custGeom>
              <a:avLst/>
              <a:gdLst/>
              <a:ahLst/>
              <a:cxnLst/>
              <a:rect l="l" t="t" r="r" b="b"/>
              <a:pathLst>
                <a:path w="4537" h="7061" extrusionOk="0">
                  <a:moveTo>
                    <a:pt x="667" y="0"/>
                  </a:moveTo>
                  <a:cubicBezTo>
                    <a:pt x="251" y="357"/>
                    <a:pt x="1" y="881"/>
                    <a:pt x="1" y="1429"/>
                  </a:cubicBezTo>
                  <a:lnTo>
                    <a:pt x="1" y="6549"/>
                  </a:lnTo>
                  <a:cubicBezTo>
                    <a:pt x="1" y="6823"/>
                    <a:pt x="227" y="7061"/>
                    <a:pt x="513" y="7061"/>
                  </a:cubicBezTo>
                  <a:lnTo>
                    <a:pt x="4489" y="7061"/>
                  </a:lnTo>
                  <a:lnTo>
                    <a:pt x="4489" y="3286"/>
                  </a:lnTo>
                  <a:lnTo>
                    <a:pt x="4227" y="3286"/>
                  </a:lnTo>
                  <a:cubicBezTo>
                    <a:pt x="3549" y="3286"/>
                    <a:pt x="3537" y="2274"/>
                    <a:pt x="4215" y="2262"/>
                  </a:cubicBezTo>
                  <a:lnTo>
                    <a:pt x="4501" y="2262"/>
                  </a:lnTo>
                  <a:lnTo>
                    <a:pt x="4501" y="1322"/>
                  </a:lnTo>
                  <a:cubicBezTo>
                    <a:pt x="4501" y="1155"/>
                    <a:pt x="4513" y="988"/>
                    <a:pt x="4537" y="822"/>
                  </a:cubicBezTo>
                  <a:lnTo>
                    <a:pt x="4537" y="822"/>
                  </a:lnTo>
                  <a:cubicBezTo>
                    <a:pt x="4085" y="1180"/>
                    <a:pt x="3542" y="1355"/>
                    <a:pt x="3001" y="1355"/>
                  </a:cubicBezTo>
                  <a:cubicBezTo>
                    <a:pt x="2303" y="1355"/>
                    <a:pt x="1610" y="1064"/>
                    <a:pt x="1120" y="500"/>
                  </a:cubicBezTo>
                  <a:lnTo>
                    <a:pt x="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4458;p46">
              <a:extLst>
                <a:ext uri="{FF2B5EF4-FFF2-40B4-BE49-F238E27FC236}">
                  <a16:creationId xmlns:a16="http://schemas.microsoft.com/office/drawing/2014/main" id="{66B2B66B-4996-4679-A576-E4ED2F61829B}"/>
                </a:ext>
              </a:extLst>
            </p:cNvPr>
            <p:cNvSpPr/>
            <p:nvPr/>
          </p:nvSpPr>
          <p:spPr>
            <a:xfrm>
              <a:off x="5353475" y="2604550"/>
              <a:ext cx="98550" cy="113450"/>
            </a:xfrm>
            <a:custGeom>
              <a:avLst/>
              <a:gdLst/>
              <a:ahLst/>
              <a:cxnLst/>
              <a:rect l="l" t="t" r="r" b="b"/>
              <a:pathLst>
                <a:path w="3942" h="4538" extrusionOk="0">
                  <a:moveTo>
                    <a:pt x="1941" y="1"/>
                  </a:moveTo>
                  <a:cubicBezTo>
                    <a:pt x="858" y="1"/>
                    <a:pt x="1" y="918"/>
                    <a:pt x="72" y="1989"/>
                  </a:cubicBezTo>
                  <a:lnTo>
                    <a:pt x="120" y="2835"/>
                  </a:lnTo>
                  <a:cubicBezTo>
                    <a:pt x="215" y="3799"/>
                    <a:pt x="1013" y="4537"/>
                    <a:pt x="1989" y="4537"/>
                  </a:cubicBezTo>
                  <a:cubicBezTo>
                    <a:pt x="2953" y="4537"/>
                    <a:pt x="3763" y="3799"/>
                    <a:pt x="3846" y="2835"/>
                  </a:cubicBezTo>
                  <a:lnTo>
                    <a:pt x="3894" y="1989"/>
                  </a:lnTo>
                  <a:cubicBezTo>
                    <a:pt x="3942" y="1442"/>
                    <a:pt x="3727" y="918"/>
                    <a:pt x="3346" y="537"/>
                  </a:cubicBezTo>
                  <a:cubicBezTo>
                    <a:pt x="2989" y="191"/>
                    <a:pt x="2513" y="1"/>
                    <a:pt x="201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4459;p46">
              <a:extLst>
                <a:ext uri="{FF2B5EF4-FFF2-40B4-BE49-F238E27FC236}">
                  <a16:creationId xmlns:a16="http://schemas.microsoft.com/office/drawing/2014/main" id="{236DCF48-20F1-4BF8-9B63-C859852FBBDB}"/>
                </a:ext>
              </a:extLst>
            </p:cNvPr>
            <p:cNvSpPr/>
            <p:nvPr/>
          </p:nvSpPr>
          <p:spPr>
            <a:xfrm>
              <a:off x="5367475" y="2736125"/>
              <a:ext cx="71750" cy="21750"/>
            </a:xfrm>
            <a:custGeom>
              <a:avLst/>
              <a:gdLst/>
              <a:ahLst/>
              <a:cxnLst/>
              <a:rect l="l" t="t" r="r" b="b"/>
              <a:pathLst>
                <a:path w="2870" h="870" extrusionOk="0">
                  <a:moveTo>
                    <a:pt x="0" y="0"/>
                  </a:moveTo>
                  <a:lnTo>
                    <a:pt x="310" y="369"/>
                  </a:lnTo>
                  <a:cubicBezTo>
                    <a:pt x="608" y="703"/>
                    <a:pt x="1018" y="870"/>
                    <a:pt x="1429" y="870"/>
                  </a:cubicBezTo>
                  <a:cubicBezTo>
                    <a:pt x="1840" y="870"/>
                    <a:pt x="2251" y="703"/>
                    <a:pt x="2548" y="369"/>
                  </a:cubicBezTo>
                  <a:lnTo>
                    <a:pt x="287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4460;p46">
              <a:extLst>
                <a:ext uri="{FF2B5EF4-FFF2-40B4-BE49-F238E27FC236}">
                  <a16:creationId xmlns:a16="http://schemas.microsoft.com/office/drawing/2014/main" id="{4AAD7F05-45D2-4A95-82B5-043E1163DE68}"/>
                </a:ext>
              </a:extLst>
            </p:cNvPr>
            <p:cNvSpPr/>
            <p:nvPr/>
          </p:nvSpPr>
          <p:spPr>
            <a:xfrm>
              <a:off x="5650250" y="2749825"/>
              <a:ext cx="113425" cy="175925"/>
            </a:xfrm>
            <a:custGeom>
              <a:avLst/>
              <a:gdLst/>
              <a:ahLst/>
              <a:cxnLst/>
              <a:rect l="l" t="t" r="r" b="b"/>
              <a:pathLst>
                <a:path w="4537" h="7037" extrusionOk="0">
                  <a:moveTo>
                    <a:pt x="3179" y="2238"/>
                  </a:moveTo>
                  <a:cubicBezTo>
                    <a:pt x="3429" y="2238"/>
                    <a:pt x="3644" y="2417"/>
                    <a:pt x="3691" y="2655"/>
                  </a:cubicBezTo>
                  <a:cubicBezTo>
                    <a:pt x="3751" y="2977"/>
                    <a:pt x="3513" y="3262"/>
                    <a:pt x="3191" y="3262"/>
                  </a:cubicBezTo>
                  <a:lnTo>
                    <a:pt x="2786" y="3262"/>
                  </a:lnTo>
                  <a:cubicBezTo>
                    <a:pt x="2108" y="3262"/>
                    <a:pt x="2096" y="2250"/>
                    <a:pt x="2774" y="2238"/>
                  </a:cubicBezTo>
                  <a:close/>
                  <a:moveTo>
                    <a:pt x="3870" y="0"/>
                  </a:moveTo>
                  <a:lnTo>
                    <a:pt x="3417" y="500"/>
                  </a:lnTo>
                  <a:cubicBezTo>
                    <a:pt x="2922" y="1056"/>
                    <a:pt x="2231" y="1344"/>
                    <a:pt x="1537" y="1344"/>
                  </a:cubicBezTo>
                  <a:cubicBezTo>
                    <a:pt x="996" y="1344"/>
                    <a:pt x="454" y="1169"/>
                    <a:pt x="0" y="810"/>
                  </a:cubicBezTo>
                  <a:lnTo>
                    <a:pt x="0" y="810"/>
                  </a:lnTo>
                  <a:cubicBezTo>
                    <a:pt x="24" y="976"/>
                    <a:pt x="36" y="1143"/>
                    <a:pt x="36" y="1322"/>
                  </a:cubicBezTo>
                  <a:lnTo>
                    <a:pt x="36" y="7037"/>
                  </a:lnTo>
                  <a:lnTo>
                    <a:pt x="4025" y="7037"/>
                  </a:lnTo>
                  <a:cubicBezTo>
                    <a:pt x="4298" y="7037"/>
                    <a:pt x="4537" y="6799"/>
                    <a:pt x="4537" y="6525"/>
                  </a:cubicBezTo>
                  <a:lnTo>
                    <a:pt x="4537" y="1417"/>
                  </a:lnTo>
                  <a:cubicBezTo>
                    <a:pt x="4525" y="869"/>
                    <a:pt x="4287" y="345"/>
                    <a:pt x="38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4461;p46">
              <a:extLst>
                <a:ext uri="{FF2B5EF4-FFF2-40B4-BE49-F238E27FC236}">
                  <a16:creationId xmlns:a16="http://schemas.microsoft.com/office/drawing/2014/main" id="{2DA262CB-D3BF-41CB-997A-D0EA17F2191F}"/>
                </a:ext>
              </a:extLst>
            </p:cNvPr>
            <p:cNvSpPr/>
            <p:nvPr/>
          </p:nvSpPr>
          <p:spPr>
            <a:xfrm>
              <a:off x="5640125" y="2604550"/>
              <a:ext cx="97650" cy="114325"/>
            </a:xfrm>
            <a:custGeom>
              <a:avLst/>
              <a:gdLst/>
              <a:ahLst/>
              <a:cxnLst/>
              <a:rect l="l" t="t" r="r" b="b"/>
              <a:pathLst>
                <a:path w="3906" h="4573" extrusionOk="0">
                  <a:moveTo>
                    <a:pt x="1886" y="0"/>
                  </a:moveTo>
                  <a:cubicBezTo>
                    <a:pt x="1413" y="0"/>
                    <a:pt x="954" y="190"/>
                    <a:pt x="608" y="525"/>
                  </a:cubicBezTo>
                  <a:cubicBezTo>
                    <a:pt x="215" y="906"/>
                    <a:pt x="0" y="1442"/>
                    <a:pt x="48" y="1989"/>
                  </a:cubicBezTo>
                  <a:lnTo>
                    <a:pt x="96" y="2799"/>
                  </a:lnTo>
                  <a:cubicBezTo>
                    <a:pt x="143" y="3787"/>
                    <a:pt x="953" y="4561"/>
                    <a:pt x="1941" y="4573"/>
                  </a:cubicBezTo>
                  <a:cubicBezTo>
                    <a:pt x="1949" y="4573"/>
                    <a:pt x="1956" y="4573"/>
                    <a:pt x="1964" y="4573"/>
                  </a:cubicBezTo>
                  <a:cubicBezTo>
                    <a:pt x="2942" y="4573"/>
                    <a:pt x="3763" y="3803"/>
                    <a:pt x="3822" y="2823"/>
                  </a:cubicBezTo>
                  <a:lnTo>
                    <a:pt x="3870" y="1989"/>
                  </a:lnTo>
                  <a:cubicBezTo>
                    <a:pt x="3906" y="1465"/>
                    <a:pt x="3727" y="965"/>
                    <a:pt x="3370" y="596"/>
                  </a:cubicBezTo>
                  <a:cubicBezTo>
                    <a:pt x="3025" y="215"/>
                    <a:pt x="2525" y="1"/>
                    <a:pt x="2013" y="1"/>
                  </a:cubicBezTo>
                  <a:lnTo>
                    <a:pt x="1929" y="1"/>
                  </a:lnTo>
                  <a:cubicBezTo>
                    <a:pt x="1915" y="0"/>
                    <a:pt x="1900" y="0"/>
                    <a:pt x="188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4462;p46">
              <a:extLst>
                <a:ext uri="{FF2B5EF4-FFF2-40B4-BE49-F238E27FC236}">
                  <a16:creationId xmlns:a16="http://schemas.microsoft.com/office/drawing/2014/main" id="{4FF53A9A-07AC-41FD-85DA-2A8AB66B7AF2}"/>
                </a:ext>
              </a:extLst>
            </p:cNvPr>
            <p:cNvSpPr/>
            <p:nvPr/>
          </p:nvSpPr>
          <p:spPr>
            <a:xfrm>
              <a:off x="5653225" y="2736125"/>
              <a:ext cx="71750" cy="21750"/>
            </a:xfrm>
            <a:custGeom>
              <a:avLst/>
              <a:gdLst/>
              <a:ahLst/>
              <a:cxnLst/>
              <a:rect l="l" t="t" r="r" b="b"/>
              <a:pathLst>
                <a:path w="2870" h="870" extrusionOk="0">
                  <a:moveTo>
                    <a:pt x="0" y="0"/>
                  </a:moveTo>
                  <a:lnTo>
                    <a:pt x="322" y="369"/>
                  </a:lnTo>
                  <a:cubicBezTo>
                    <a:pt x="619" y="703"/>
                    <a:pt x="1030" y="870"/>
                    <a:pt x="1439" y="870"/>
                  </a:cubicBezTo>
                  <a:cubicBezTo>
                    <a:pt x="1849" y="870"/>
                    <a:pt x="2257" y="703"/>
                    <a:pt x="2548" y="369"/>
                  </a:cubicBezTo>
                  <a:lnTo>
                    <a:pt x="287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4463;p46">
              <a:extLst>
                <a:ext uri="{FF2B5EF4-FFF2-40B4-BE49-F238E27FC236}">
                  <a16:creationId xmlns:a16="http://schemas.microsoft.com/office/drawing/2014/main" id="{F43FF02C-B17D-46F1-85D2-5A5EE11E4B5C}"/>
                </a:ext>
              </a:extLst>
            </p:cNvPr>
            <p:cNvSpPr/>
            <p:nvPr/>
          </p:nvSpPr>
          <p:spPr>
            <a:xfrm>
              <a:off x="5465400" y="2746550"/>
              <a:ext cx="160450" cy="190825"/>
            </a:xfrm>
            <a:custGeom>
              <a:avLst/>
              <a:gdLst/>
              <a:ahLst/>
              <a:cxnLst/>
              <a:rect l="l" t="t" r="r" b="b"/>
              <a:pathLst>
                <a:path w="6418" h="7633" extrusionOk="0">
                  <a:moveTo>
                    <a:pt x="5010" y="2547"/>
                  </a:moveTo>
                  <a:cubicBezTo>
                    <a:pt x="5669" y="2547"/>
                    <a:pt x="5676" y="3561"/>
                    <a:pt x="5011" y="3561"/>
                  </a:cubicBezTo>
                  <a:cubicBezTo>
                    <a:pt x="5000" y="3561"/>
                    <a:pt x="4989" y="3561"/>
                    <a:pt x="4977" y="3560"/>
                  </a:cubicBezTo>
                  <a:lnTo>
                    <a:pt x="4537" y="3560"/>
                  </a:lnTo>
                  <a:cubicBezTo>
                    <a:pt x="4287" y="3560"/>
                    <a:pt x="4072" y="3381"/>
                    <a:pt x="4025" y="3143"/>
                  </a:cubicBezTo>
                  <a:cubicBezTo>
                    <a:pt x="3977" y="2834"/>
                    <a:pt x="4215" y="2548"/>
                    <a:pt x="4525" y="2548"/>
                  </a:cubicBezTo>
                  <a:lnTo>
                    <a:pt x="4965" y="2548"/>
                  </a:lnTo>
                  <a:cubicBezTo>
                    <a:pt x="4981" y="2547"/>
                    <a:pt x="4995" y="2547"/>
                    <a:pt x="5010" y="2547"/>
                  </a:cubicBezTo>
                  <a:close/>
                  <a:moveTo>
                    <a:pt x="703" y="0"/>
                  </a:moveTo>
                  <a:cubicBezTo>
                    <a:pt x="262" y="357"/>
                    <a:pt x="0" y="893"/>
                    <a:pt x="0" y="1453"/>
                  </a:cubicBezTo>
                  <a:lnTo>
                    <a:pt x="0" y="7132"/>
                  </a:lnTo>
                  <a:cubicBezTo>
                    <a:pt x="0" y="7406"/>
                    <a:pt x="227" y="7632"/>
                    <a:pt x="512" y="7632"/>
                  </a:cubicBezTo>
                  <a:lnTo>
                    <a:pt x="5918" y="7632"/>
                  </a:lnTo>
                  <a:cubicBezTo>
                    <a:pt x="6192" y="7632"/>
                    <a:pt x="6418" y="7406"/>
                    <a:pt x="6418" y="7132"/>
                  </a:cubicBezTo>
                  <a:lnTo>
                    <a:pt x="6418" y="1465"/>
                  </a:lnTo>
                  <a:cubicBezTo>
                    <a:pt x="6418" y="893"/>
                    <a:pt x="6168" y="357"/>
                    <a:pt x="5715" y="0"/>
                  </a:cubicBezTo>
                  <a:lnTo>
                    <a:pt x="5192" y="607"/>
                  </a:lnTo>
                  <a:cubicBezTo>
                    <a:pt x="4668" y="1203"/>
                    <a:pt x="3941" y="1500"/>
                    <a:pt x="3215" y="1500"/>
                  </a:cubicBezTo>
                  <a:cubicBezTo>
                    <a:pt x="2489" y="1500"/>
                    <a:pt x="1763" y="1203"/>
                    <a:pt x="1239" y="607"/>
                  </a:cubicBezTo>
                  <a:lnTo>
                    <a:pt x="70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4464;p46">
              <a:extLst>
                <a:ext uri="{FF2B5EF4-FFF2-40B4-BE49-F238E27FC236}">
                  <a16:creationId xmlns:a16="http://schemas.microsoft.com/office/drawing/2014/main" id="{B8004434-951E-4A28-B8A9-D5FF2901556D}"/>
                </a:ext>
              </a:extLst>
            </p:cNvPr>
            <p:cNvSpPr/>
            <p:nvPr/>
          </p:nvSpPr>
          <p:spPr>
            <a:xfrm>
              <a:off x="5492475" y="2592950"/>
              <a:ext cx="106600" cy="123550"/>
            </a:xfrm>
            <a:custGeom>
              <a:avLst/>
              <a:gdLst/>
              <a:ahLst/>
              <a:cxnLst/>
              <a:rect l="l" t="t" r="r" b="b"/>
              <a:pathLst>
                <a:path w="4264" h="4942" extrusionOk="0">
                  <a:moveTo>
                    <a:pt x="2085" y="1"/>
                  </a:moveTo>
                  <a:cubicBezTo>
                    <a:pt x="918" y="1"/>
                    <a:pt x="1" y="977"/>
                    <a:pt x="72" y="2144"/>
                  </a:cubicBezTo>
                  <a:lnTo>
                    <a:pt x="120" y="3037"/>
                  </a:lnTo>
                  <a:cubicBezTo>
                    <a:pt x="191" y="4108"/>
                    <a:pt x="1073" y="4942"/>
                    <a:pt x="2144" y="4942"/>
                  </a:cubicBezTo>
                  <a:cubicBezTo>
                    <a:pt x="3216" y="4942"/>
                    <a:pt x="4097" y="4108"/>
                    <a:pt x="4168" y="3037"/>
                  </a:cubicBezTo>
                  <a:lnTo>
                    <a:pt x="4228" y="2144"/>
                  </a:lnTo>
                  <a:cubicBezTo>
                    <a:pt x="4263" y="1584"/>
                    <a:pt x="4061" y="1048"/>
                    <a:pt x="3680" y="643"/>
                  </a:cubicBezTo>
                  <a:cubicBezTo>
                    <a:pt x="3299" y="227"/>
                    <a:pt x="2763" y="1"/>
                    <a:pt x="22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4465;p46">
              <a:extLst>
                <a:ext uri="{FF2B5EF4-FFF2-40B4-BE49-F238E27FC236}">
                  <a16:creationId xmlns:a16="http://schemas.microsoft.com/office/drawing/2014/main" id="{C6BBD7BE-3E7D-4085-8404-7F15FC6E056B}"/>
                </a:ext>
              </a:extLst>
            </p:cNvPr>
            <p:cNvSpPr/>
            <p:nvPr/>
          </p:nvSpPr>
          <p:spPr>
            <a:xfrm>
              <a:off x="5506775" y="2734625"/>
              <a:ext cx="78600" cy="23775"/>
            </a:xfrm>
            <a:custGeom>
              <a:avLst/>
              <a:gdLst/>
              <a:ahLst/>
              <a:cxnLst/>
              <a:rect l="l" t="t" r="r" b="b"/>
              <a:pathLst>
                <a:path w="3144" h="951" extrusionOk="0">
                  <a:moveTo>
                    <a:pt x="0" y="1"/>
                  </a:moveTo>
                  <a:lnTo>
                    <a:pt x="358" y="406"/>
                  </a:lnTo>
                  <a:cubicBezTo>
                    <a:pt x="679" y="769"/>
                    <a:pt x="1126" y="950"/>
                    <a:pt x="1572" y="950"/>
                  </a:cubicBezTo>
                  <a:cubicBezTo>
                    <a:pt x="2019" y="950"/>
                    <a:pt x="2465" y="769"/>
                    <a:pt x="2787" y="406"/>
                  </a:cubicBezTo>
                  <a:lnTo>
                    <a:pt x="314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273741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 tmFilter="0, 0; .2, .5; .8, .5; 1, 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1" dur="250" autoRev="1" fill="hold"/>
                                        <p:tgtEl>
                                          <p:spTgt spid="2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2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3" grpId="0"/>
      <p:bldP spid="344" grpId="0"/>
      <p:bldP spid="345" grpId="0"/>
      <p:bldP spid="346" grpId="0"/>
      <p:bldP spid="347" grpId="0"/>
      <p:bldP spid="34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>
          <a:extLst>
            <a:ext uri="{FF2B5EF4-FFF2-40B4-BE49-F238E27FC236}">
              <a16:creationId xmlns:a16="http://schemas.microsoft.com/office/drawing/2014/main" id="{9DCCDACA-9F45-29AF-9A9D-211D0BB4C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4">
            <a:extLst>
              <a:ext uri="{FF2B5EF4-FFF2-40B4-BE49-F238E27FC236}">
                <a16:creationId xmlns:a16="http://schemas.microsoft.com/office/drawing/2014/main" id="{3A8DBDAA-EF3F-77C5-95D6-25BA7DBD97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83724" y="1527636"/>
            <a:ext cx="5731347" cy="96572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PROJECT DATA</a:t>
            </a:r>
          </a:p>
        </p:txBody>
      </p:sp>
      <p:sp>
        <p:nvSpPr>
          <p:cNvPr id="331" name="Google Shape;331;p34">
            <a:extLst>
              <a:ext uri="{FF2B5EF4-FFF2-40B4-BE49-F238E27FC236}">
                <a16:creationId xmlns:a16="http://schemas.microsoft.com/office/drawing/2014/main" id="{E5F0C864-6F26-AF8D-3218-9F9A06132189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330" name="Google Shape;330;p34">
            <a:extLst>
              <a:ext uri="{FF2B5EF4-FFF2-40B4-BE49-F238E27FC236}">
                <a16:creationId xmlns:a16="http://schemas.microsoft.com/office/drawing/2014/main" id="{65A307B7-399F-074E-1E8B-D795A2F052F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124750" y="2800190"/>
            <a:ext cx="5806964" cy="5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b="1" dirty="0"/>
              <a:t>Data And Preprocessing</a:t>
            </a:r>
          </a:p>
        </p:txBody>
      </p:sp>
      <p:grpSp>
        <p:nvGrpSpPr>
          <p:cNvPr id="332" name="Google Shape;332;p34">
            <a:extLst>
              <a:ext uri="{FF2B5EF4-FFF2-40B4-BE49-F238E27FC236}">
                <a16:creationId xmlns:a16="http://schemas.microsoft.com/office/drawing/2014/main" id="{9CC5F000-0F9A-AE73-AD54-2D980AB43765}"/>
              </a:ext>
            </a:extLst>
          </p:cNvPr>
          <p:cNvGrpSpPr/>
          <p:nvPr/>
        </p:nvGrpSpPr>
        <p:grpSpPr>
          <a:xfrm>
            <a:off x="7931714" y="398014"/>
            <a:ext cx="281947" cy="1094035"/>
            <a:chOff x="7256520" y="835200"/>
            <a:chExt cx="562320" cy="2181960"/>
          </a:xfrm>
        </p:grpSpPr>
        <p:sp>
          <p:nvSpPr>
            <p:cNvPr id="333" name="Google Shape;333;p34">
              <a:extLst>
                <a:ext uri="{FF2B5EF4-FFF2-40B4-BE49-F238E27FC236}">
                  <a16:creationId xmlns:a16="http://schemas.microsoft.com/office/drawing/2014/main" id="{8E15E6C8-8E7A-7CA0-DCA1-0E3E7A28D8E9}"/>
                </a:ext>
              </a:extLst>
            </p:cNvPr>
            <p:cNvSpPr/>
            <p:nvPr/>
          </p:nvSpPr>
          <p:spPr>
            <a:xfrm>
              <a:off x="7256520" y="2444400"/>
              <a:ext cx="562320" cy="572760"/>
            </a:xfrm>
            <a:custGeom>
              <a:avLst/>
              <a:gdLst/>
              <a:ahLst/>
              <a:cxnLst/>
              <a:rect l="l" t="t" r="r" b="b"/>
              <a:pathLst>
                <a:path w="1562" h="1591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1"/>
                  </a:lnTo>
                  <a:lnTo>
                    <a:pt x="781" y="1096"/>
                  </a:lnTo>
                  <a:lnTo>
                    <a:pt x="1267" y="1591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34">
              <a:extLst>
                <a:ext uri="{FF2B5EF4-FFF2-40B4-BE49-F238E27FC236}">
                  <a16:creationId xmlns:a16="http://schemas.microsoft.com/office/drawing/2014/main" id="{C71DC892-A64E-06DB-AC3A-B1714BFF19FE}"/>
                </a:ext>
              </a:extLst>
            </p:cNvPr>
            <p:cNvSpPr/>
            <p:nvPr/>
          </p:nvSpPr>
          <p:spPr>
            <a:xfrm>
              <a:off x="7256520" y="1639800"/>
              <a:ext cx="562320" cy="573120"/>
            </a:xfrm>
            <a:custGeom>
              <a:avLst/>
              <a:gdLst/>
              <a:ahLst/>
              <a:cxnLst/>
              <a:rect l="l" t="t" r="r" b="b"/>
              <a:pathLst>
                <a:path w="1562" h="1592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2"/>
                  </a:lnTo>
                  <a:lnTo>
                    <a:pt x="781" y="1097"/>
                  </a:lnTo>
                  <a:lnTo>
                    <a:pt x="1267" y="1592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34">
              <a:extLst>
                <a:ext uri="{FF2B5EF4-FFF2-40B4-BE49-F238E27FC236}">
                  <a16:creationId xmlns:a16="http://schemas.microsoft.com/office/drawing/2014/main" id="{B6F26EB9-4813-7ABC-9FE0-51AB86C1C196}"/>
                </a:ext>
              </a:extLst>
            </p:cNvPr>
            <p:cNvSpPr/>
            <p:nvPr/>
          </p:nvSpPr>
          <p:spPr>
            <a:xfrm>
              <a:off x="7256520" y="835200"/>
              <a:ext cx="562320" cy="573120"/>
            </a:xfrm>
            <a:custGeom>
              <a:avLst/>
              <a:gdLst/>
              <a:ahLst/>
              <a:cxnLst/>
              <a:rect l="l" t="t" r="r" b="b"/>
              <a:pathLst>
                <a:path w="1562" h="1592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2"/>
                  </a:lnTo>
                  <a:lnTo>
                    <a:pt x="781" y="1097"/>
                  </a:lnTo>
                  <a:lnTo>
                    <a:pt x="1267" y="1592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5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36" name="Google Shape;336;p34">
            <a:extLst>
              <a:ext uri="{FF2B5EF4-FFF2-40B4-BE49-F238E27FC236}">
                <a16:creationId xmlns:a16="http://schemas.microsoft.com/office/drawing/2014/main" id="{25F75A02-0DF6-BA51-D7EF-D5B716669FD7}"/>
              </a:ext>
            </a:extLst>
          </p:cNvPr>
          <p:cNvCxnSpPr/>
          <p:nvPr/>
        </p:nvCxnSpPr>
        <p:spPr>
          <a:xfrm rot="10800000">
            <a:off x="2124700" y="2598750"/>
            <a:ext cx="65568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258738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3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3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3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>
          <a:extLst>
            <a:ext uri="{FF2B5EF4-FFF2-40B4-BE49-F238E27FC236}">
              <a16:creationId xmlns:a16="http://schemas.microsoft.com/office/drawing/2014/main" id="{CABDF6C5-A4FD-506B-9678-FE5D9C39B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E17670B-6F68-6BCD-B32B-49CF16003A4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20000" y="1225474"/>
            <a:ext cx="8050620" cy="3000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1800" b="1" dirty="0"/>
              <a:t>Sources:</a:t>
            </a:r>
            <a:r>
              <a:rPr lang="en-US" sz="1800" dirty="0"/>
              <a:t> Automated Web Scraping (Python) from “</a:t>
            </a:r>
            <a:r>
              <a:rPr lang="en-US" sz="1800" i="1" dirty="0" err="1"/>
              <a:t>Yallakora</a:t>
            </a:r>
            <a:r>
              <a:rPr lang="en-US" sz="1800" i="1" dirty="0"/>
              <a:t>”</a:t>
            </a:r>
            <a:r>
              <a:rPr lang="en-US" sz="1800" dirty="0"/>
              <a:t> &amp; “</a:t>
            </a:r>
            <a:r>
              <a:rPr lang="en-US" sz="1800" i="1" dirty="0" err="1"/>
              <a:t>Transfermarkt</a:t>
            </a:r>
            <a:r>
              <a:rPr lang="en-US" sz="1800" i="1" dirty="0"/>
              <a:t>”, </a:t>
            </a:r>
            <a:r>
              <a:rPr lang="en-US" sz="1800" dirty="0"/>
              <a:t>with additional data manually collected from articles. </a:t>
            </a:r>
            <a:r>
              <a:rPr lang="en-US" sz="1800" b="1" dirty="0"/>
              <a:t>Why?</a:t>
            </a:r>
            <a:r>
              <a:rPr lang="en-US" sz="1800" dirty="0"/>
              <a:t> To ensure real-time accuracy and consistency with official records.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1800" b="1" dirty="0"/>
              <a:t>Integration:</a:t>
            </a:r>
            <a:r>
              <a:rPr lang="en-US" sz="1800" dirty="0"/>
              <a:t> Exported data into spreadsheets for data processing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1800" b="1" dirty="0"/>
              <a:t>Historical Benchmarking:</a:t>
            </a:r>
            <a:r>
              <a:rPr lang="en-US" sz="1800" dirty="0"/>
              <a:t> Collected past season data to measure improvements and efficiency.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M Sans" pitchFamily="2" charset="0"/>
            </a:endParaRPr>
          </a:p>
        </p:txBody>
      </p:sp>
      <p:sp>
        <p:nvSpPr>
          <p:cNvPr id="314" name="Google Shape;314;p32">
            <a:extLst>
              <a:ext uri="{FF2B5EF4-FFF2-40B4-BE49-F238E27FC236}">
                <a16:creationId xmlns:a16="http://schemas.microsoft.com/office/drawing/2014/main" id="{76102112-74AE-84C0-BC35-2FFC730E9F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Data Collection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10125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8"/>
          <p:cNvSpPr txBox="1">
            <a:spLocks noGrp="1"/>
          </p:cNvSpPr>
          <p:nvPr>
            <p:ph type="title"/>
          </p:nvPr>
        </p:nvSpPr>
        <p:spPr>
          <a:xfrm>
            <a:off x="246451" y="43296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Data Architecture</a:t>
            </a:r>
            <a:endParaRPr dirty="0"/>
          </a:p>
        </p:txBody>
      </p:sp>
      <p:sp>
        <p:nvSpPr>
          <p:cNvPr id="418" name="Google Shape;418;p38"/>
          <p:cNvSpPr txBox="1">
            <a:spLocks noGrp="1"/>
          </p:cNvSpPr>
          <p:nvPr>
            <p:ph type="subTitle" idx="1"/>
          </p:nvPr>
        </p:nvSpPr>
        <p:spPr>
          <a:xfrm>
            <a:off x="304942" y="1962620"/>
            <a:ext cx="2100000" cy="6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Administrative details &amp; Home venues</a:t>
            </a:r>
            <a:endParaRPr dirty="0"/>
          </a:p>
        </p:txBody>
      </p:sp>
      <p:sp>
        <p:nvSpPr>
          <p:cNvPr id="415" name="Google Shape;415;p38"/>
          <p:cNvSpPr txBox="1">
            <a:spLocks noGrp="1"/>
          </p:cNvSpPr>
          <p:nvPr>
            <p:ph type="subTitle" idx="2"/>
          </p:nvPr>
        </p:nvSpPr>
        <p:spPr>
          <a:xfrm>
            <a:off x="2991688" y="1933883"/>
            <a:ext cx="2100000" cy="6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Locations, Capacities &amp; Floodlight availability</a:t>
            </a:r>
            <a:endParaRPr dirty="0"/>
          </a:p>
        </p:txBody>
      </p:sp>
      <p:sp>
        <p:nvSpPr>
          <p:cNvPr id="419" name="Google Shape;419;p38"/>
          <p:cNvSpPr txBox="1">
            <a:spLocks noGrp="1"/>
          </p:cNvSpPr>
          <p:nvPr>
            <p:ph type="subTitle" idx="3"/>
          </p:nvPr>
        </p:nvSpPr>
        <p:spPr>
          <a:xfrm>
            <a:off x="534357" y="3373550"/>
            <a:ext cx="2100000" cy="6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A rigid list of Forbidden Matchups &amp; Forced Venues</a:t>
            </a:r>
            <a:endParaRPr dirty="0"/>
          </a:p>
        </p:txBody>
      </p:sp>
      <p:sp>
        <p:nvSpPr>
          <p:cNvPr id="420" name="Google Shape;420;p38"/>
          <p:cNvSpPr txBox="1">
            <a:spLocks noGrp="1"/>
          </p:cNvSpPr>
          <p:nvPr>
            <p:ph type="subTitle" idx="4"/>
          </p:nvPr>
        </p:nvSpPr>
        <p:spPr>
          <a:xfrm>
            <a:off x="3433789" y="3631457"/>
            <a:ext cx="2100000" cy="6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CAF Schedules &amp; Travel Buffers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FIFA Days</a:t>
            </a:r>
            <a:endParaRPr dirty="0"/>
          </a:p>
        </p:txBody>
      </p:sp>
      <p:sp>
        <p:nvSpPr>
          <p:cNvPr id="416" name="Google Shape;416;p38"/>
          <p:cNvSpPr txBox="1">
            <a:spLocks noGrp="1"/>
          </p:cNvSpPr>
          <p:nvPr>
            <p:ph type="subTitle" idx="5"/>
          </p:nvPr>
        </p:nvSpPr>
        <p:spPr>
          <a:xfrm>
            <a:off x="5689060" y="1976183"/>
            <a:ext cx="2100000" cy="6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Every available "Slot" (Date + Time)</a:t>
            </a:r>
            <a:endParaRPr dirty="0"/>
          </a:p>
        </p:txBody>
      </p:sp>
      <p:sp>
        <p:nvSpPr>
          <p:cNvPr id="421" name="Google Shape;421;p38"/>
          <p:cNvSpPr txBox="1">
            <a:spLocks noGrp="1"/>
          </p:cNvSpPr>
          <p:nvPr>
            <p:ph type="subTitle" idx="6"/>
          </p:nvPr>
        </p:nvSpPr>
        <p:spPr>
          <a:xfrm>
            <a:off x="6073514" y="3373550"/>
            <a:ext cx="2100000" cy="6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KM distance between every 2 nodes on a network (for travel costs)</a:t>
            </a:r>
            <a:endParaRPr dirty="0"/>
          </a:p>
        </p:txBody>
      </p:sp>
      <p:sp>
        <p:nvSpPr>
          <p:cNvPr id="422" name="Google Shape;422;p38"/>
          <p:cNvSpPr txBox="1">
            <a:spLocks noGrp="1"/>
          </p:cNvSpPr>
          <p:nvPr>
            <p:ph type="subTitle" idx="7"/>
          </p:nvPr>
        </p:nvSpPr>
        <p:spPr>
          <a:xfrm>
            <a:off x="534357" y="1623225"/>
            <a:ext cx="2100000" cy="42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Teams</a:t>
            </a:r>
            <a:endParaRPr dirty="0"/>
          </a:p>
        </p:txBody>
      </p:sp>
      <p:sp>
        <p:nvSpPr>
          <p:cNvPr id="423" name="Google Shape;423;p38"/>
          <p:cNvSpPr txBox="1">
            <a:spLocks noGrp="1"/>
          </p:cNvSpPr>
          <p:nvPr>
            <p:ph type="subTitle" idx="8"/>
          </p:nvPr>
        </p:nvSpPr>
        <p:spPr>
          <a:xfrm>
            <a:off x="3433789" y="1640250"/>
            <a:ext cx="2100000" cy="42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Stadiums</a:t>
            </a:r>
            <a:endParaRPr dirty="0"/>
          </a:p>
        </p:txBody>
      </p:sp>
      <p:sp>
        <p:nvSpPr>
          <p:cNvPr id="424" name="Google Shape;424;p38"/>
          <p:cNvSpPr txBox="1">
            <a:spLocks noGrp="1"/>
          </p:cNvSpPr>
          <p:nvPr>
            <p:ph type="subTitle" idx="9"/>
          </p:nvPr>
        </p:nvSpPr>
        <p:spPr>
          <a:xfrm>
            <a:off x="534356" y="3007025"/>
            <a:ext cx="2513195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Security Matrix</a:t>
            </a:r>
            <a:endParaRPr dirty="0"/>
          </a:p>
        </p:txBody>
      </p:sp>
      <p:sp>
        <p:nvSpPr>
          <p:cNvPr id="425" name="Google Shape;425;p38"/>
          <p:cNvSpPr txBox="1">
            <a:spLocks noGrp="1"/>
          </p:cNvSpPr>
          <p:nvPr>
            <p:ph type="subTitle" idx="13"/>
          </p:nvPr>
        </p:nvSpPr>
        <p:spPr>
          <a:xfrm>
            <a:off x="3433789" y="3364468"/>
            <a:ext cx="2019160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Continental Blockers</a:t>
            </a:r>
            <a:endParaRPr dirty="0"/>
          </a:p>
        </p:txBody>
      </p:sp>
      <p:sp>
        <p:nvSpPr>
          <p:cNvPr id="426" name="Google Shape;426;p38"/>
          <p:cNvSpPr txBox="1">
            <a:spLocks noGrp="1"/>
          </p:cNvSpPr>
          <p:nvPr>
            <p:ph type="subTitle" idx="14"/>
          </p:nvPr>
        </p:nvSpPr>
        <p:spPr>
          <a:xfrm>
            <a:off x="6073513" y="1640250"/>
            <a:ext cx="2100000" cy="42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Calendar</a:t>
            </a:r>
            <a:endParaRPr dirty="0"/>
          </a:p>
        </p:txBody>
      </p:sp>
      <p:sp>
        <p:nvSpPr>
          <p:cNvPr id="427" name="Google Shape;427;p38"/>
          <p:cNvSpPr txBox="1">
            <a:spLocks noGrp="1"/>
          </p:cNvSpPr>
          <p:nvPr>
            <p:ph type="subTitle" idx="15"/>
          </p:nvPr>
        </p:nvSpPr>
        <p:spPr>
          <a:xfrm>
            <a:off x="6073513" y="3024050"/>
            <a:ext cx="2655110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Distance Matrix</a:t>
            </a:r>
            <a:endParaRPr dirty="0"/>
          </a:p>
        </p:txBody>
      </p:sp>
      <p:grpSp>
        <p:nvGrpSpPr>
          <p:cNvPr id="2" name="Google Shape;4456;p46">
            <a:extLst>
              <a:ext uri="{FF2B5EF4-FFF2-40B4-BE49-F238E27FC236}">
                <a16:creationId xmlns:a16="http://schemas.microsoft.com/office/drawing/2014/main" id="{1FE87179-CA38-070E-6054-1FBCF0821248}"/>
              </a:ext>
            </a:extLst>
          </p:cNvPr>
          <p:cNvGrpSpPr/>
          <p:nvPr/>
        </p:nvGrpSpPr>
        <p:grpSpPr>
          <a:xfrm>
            <a:off x="187203" y="1623225"/>
            <a:ext cx="347153" cy="275615"/>
            <a:chOff x="5328475" y="2592950"/>
            <a:chExt cx="435200" cy="344425"/>
          </a:xfrm>
        </p:grpSpPr>
        <p:sp>
          <p:nvSpPr>
            <p:cNvPr id="3" name="Google Shape;4457;p46">
              <a:extLst>
                <a:ext uri="{FF2B5EF4-FFF2-40B4-BE49-F238E27FC236}">
                  <a16:creationId xmlns:a16="http://schemas.microsoft.com/office/drawing/2014/main" id="{367E5785-DC27-7B1C-9E9D-F6E3CACC9360}"/>
                </a:ext>
              </a:extLst>
            </p:cNvPr>
            <p:cNvSpPr/>
            <p:nvPr/>
          </p:nvSpPr>
          <p:spPr>
            <a:xfrm>
              <a:off x="5328475" y="2749225"/>
              <a:ext cx="113425" cy="176525"/>
            </a:xfrm>
            <a:custGeom>
              <a:avLst/>
              <a:gdLst/>
              <a:ahLst/>
              <a:cxnLst/>
              <a:rect l="l" t="t" r="r" b="b"/>
              <a:pathLst>
                <a:path w="4537" h="7061" extrusionOk="0">
                  <a:moveTo>
                    <a:pt x="667" y="0"/>
                  </a:moveTo>
                  <a:cubicBezTo>
                    <a:pt x="251" y="357"/>
                    <a:pt x="1" y="881"/>
                    <a:pt x="1" y="1429"/>
                  </a:cubicBezTo>
                  <a:lnTo>
                    <a:pt x="1" y="6549"/>
                  </a:lnTo>
                  <a:cubicBezTo>
                    <a:pt x="1" y="6823"/>
                    <a:pt x="227" y="7061"/>
                    <a:pt x="513" y="7061"/>
                  </a:cubicBezTo>
                  <a:lnTo>
                    <a:pt x="4489" y="7061"/>
                  </a:lnTo>
                  <a:lnTo>
                    <a:pt x="4489" y="3286"/>
                  </a:lnTo>
                  <a:lnTo>
                    <a:pt x="4227" y="3286"/>
                  </a:lnTo>
                  <a:cubicBezTo>
                    <a:pt x="3549" y="3286"/>
                    <a:pt x="3537" y="2274"/>
                    <a:pt x="4215" y="2262"/>
                  </a:cubicBezTo>
                  <a:lnTo>
                    <a:pt x="4501" y="2262"/>
                  </a:lnTo>
                  <a:lnTo>
                    <a:pt x="4501" y="1322"/>
                  </a:lnTo>
                  <a:cubicBezTo>
                    <a:pt x="4501" y="1155"/>
                    <a:pt x="4513" y="988"/>
                    <a:pt x="4537" y="822"/>
                  </a:cubicBezTo>
                  <a:lnTo>
                    <a:pt x="4537" y="822"/>
                  </a:lnTo>
                  <a:cubicBezTo>
                    <a:pt x="4085" y="1180"/>
                    <a:pt x="3542" y="1355"/>
                    <a:pt x="3001" y="1355"/>
                  </a:cubicBezTo>
                  <a:cubicBezTo>
                    <a:pt x="2303" y="1355"/>
                    <a:pt x="1610" y="1064"/>
                    <a:pt x="1120" y="500"/>
                  </a:cubicBezTo>
                  <a:lnTo>
                    <a:pt x="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4458;p46">
              <a:extLst>
                <a:ext uri="{FF2B5EF4-FFF2-40B4-BE49-F238E27FC236}">
                  <a16:creationId xmlns:a16="http://schemas.microsoft.com/office/drawing/2014/main" id="{E7CB1FC0-CDEC-292E-EF92-B258BD2180E5}"/>
                </a:ext>
              </a:extLst>
            </p:cNvPr>
            <p:cNvSpPr/>
            <p:nvPr/>
          </p:nvSpPr>
          <p:spPr>
            <a:xfrm>
              <a:off x="5353475" y="2604550"/>
              <a:ext cx="98550" cy="113450"/>
            </a:xfrm>
            <a:custGeom>
              <a:avLst/>
              <a:gdLst/>
              <a:ahLst/>
              <a:cxnLst/>
              <a:rect l="l" t="t" r="r" b="b"/>
              <a:pathLst>
                <a:path w="3942" h="4538" extrusionOk="0">
                  <a:moveTo>
                    <a:pt x="1941" y="1"/>
                  </a:moveTo>
                  <a:cubicBezTo>
                    <a:pt x="858" y="1"/>
                    <a:pt x="1" y="918"/>
                    <a:pt x="72" y="1989"/>
                  </a:cubicBezTo>
                  <a:lnTo>
                    <a:pt x="120" y="2835"/>
                  </a:lnTo>
                  <a:cubicBezTo>
                    <a:pt x="215" y="3799"/>
                    <a:pt x="1013" y="4537"/>
                    <a:pt x="1989" y="4537"/>
                  </a:cubicBezTo>
                  <a:cubicBezTo>
                    <a:pt x="2953" y="4537"/>
                    <a:pt x="3763" y="3799"/>
                    <a:pt x="3846" y="2835"/>
                  </a:cubicBezTo>
                  <a:lnTo>
                    <a:pt x="3894" y="1989"/>
                  </a:lnTo>
                  <a:cubicBezTo>
                    <a:pt x="3942" y="1442"/>
                    <a:pt x="3727" y="918"/>
                    <a:pt x="3346" y="537"/>
                  </a:cubicBezTo>
                  <a:cubicBezTo>
                    <a:pt x="2989" y="191"/>
                    <a:pt x="2513" y="1"/>
                    <a:pt x="201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4459;p46">
              <a:extLst>
                <a:ext uri="{FF2B5EF4-FFF2-40B4-BE49-F238E27FC236}">
                  <a16:creationId xmlns:a16="http://schemas.microsoft.com/office/drawing/2014/main" id="{EB716184-0F8B-8936-DA47-EEB038F16D91}"/>
                </a:ext>
              </a:extLst>
            </p:cNvPr>
            <p:cNvSpPr/>
            <p:nvPr/>
          </p:nvSpPr>
          <p:spPr>
            <a:xfrm>
              <a:off x="5367475" y="2736125"/>
              <a:ext cx="71750" cy="21750"/>
            </a:xfrm>
            <a:custGeom>
              <a:avLst/>
              <a:gdLst/>
              <a:ahLst/>
              <a:cxnLst/>
              <a:rect l="l" t="t" r="r" b="b"/>
              <a:pathLst>
                <a:path w="2870" h="870" extrusionOk="0">
                  <a:moveTo>
                    <a:pt x="0" y="0"/>
                  </a:moveTo>
                  <a:lnTo>
                    <a:pt x="310" y="369"/>
                  </a:lnTo>
                  <a:cubicBezTo>
                    <a:pt x="608" y="703"/>
                    <a:pt x="1018" y="870"/>
                    <a:pt x="1429" y="870"/>
                  </a:cubicBezTo>
                  <a:cubicBezTo>
                    <a:pt x="1840" y="870"/>
                    <a:pt x="2251" y="703"/>
                    <a:pt x="2548" y="369"/>
                  </a:cubicBezTo>
                  <a:lnTo>
                    <a:pt x="287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4460;p46">
              <a:extLst>
                <a:ext uri="{FF2B5EF4-FFF2-40B4-BE49-F238E27FC236}">
                  <a16:creationId xmlns:a16="http://schemas.microsoft.com/office/drawing/2014/main" id="{16C3D951-26D8-E6E1-33AB-39D76C55FFDE}"/>
                </a:ext>
              </a:extLst>
            </p:cNvPr>
            <p:cNvSpPr/>
            <p:nvPr/>
          </p:nvSpPr>
          <p:spPr>
            <a:xfrm>
              <a:off x="5650250" y="2749825"/>
              <a:ext cx="113425" cy="175925"/>
            </a:xfrm>
            <a:custGeom>
              <a:avLst/>
              <a:gdLst/>
              <a:ahLst/>
              <a:cxnLst/>
              <a:rect l="l" t="t" r="r" b="b"/>
              <a:pathLst>
                <a:path w="4537" h="7037" extrusionOk="0">
                  <a:moveTo>
                    <a:pt x="3179" y="2238"/>
                  </a:moveTo>
                  <a:cubicBezTo>
                    <a:pt x="3429" y="2238"/>
                    <a:pt x="3644" y="2417"/>
                    <a:pt x="3691" y="2655"/>
                  </a:cubicBezTo>
                  <a:cubicBezTo>
                    <a:pt x="3751" y="2977"/>
                    <a:pt x="3513" y="3262"/>
                    <a:pt x="3191" y="3262"/>
                  </a:cubicBezTo>
                  <a:lnTo>
                    <a:pt x="2786" y="3262"/>
                  </a:lnTo>
                  <a:cubicBezTo>
                    <a:pt x="2108" y="3262"/>
                    <a:pt x="2096" y="2250"/>
                    <a:pt x="2774" y="2238"/>
                  </a:cubicBezTo>
                  <a:close/>
                  <a:moveTo>
                    <a:pt x="3870" y="0"/>
                  </a:moveTo>
                  <a:lnTo>
                    <a:pt x="3417" y="500"/>
                  </a:lnTo>
                  <a:cubicBezTo>
                    <a:pt x="2922" y="1056"/>
                    <a:pt x="2231" y="1344"/>
                    <a:pt x="1537" y="1344"/>
                  </a:cubicBezTo>
                  <a:cubicBezTo>
                    <a:pt x="996" y="1344"/>
                    <a:pt x="454" y="1169"/>
                    <a:pt x="0" y="810"/>
                  </a:cubicBezTo>
                  <a:lnTo>
                    <a:pt x="0" y="810"/>
                  </a:lnTo>
                  <a:cubicBezTo>
                    <a:pt x="24" y="976"/>
                    <a:pt x="36" y="1143"/>
                    <a:pt x="36" y="1322"/>
                  </a:cubicBezTo>
                  <a:lnTo>
                    <a:pt x="36" y="7037"/>
                  </a:lnTo>
                  <a:lnTo>
                    <a:pt x="4025" y="7037"/>
                  </a:lnTo>
                  <a:cubicBezTo>
                    <a:pt x="4298" y="7037"/>
                    <a:pt x="4537" y="6799"/>
                    <a:pt x="4537" y="6525"/>
                  </a:cubicBezTo>
                  <a:lnTo>
                    <a:pt x="4537" y="1417"/>
                  </a:lnTo>
                  <a:cubicBezTo>
                    <a:pt x="4525" y="869"/>
                    <a:pt x="4287" y="345"/>
                    <a:pt x="38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4461;p46">
              <a:extLst>
                <a:ext uri="{FF2B5EF4-FFF2-40B4-BE49-F238E27FC236}">
                  <a16:creationId xmlns:a16="http://schemas.microsoft.com/office/drawing/2014/main" id="{46E0AF0B-C377-2D79-D1C6-9AC071B24016}"/>
                </a:ext>
              </a:extLst>
            </p:cNvPr>
            <p:cNvSpPr/>
            <p:nvPr/>
          </p:nvSpPr>
          <p:spPr>
            <a:xfrm>
              <a:off x="5640125" y="2604550"/>
              <a:ext cx="97650" cy="114325"/>
            </a:xfrm>
            <a:custGeom>
              <a:avLst/>
              <a:gdLst/>
              <a:ahLst/>
              <a:cxnLst/>
              <a:rect l="l" t="t" r="r" b="b"/>
              <a:pathLst>
                <a:path w="3906" h="4573" extrusionOk="0">
                  <a:moveTo>
                    <a:pt x="1886" y="0"/>
                  </a:moveTo>
                  <a:cubicBezTo>
                    <a:pt x="1413" y="0"/>
                    <a:pt x="954" y="190"/>
                    <a:pt x="608" y="525"/>
                  </a:cubicBezTo>
                  <a:cubicBezTo>
                    <a:pt x="215" y="906"/>
                    <a:pt x="0" y="1442"/>
                    <a:pt x="48" y="1989"/>
                  </a:cubicBezTo>
                  <a:lnTo>
                    <a:pt x="96" y="2799"/>
                  </a:lnTo>
                  <a:cubicBezTo>
                    <a:pt x="143" y="3787"/>
                    <a:pt x="953" y="4561"/>
                    <a:pt x="1941" y="4573"/>
                  </a:cubicBezTo>
                  <a:cubicBezTo>
                    <a:pt x="1949" y="4573"/>
                    <a:pt x="1956" y="4573"/>
                    <a:pt x="1964" y="4573"/>
                  </a:cubicBezTo>
                  <a:cubicBezTo>
                    <a:pt x="2942" y="4573"/>
                    <a:pt x="3763" y="3803"/>
                    <a:pt x="3822" y="2823"/>
                  </a:cubicBezTo>
                  <a:lnTo>
                    <a:pt x="3870" y="1989"/>
                  </a:lnTo>
                  <a:cubicBezTo>
                    <a:pt x="3906" y="1465"/>
                    <a:pt x="3727" y="965"/>
                    <a:pt x="3370" y="596"/>
                  </a:cubicBezTo>
                  <a:cubicBezTo>
                    <a:pt x="3025" y="215"/>
                    <a:pt x="2525" y="1"/>
                    <a:pt x="2013" y="1"/>
                  </a:cubicBezTo>
                  <a:lnTo>
                    <a:pt x="1929" y="1"/>
                  </a:lnTo>
                  <a:cubicBezTo>
                    <a:pt x="1915" y="0"/>
                    <a:pt x="1900" y="0"/>
                    <a:pt x="188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4462;p46">
              <a:extLst>
                <a:ext uri="{FF2B5EF4-FFF2-40B4-BE49-F238E27FC236}">
                  <a16:creationId xmlns:a16="http://schemas.microsoft.com/office/drawing/2014/main" id="{AB22D7BA-BFB7-D7B4-F41F-2F0F0C3F85FE}"/>
                </a:ext>
              </a:extLst>
            </p:cNvPr>
            <p:cNvSpPr/>
            <p:nvPr/>
          </p:nvSpPr>
          <p:spPr>
            <a:xfrm>
              <a:off x="5653225" y="2736125"/>
              <a:ext cx="71750" cy="21750"/>
            </a:xfrm>
            <a:custGeom>
              <a:avLst/>
              <a:gdLst/>
              <a:ahLst/>
              <a:cxnLst/>
              <a:rect l="l" t="t" r="r" b="b"/>
              <a:pathLst>
                <a:path w="2870" h="870" extrusionOk="0">
                  <a:moveTo>
                    <a:pt x="0" y="0"/>
                  </a:moveTo>
                  <a:lnTo>
                    <a:pt x="322" y="369"/>
                  </a:lnTo>
                  <a:cubicBezTo>
                    <a:pt x="619" y="703"/>
                    <a:pt x="1030" y="870"/>
                    <a:pt x="1439" y="870"/>
                  </a:cubicBezTo>
                  <a:cubicBezTo>
                    <a:pt x="1849" y="870"/>
                    <a:pt x="2257" y="703"/>
                    <a:pt x="2548" y="369"/>
                  </a:cubicBezTo>
                  <a:lnTo>
                    <a:pt x="287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4463;p46">
              <a:extLst>
                <a:ext uri="{FF2B5EF4-FFF2-40B4-BE49-F238E27FC236}">
                  <a16:creationId xmlns:a16="http://schemas.microsoft.com/office/drawing/2014/main" id="{E26CF097-B888-5139-9A05-4829B13E7AE1}"/>
                </a:ext>
              </a:extLst>
            </p:cNvPr>
            <p:cNvSpPr/>
            <p:nvPr/>
          </p:nvSpPr>
          <p:spPr>
            <a:xfrm>
              <a:off x="5465400" y="2746550"/>
              <a:ext cx="160450" cy="190825"/>
            </a:xfrm>
            <a:custGeom>
              <a:avLst/>
              <a:gdLst/>
              <a:ahLst/>
              <a:cxnLst/>
              <a:rect l="l" t="t" r="r" b="b"/>
              <a:pathLst>
                <a:path w="6418" h="7633" extrusionOk="0">
                  <a:moveTo>
                    <a:pt x="5010" y="2547"/>
                  </a:moveTo>
                  <a:cubicBezTo>
                    <a:pt x="5669" y="2547"/>
                    <a:pt x="5676" y="3561"/>
                    <a:pt x="5011" y="3561"/>
                  </a:cubicBezTo>
                  <a:cubicBezTo>
                    <a:pt x="5000" y="3561"/>
                    <a:pt x="4989" y="3561"/>
                    <a:pt x="4977" y="3560"/>
                  </a:cubicBezTo>
                  <a:lnTo>
                    <a:pt x="4537" y="3560"/>
                  </a:lnTo>
                  <a:cubicBezTo>
                    <a:pt x="4287" y="3560"/>
                    <a:pt x="4072" y="3381"/>
                    <a:pt x="4025" y="3143"/>
                  </a:cubicBezTo>
                  <a:cubicBezTo>
                    <a:pt x="3977" y="2834"/>
                    <a:pt x="4215" y="2548"/>
                    <a:pt x="4525" y="2548"/>
                  </a:cubicBezTo>
                  <a:lnTo>
                    <a:pt x="4965" y="2548"/>
                  </a:lnTo>
                  <a:cubicBezTo>
                    <a:pt x="4981" y="2547"/>
                    <a:pt x="4995" y="2547"/>
                    <a:pt x="5010" y="2547"/>
                  </a:cubicBezTo>
                  <a:close/>
                  <a:moveTo>
                    <a:pt x="703" y="0"/>
                  </a:moveTo>
                  <a:cubicBezTo>
                    <a:pt x="262" y="357"/>
                    <a:pt x="0" y="893"/>
                    <a:pt x="0" y="1453"/>
                  </a:cubicBezTo>
                  <a:lnTo>
                    <a:pt x="0" y="7132"/>
                  </a:lnTo>
                  <a:cubicBezTo>
                    <a:pt x="0" y="7406"/>
                    <a:pt x="227" y="7632"/>
                    <a:pt x="512" y="7632"/>
                  </a:cubicBezTo>
                  <a:lnTo>
                    <a:pt x="5918" y="7632"/>
                  </a:lnTo>
                  <a:cubicBezTo>
                    <a:pt x="6192" y="7632"/>
                    <a:pt x="6418" y="7406"/>
                    <a:pt x="6418" y="7132"/>
                  </a:cubicBezTo>
                  <a:lnTo>
                    <a:pt x="6418" y="1465"/>
                  </a:lnTo>
                  <a:cubicBezTo>
                    <a:pt x="6418" y="893"/>
                    <a:pt x="6168" y="357"/>
                    <a:pt x="5715" y="0"/>
                  </a:cubicBezTo>
                  <a:lnTo>
                    <a:pt x="5192" y="607"/>
                  </a:lnTo>
                  <a:cubicBezTo>
                    <a:pt x="4668" y="1203"/>
                    <a:pt x="3941" y="1500"/>
                    <a:pt x="3215" y="1500"/>
                  </a:cubicBezTo>
                  <a:cubicBezTo>
                    <a:pt x="2489" y="1500"/>
                    <a:pt x="1763" y="1203"/>
                    <a:pt x="1239" y="607"/>
                  </a:cubicBezTo>
                  <a:lnTo>
                    <a:pt x="70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4464;p46">
              <a:extLst>
                <a:ext uri="{FF2B5EF4-FFF2-40B4-BE49-F238E27FC236}">
                  <a16:creationId xmlns:a16="http://schemas.microsoft.com/office/drawing/2014/main" id="{495B49AF-C2CA-41AA-5ADC-08F4720033A7}"/>
                </a:ext>
              </a:extLst>
            </p:cNvPr>
            <p:cNvSpPr/>
            <p:nvPr/>
          </p:nvSpPr>
          <p:spPr>
            <a:xfrm>
              <a:off x="5492475" y="2592950"/>
              <a:ext cx="106600" cy="123550"/>
            </a:xfrm>
            <a:custGeom>
              <a:avLst/>
              <a:gdLst/>
              <a:ahLst/>
              <a:cxnLst/>
              <a:rect l="l" t="t" r="r" b="b"/>
              <a:pathLst>
                <a:path w="4264" h="4942" extrusionOk="0">
                  <a:moveTo>
                    <a:pt x="2085" y="1"/>
                  </a:moveTo>
                  <a:cubicBezTo>
                    <a:pt x="918" y="1"/>
                    <a:pt x="1" y="977"/>
                    <a:pt x="72" y="2144"/>
                  </a:cubicBezTo>
                  <a:lnTo>
                    <a:pt x="120" y="3037"/>
                  </a:lnTo>
                  <a:cubicBezTo>
                    <a:pt x="191" y="4108"/>
                    <a:pt x="1073" y="4942"/>
                    <a:pt x="2144" y="4942"/>
                  </a:cubicBezTo>
                  <a:cubicBezTo>
                    <a:pt x="3216" y="4942"/>
                    <a:pt x="4097" y="4108"/>
                    <a:pt x="4168" y="3037"/>
                  </a:cubicBezTo>
                  <a:lnTo>
                    <a:pt x="4228" y="2144"/>
                  </a:lnTo>
                  <a:cubicBezTo>
                    <a:pt x="4263" y="1584"/>
                    <a:pt x="4061" y="1048"/>
                    <a:pt x="3680" y="643"/>
                  </a:cubicBezTo>
                  <a:cubicBezTo>
                    <a:pt x="3299" y="227"/>
                    <a:pt x="2763" y="1"/>
                    <a:pt x="22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4465;p46">
              <a:extLst>
                <a:ext uri="{FF2B5EF4-FFF2-40B4-BE49-F238E27FC236}">
                  <a16:creationId xmlns:a16="http://schemas.microsoft.com/office/drawing/2014/main" id="{9C2AE427-7664-0BE9-0486-246084718F5E}"/>
                </a:ext>
              </a:extLst>
            </p:cNvPr>
            <p:cNvSpPr/>
            <p:nvPr/>
          </p:nvSpPr>
          <p:spPr>
            <a:xfrm>
              <a:off x="5506775" y="2734625"/>
              <a:ext cx="78600" cy="23775"/>
            </a:xfrm>
            <a:custGeom>
              <a:avLst/>
              <a:gdLst/>
              <a:ahLst/>
              <a:cxnLst/>
              <a:rect l="l" t="t" r="r" b="b"/>
              <a:pathLst>
                <a:path w="3144" h="951" extrusionOk="0">
                  <a:moveTo>
                    <a:pt x="0" y="1"/>
                  </a:moveTo>
                  <a:lnTo>
                    <a:pt x="358" y="406"/>
                  </a:lnTo>
                  <a:cubicBezTo>
                    <a:pt x="679" y="769"/>
                    <a:pt x="1126" y="950"/>
                    <a:pt x="1572" y="950"/>
                  </a:cubicBezTo>
                  <a:cubicBezTo>
                    <a:pt x="2019" y="950"/>
                    <a:pt x="2465" y="769"/>
                    <a:pt x="2787" y="406"/>
                  </a:cubicBezTo>
                  <a:lnTo>
                    <a:pt x="314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2" name="Google Shape;4416;p46">
            <a:extLst>
              <a:ext uri="{FF2B5EF4-FFF2-40B4-BE49-F238E27FC236}">
                <a16:creationId xmlns:a16="http://schemas.microsoft.com/office/drawing/2014/main" id="{3475FE7C-CE75-DEC1-7401-2257E53D35C7}"/>
              </a:ext>
            </a:extLst>
          </p:cNvPr>
          <p:cNvGrpSpPr/>
          <p:nvPr/>
        </p:nvGrpSpPr>
        <p:grpSpPr>
          <a:xfrm>
            <a:off x="3061825" y="1584924"/>
            <a:ext cx="363300" cy="308386"/>
            <a:chOff x="7190925" y="3893700"/>
            <a:chExt cx="434000" cy="330425"/>
          </a:xfrm>
        </p:grpSpPr>
        <p:sp>
          <p:nvSpPr>
            <p:cNvPr id="13" name="Google Shape;4417;p46">
              <a:extLst>
                <a:ext uri="{FF2B5EF4-FFF2-40B4-BE49-F238E27FC236}">
                  <a16:creationId xmlns:a16="http://schemas.microsoft.com/office/drawing/2014/main" id="{062EE5B2-6D94-00F5-8D27-640ED1EC69D9}"/>
                </a:ext>
              </a:extLst>
            </p:cNvPr>
            <p:cNvSpPr/>
            <p:nvPr/>
          </p:nvSpPr>
          <p:spPr>
            <a:xfrm>
              <a:off x="7192100" y="3893700"/>
              <a:ext cx="432525" cy="151825"/>
            </a:xfrm>
            <a:custGeom>
              <a:avLst/>
              <a:gdLst/>
              <a:ahLst/>
              <a:cxnLst/>
              <a:rect l="l" t="t" r="r" b="b"/>
              <a:pathLst>
                <a:path w="17301" h="6073" extrusionOk="0">
                  <a:moveTo>
                    <a:pt x="8371" y="1"/>
                  </a:moveTo>
                  <a:cubicBezTo>
                    <a:pt x="8073" y="1"/>
                    <a:pt x="7835" y="239"/>
                    <a:pt x="7835" y="536"/>
                  </a:cubicBezTo>
                  <a:lnTo>
                    <a:pt x="7835" y="3156"/>
                  </a:lnTo>
                  <a:lnTo>
                    <a:pt x="7835" y="3168"/>
                  </a:lnTo>
                  <a:cubicBezTo>
                    <a:pt x="6287" y="3144"/>
                    <a:pt x="4739" y="3013"/>
                    <a:pt x="3215" y="2787"/>
                  </a:cubicBezTo>
                  <a:cubicBezTo>
                    <a:pt x="3144" y="2775"/>
                    <a:pt x="3084" y="2763"/>
                    <a:pt x="3013" y="2763"/>
                  </a:cubicBezTo>
                  <a:lnTo>
                    <a:pt x="3013" y="2739"/>
                  </a:lnTo>
                  <a:lnTo>
                    <a:pt x="3013" y="1632"/>
                  </a:lnTo>
                  <a:lnTo>
                    <a:pt x="3894" y="1632"/>
                  </a:lnTo>
                  <a:cubicBezTo>
                    <a:pt x="3898" y="1632"/>
                    <a:pt x="3902" y="1632"/>
                    <a:pt x="3906" y="1632"/>
                  </a:cubicBezTo>
                  <a:cubicBezTo>
                    <a:pt x="4620" y="1632"/>
                    <a:pt x="4628" y="548"/>
                    <a:pt x="3906" y="548"/>
                  </a:cubicBezTo>
                  <a:lnTo>
                    <a:pt x="2477" y="548"/>
                  </a:lnTo>
                  <a:cubicBezTo>
                    <a:pt x="2179" y="548"/>
                    <a:pt x="1941" y="787"/>
                    <a:pt x="1941" y="1084"/>
                  </a:cubicBezTo>
                  <a:lnTo>
                    <a:pt x="1941" y="2751"/>
                  </a:lnTo>
                  <a:cubicBezTo>
                    <a:pt x="1941" y="2787"/>
                    <a:pt x="1953" y="2834"/>
                    <a:pt x="1953" y="2870"/>
                  </a:cubicBezTo>
                  <a:cubicBezTo>
                    <a:pt x="1477" y="3025"/>
                    <a:pt x="1036" y="3299"/>
                    <a:pt x="691" y="3680"/>
                  </a:cubicBezTo>
                  <a:cubicBezTo>
                    <a:pt x="358" y="4025"/>
                    <a:pt x="120" y="4466"/>
                    <a:pt x="1" y="4930"/>
                  </a:cubicBezTo>
                  <a:cubicBezTo>
                    <a:pt x="60" y="4930"/>
                    <a:pt x="132" y="4942"/>
                    <a:pt x="179" y="4966"/>
                  </a:cubicBezTo>
                  <a:cubicBezTo>
                    <a:pt x="2430" y="5680"/>
                    <a:pt x="5430" y="6073"/>
                    <a:pt x="8633" y="6073"/>
                  </a:cubicBezTo>
                  <a:cubicBezTo>
                    <a:pt x="11835" y="6073"/>
                    <a:pt x="14860" y="5680"/>
                    <a:pt x="17122" y="4954"/>
                  </a:cubicBezTo>
                  <a:cubicBezTo>
                    <a:pt x="17157" y="4936"/>
                    <a:pt x="17204" y="4925"/>
                    <a:pt x="17251" y="4925"/>
                  </a:cubicBezTo>
                  <a:cubicBezTo>
                    <a:pt x="17268" y="4925"/>
                    <a:pt x="17284" y="4927"/>
                    <a:pt x="17300" y="4930"/>
                  </a:cubicBezTo>
                  <a:cubicBezTo>
                    <a:pt x="17169" y="4454"/>
                    <a:pt x="16931" y="4025"/>
                    <a:pt x="16598" y="3680"/>
                  </a:cubicBezTo>
                  <a:cubicBezTo>
                    <a:pt x="16157" y="3192"/>
                    <a:pt x="15562" y="2882"/>
                    <a:pt x="14919" y="2787"/>
                  </a:cubicBezTo>
                  <a:cubicBezTo>
                    <a:pt x="14919" y="2775"/>
                    <a:pt x="14919" y="2763"/>
                    <a:pt x="14919" y="2751"/>
                  </a:cubicBezTo>
                  <a:lnTo>
                    <a:pt x="14919" y="1632"/>
                  </a:lnTo>
                  <a:lnTo>
                    <a:pt x="15836" y="1632"/>
                  </a:lnTo>
                  <a:cubicBezTo>
                    <a:pt x="16550" y="1632"/>
                    <a:pt x="16550" y="548"/>
                    <a:pt x="15836" y="548"/>
                  </a:cubicBezTo>
                  <a:lnTo>
                    <a:pt x="14360" y="548"/>
                  </a:lnTo>
                  <a:cubicBezTo>
                    <a:pt x="14062" y="548"/>
                    <a:pt x="13824" y="787"/>
                    <a:pt x="13824" y="1084"/>
                  </a:cubicBezTo>
                  <a:lnTo>
                    <a:pt x="13824" y="2763"/>
                  </a:lnTo>
                  <a:cubicBezTo>
                    <a:pt x="13824" y="2787"/>
                    <a:pt x="13824" y="2811"/>
                    <a:pt x="13824" y="2822"/>
                  </a:cubicBezTo>
                  <a:cubicBezTo>
                    <a:pt x="12193" y="3061"/>
                    <a:pt x="10538" y="3192"/>
                    <a:pt x="8895" y="3192"/>
                  </a:cubicBezTo>
                  <a:lnTo>
                    <a:pt x="8895" y="3168"/>
                  </a:lnTo>
                  <a:lnTo>
                    <a:pt x="8895" y="1084"/>
                  </a:lnTo>
                  <a:lnTo>
                    <a:pt x="9788" y="1084"/>
                  </a:lnTo>
                  <a:cubicBezTo>
                    <a:pt x="10478" y="1060"/>
                    <a:pt x="10490" y="48"/>
                    <a:pt x="979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4418;p46">
              <a:extLst>
                <a:ext uri="{FF2B5EF4-FFF2-40B4-BE49-F238E27FC236}">
                  <a16:creationId xmlns:a16="http://schemas.microsoft.com/office/drawing/2014/main" id="{973B97EE-FDE6-384E-16E4-F1E613EECA2F}"/>
                </a:ext>
              </a:extLst>
            </p:cNvPr>
            <p:cNvSpPr/>
            <p:nvPr/>
          </p:nvSpPr>
          <p:spPr>
            <a:xfrm>
              <a:off x="7370700" y="4169625"/>
              <a:ext cx="23525" cy="54500"/>
            </a:xfrm>
            <a:custGeom>
              <a:avLst/>
              <a:gdLst/>
              <a:ahLst/>
              <a:cxnLst/>
              <a:rect l="l" t="t" r="r" b="b"/>
              <a:pathLst>
                <a:path w="941" h="2180" extrusionOk="0">
                  <a:moveTo>
                    <a:pt x="0" y="1"/>
                  </a:moveTo>
                  <a:lnTo>
                    <a:pt x="0" y="2180"/>
                  </a:lnTo>
                  <a:lnTo>
                    <a:pt x="941" y="2180"/>
                  </a:lnTo>
                  <a:lnTo>
                    <a:pt x="94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4419;p46">
              <a:extLst>
                <a:ext uri="{FF2B5EF4-FFF2-40B4-BE49-F238E27FC236}">
                  <a16:creationId xmlns:a16="http://schemas.microsoft.com/office/drawing/2014/main" id="{FF247BAE-3518-22CF-0A2B-B97A696CF066}"/>
                </a:ext>
              </a:extLst>
            </p:cNvPr>
            <p:cNvSpPr/>
            <p:nvPr/>
          </p:nvSpPr>
          <p:spPr>
            <a:xfrm>
              <a:off x="7421600" y="4169625"/>
              <a:ext cx="23825" cy="54500"/>
            </a:xfrm>
            <a:custGeom>
              <a:avLst/>
              <a:gdLst/>
              <a:ahLst/>
              <a:cxnLst/>
              <a:rect l="l" t="t" r="r" b="b"/>
              <a:pathLst>
                <a:path w="953" h="2180" extrusionOk="0">
                  <a:moveTo>
                    <a:pt x="0" y="1"/>
                  </a:moveTo>
                  <a:lnTo>
                    <a:pt x="0" y="2180"/>
                  </a:lnTo>
                  <a:lnTo>
                    <a:pt x="953" y="2180"/>
                  </a:lnTo>
                  <a:lnTo>
                    <a:pt x="95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4420;p46">
              <a:extLst>
                <a:ext uri="{FF2B5EF4-FFF2-40B4-BE49-F238E27FC236}">
                  <a16:creationId xmlns:a16="http://schemas.microsoft.com/office/drawing/2014/main" id="{595DA3B7-FF5C-9096-3BE0-A88C0A23D3E8}"/>
                </a:ext>
              </a:extLst>
            </p:cNvPr>
            <p:cNvSpPr/>
            <p:nvPr/>
          </p:nvSpPr>
          <p:spPr>
            <a:xfrm>
              <a:off x="7222475" y="4189275"/>
              <a:ext cx="121750" cy="34850"/>
            </a:xfrm>
            <a:custGeom>
              <a:avLst/>
              <a:gdLst/>
              <a:ahLst/>
              <a:cxnLst/>
              <a:rect l="l" t="t" r="r" b="b"/>
              <a:pathLst>
                <a:path w="4870" h="1394" extrusionOk="0">
                  <a:moveTo>
                    <a:pt x="0" y="1"/>
                  </a:moveTo>
                  <a:lnTo>
                    <a:pt x="214" y="965"/>
                  </a:lnTo>
                  <a:cubicBezTo>
                    <a:pt x="262" y="1203"/>
                    <a:pt x="488" y="1382"/>
                    <a:pt x="738" y="1394"/>
                  </a:cubicBezTo>
                  <a:lnTo>
                    <a:pt x="4834" y="1394"/>
                  </a:lnTo>
                  <a:lnTo>
                    <a:pt x="487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4421;p46">
              <a:extLst>
                <a:ext uri="{FF2B5EF4-FFF2-40B4-BE49-F238E27FC236}">
                  <a16:creationId xmlns:a16="http://schemas.microsoft.com/office/drawing/2014/main" id="{E3FE130E-2769-E11F-C7DF-137A9BE39908}"/>
                </a:ext>
              </a:extLst>
            </p:cNvPr>
            <p:cNvSpPr/>
            <p:nvPr/>
          </p:nvSpPr>
          <p:spPr>
            <a:xfrm>
              <a:off x="7471600" y="4189275"/>
              <a:ext cx="122650" cy="34850"/>
            </a:xfrm>
            <a:custGeom>
              <a:avLst/>
              <a:gdLst/>
              <a:ahLst/>
              <a:cxnLst/>
              <a:rect l="l" t="t" r="r" b="b"/>
              <a:pathLst>
                <a:path w="4906" h="1394" extrusionOk="0">
                  <a:moveTo>
                    <a:pt x="1" y="1"/>
                  </a:moveTo>
                  <a:lnTo>
                    <a:pt x="1" y="1394"/>
                  </a:lnTo>
                  <a:lnTo>
                    <a:pt x="4168" y="1394"/>
                  </a:lnTo>
                  <a:cubicBezTo>
                    <a:pt x="4418" y="1394"/>
                    <a:pt x="4644" y="1215"/>
                    <a:pt x="4692" y="965"/>
                  </a:cubicBezTo>
                  <a:lnTo>
                    <a:pt x="490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4422;p46">
              <a:extLst>
                <a:ext uri="{FF2B5EF4-FFF2-40B4-BE49-F238E27FC236}">
                  <a16:creationId xmlns:a16="http://schemas.microsoft.com/office/drawing/2014/main" id="{62F9A3C8-A1B4-76A9-7C17-765435EAAFBF}"/>
                </a:ext>
              </a:extLst>
            </p:cNvPr>
            <p:cNvSpPr/>
            <p:nvPr/>
          </p:nvSpPr>
          <p:spPr>
            <a:xfrm>
              <a:off x="7190925" y="4040450"/>
              <a:ext cx="434000" cy="122350"/>
            </a:xfrm>
            <a:custGeom>
              <a:avLst/>
              <a:gdLst/>
              <a:ahLst/>
              <a:cxnLst/>
              <a:rect l="l" t="t" r="r" b="b"/>
              <a:pathLst>
                <a:path w="17360" h="4894" extrusionOk="0">
                  <a:moveTo>
                    <a:pt x="17359" y="0"/>
                  </a:moveTo>
                  <a:lnTo>
                    <a:pt x="17359" y="0"/>
                  </a:lnTo>
                  <a:cubicBezTo>
                    <a:pt x="15026" y="751"/>
                    <a:pt x="11942" y="1167"/>
                    <a:pt x="8668" y="1167"/>
                  </a:cubicBezTo>
                  <a:cubicBezTo>
                    <a:pt x="5405" y="1167"/>
                    <a:pt x="2334" y="751"/>
                    <a:pt x="0" y="12"/>
                  </a:cubicBezTo>
                  <a:lnTo>
                    <a:pt x="0" y="12"/>
                  </a:lnTo>
                  <a:cubicBezTo>
                    <a:pt x="12" y="96"/>
                    <a:pt x="24" y="191"/>
                    <a:pt x="48" y="286"/>
                  </a:cubicBezTo>
                  <a:lnTo>
                    <a:pt x="1048" y="4894"/>
                  </a:lnTo>
                  <a:lnTo>
                    <a:pt x="6132" y="4894"/>
                  </a:lnTo>
                  <a:lnTo>
                    <a:pt x="6132" y="4620"/>
                  </a:lnTo>
                  <a:cubicBezTo>
                    <a:pt x="6132" y="4322"/>
                    <a:pt x="6370" y="4084"/>
                    <a:pt x="6668" y="4084"/>
                  </a:cubicBezTo>
                  <a:lnTo>
                    <a:pt x="10692" y="4084"/>
                  </a:lnTo>
                  <a:cubicBezTo>
                    <a:pt x="10989" y="4084"/>
                    <a:pt x="11228" y="4322"/>
                    <a:pt x="11228" y="4620"/>
                  </a:cubicBezTo>
                  <a:lnTo>
                    <a:pt x="11228" y="4894"/>
                  </a:lnTo>
                  <a:lnTo>
                    <a:pt x="16312" y="4894"/>
                  </a:lnTo>
                  <a:lnTo>
                    <a:pt x="17312" y="286"/>
                  </a:lnTo>
                  <a:cubicBezTo>
                    <a:pt x="17336" y="191"/>
                    <a:pt x="17347" y="96"/>
                    <a:pt x="173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" name="Google Shape;8653;p67">
            <a:extLst>
              <a:ext uri="{FF2B5EF4-FFF2-40B4-BE49-F238E27FC236}">
                <a16:creationId xmlns:a16="http://schemas.microsoft.com/office/drawing/2014/main" id="{9B4EE625-6C5B-6620-3437-69CEFB2F2386}"/>
              </a:ext>
            </a:extLst>
          </p:cNvPr>
          <p:cNvGrpSpPr/>
          <p:nvPr/>
        </p:nvGrpSpPr>
        <p:grpSpPr>
          <a:xfrm>
            <a:off x="193594" y="3007025"/>
            <a:ext cx="308234" cy="308234"/>
            <a:chOff x="2081650" y="4993750"/>
            <a:chExt cx="483125" cy="483125"/>
          </a:xfrm>
          <a:solidFill>
            <a:schemeClr val="tx1"/>
          </a:solidFill>
        </p:grpSpPr>
        <p:sp>
          <p:nvSpPr>
            <p:cNvPr id="20" name="Google Shape;8654;p67">
              <a:extLst>
                <a:ext uri="{FF2B5EF4-FFF2-40B4-BE49-F238E27FC236}">
                  <a16:creationId xmlns:a16="http://schemas.microsoft.com/office/drawing/2014/main" id="{C5521C77-79B2-E0A6-CD2D-9430E8DB6BE8}"/>
                </a:ext>
              </a:extLst>
            </p:cNvPr>
            <p:cNvSpPr/>
            <p:nvPr/>
          </p:nvSpPr>
          <p:spPr>
            <a:xfrm>
              <a:off x="2081650" y="4993750"/>
              <a:ext cx="483125" cy="483125"/>
            </a:xfrm>
            <a:custGeom>
              <a:avLst/>
              <a:gdLst/>
              <a:ahLst/>
              <a:cxnLst/>
              <a:rect l="l" t="t" r="r" b="b"/>
              <a:pathLst>
                <a:path w="19325" h="19325" extrusionOk="0">
                  <a:moveTo>
                    <a:pt x="9663" y="1133"/>
                  </a:moveTo>
                  <a:cubicBezTo>
                    <a:pt x="11824" y="1133"/>
                    <a:pt x="13983" y="1975"/>
                    <a:pt x="15668" y="3657"/>
                  </a:cubicBezTo>
                  <a:cubicBezTo>
                    <a:pt x="19035" y="7027"/>
                    <a:pt x="19035" y="12302"/>
                    <a:pt x="15668" y="15668"/>
                  </a:cubicBezTo>
                  <a:cubicBezTo>
                    <a:pt x="13983" y="17350"/>
                    <a:pt x="11824" y="18193"/>
                    <a:pt x="9663" y="18193"/>
                  </a:cubicBezTo>
                  <a:cubicBezTo>
                    <a:pt x="7501" y="18193"/>
                    <a:pt x="5342" y="17350"/>
                    <a:pt x="3657" y="15668"/>
                  </a:cubicBezTo>
                  <a:cubicBezTo>
                    <a:pt x="290" y="12302"/>
                    <a:pt x="290" y="7024"/>
                    <a:pt x="3657" y="3657"/>
                  </a:cubicBezTo>
                  <a:cubicBezTo>
                    <a:pt x="5342" y="1975"/>
                    <a:pt x="7501" y="1133"/>
                    <a:pt x="9663" y="1133"/>
                  </a:cubicBezTo>
                  <a:close/>
                  <a:moveTo>
                    <a:pt x="9663" y="1"/>
                  </a:moveTo>
                  <a:cubicBezTo>
                    <a:pt x="7117" y="1"/>
                    <a:pt x="4699" y="1015"/>
                    <a:pt x="2857" y="2857"/>
                  </a:cubicBezTo>
                  <a:cubicBezTo>
                    <a:pt x="1015" y="4699"/>
                    <a:pt x="0" y="7117"/>
                    <a:pt x="0" y="9663"/>
                  </a:cubicBezTo>
                  <a:cubicBezTo>
                    <a:pt x="0" y="12208"/>
                    <a:pt x="1015" y="14627"/>
                    <a:pt x="2857" y="16469"/>
                  </a:cubicBezTo>
                  <a:cubicBezTo>
                    <a:pt x="4699" y="18310"/>
                    <a:pt x="7117" y="19325"/>
                    <a:pt x="9663" y="19325"/>
                  </a:cubicBezTo>
                  <a:cubicBezTo>
                    <a:pt x="12208" y="19325"/>
                    <a:pt x="14626" y="18310"/>
                    <a:pt x="16468" y="16469"/>
                  </a:cubicBezTo>
                  <a:cubicBezTo>
                    <a:pt x="18310" y="14627"/>
                    <a:pt x="19325" y="12208"/>
                    <a:pt x="19325" y="9663"/>
                  </a:cubicBezTo>
                  <a:cubicBezTo>
                    <a:pt x="19325" y="7117"/>
                    <a:pt x="18310" y="4699"/>
                    <a:pt x="16468" y="2857"/>
                  </a:cubicBezTo>
                  <a:cubicBezTo>
                    <a:pt x="14626" y="1015"/>
                    <a:pt x="12208" y="1"/>
                    <a:pt x="96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1" name="Google Shape;8655;p67">
              <a:extLst>
                <a:ext uri="{FF2B5EF4-FFF2-40B4-BE49-F238E27FC236}">
                  <a16:creationId xmlns:a16="http://schemas.microsoft.com/office/drawing/2014/main" id="{500AA9FF-50DC-C17E-981C-CB640A8D3AE9}"/>
                </a:ext>
              </a:extLst>
            </p:cNvPr>
            <p:cNvSpPr/>
            <p:nvPr/>
          </p:nvSpPr>
          <p:spPr>
            <a:xfrm>
              <a:off x="2209375" y="5125625"/>
              <a:ext cx="227600" cy="219350"/>
            </a:xfrm>
            <a:custGeom>
              <a:avLst/>
              <a:gdLst/>
              <a:ahLst/>
              <a:cxnLst/>
              <a:rect l="l" t="t" r="r" b="b"/>
              <a:pathLst>
                <a:path w="9104" h="8774" extrusionOk="0">
                  <a:moveTo>
                    <a:pt x="7232" y="1143"/>
                  </a:moveTo>
                  <a:cubicBezTo>
                    <a:pt x="7377" y="1143"/>
                    <a:pt x="7522" y="1198"/>
                    <a:pt x="7633" y="1308"/>
                  </a:cubicBezTo>
                  <a:cubicBezTo>
                    <a:pt x="7851" y="1528"/>
                    <a:pt x="7854" y="1882"/>
                    <a:pt x="7639" y="2102"/>
                  </a:cubicBezTo>
                  <a:lnTo>
                    <a:pt x="5755" y="3986"/>
                  </a:lnTo>
                  <a:cubicBezTo>
                    <a:pt x="5532" y="4210"/>
                    <a:pt x="5532" y="4566"/>
                    <a:pt x="5755" y="4789"/>
                  </a:cubicBezTo>
                  <a:lnTo>
                    <a:pt x="7639" y="6673"/>
                  </a:lnTo>
                  <a:cubicBezTo>
                    <a:pt x="7854" y="6894"/>
                    <a:pt x="7851" y="7247"/>
                    <a:pt x="7633" y="7468"/>
                  </a:cubicBezTo>
                  <a:cubicBezTo>
                    <a:pt x="7522" y="7577"/>
                    <a:pt x="7377" y="7633"/>
                    <a:pt x="7232" y="7633"/>
                  </a:cubicBezTo>
                  <a:cubicBezTo>
                    <a:pt x="7090" y="7633"/>
                    <a:pt x="6948" y="7580"/>
                    <a:pt x="6839" y="7474"/>
                  </a:cubicBezTo>
                  <a:lnTo>
                    <a:pt x="6830" y="7468"/>
                  </a:lnTo>
                  <a:lnTo>
                    <a:pt x="4946" y="5650"/>
                  </a:lnTo>
                  <a:cubicBezTo>
                    <a:pt x="4836" y="5544"/>
                    <a:pt x="4695" y="5491"/>
                    <a:pt x="4554" y="5491"/>
                  </a:cubicBezTo>
                  <a:cubicBezTo>
                    <a:pt x="4412" y="5491"/>
                    <a:pt x="4271" y="5544"/>
                    <a:pt x="4161" y="5650"/>
                  </a:cubicBezTo>
                  <a:lnTo>
                    <a:pt x="2277" y="7468"/>
                  </a:lnTo>
                  <a:lnTo>
                    <a:pt x="2268" y="7474"/>
                  </a:lnTo>
                  <a:cubicBezTo>
                    <a:pt x="2159" y="7580"/>
                    <a:pt x="2017" y="7633"/>
                    <a:pt x="1875" y="7633"/>
                  </a:cubicBezTo>
                  <a:cubicBezTo>
                    <a:pt x="1730" y="7633"/>
                    <a:pt x="1585" y="7577"/>
                    <a:pt x="1474" y="7468"/>
                  </a:cubicBezTo>
                  <a:cubicBezTo>
                    <a:pt x="1256" y="7247"/>
                    <a:pt x="1253" y="6894"/>
                    <a:pt x="1468" y="6673"/>
                  </a:cubicBezTo>
                  <a:lnTo>
                    <a:pt x="3352" y="4789"/>
                  </a:lnTo>
                  <a:cubicBezTo>
                    <a:pt x="3575" y="4566"/>
                    <a:pt x="3575" y="4210"/>
                    <a:pt x="3352" y="3986"/>
                  </a:cubicBezTo>
                  <a:lnTo>
                    <a:pt x="1468" y="2102"/>
                  </a:lnTo>
                  <a:cubicBezTo>
                    <a:pt x="1253" y="1882"/>
                    <a:pt x="1256" y="1528"/>
                    <a:pt x="1474" y="1308"/>
                  </a:cubicBezTo>
                  <a:cubicBezTo>
                    <a:pt x="1585" y="1198"/>
                    <a:pt x="1730" y="1143"/>
                    <a:pt x="1875" y="1143"/>
                  </a:cubicBezTo>
                  <a:cubicBezTo>
                    <a:pt x="2017" y="1143"/>
                    <a:pt x="2159" y="1196"/>
                    <a:pt x="2268" y="1302"/>
                  </a:cubicBezTo>
                  <a:lnTo>
                    <a:pt x="2277" y="1308"/>
                  </a:lnTo>
                  <a:lnTo>
                    <a:pt x="4161" y="3126"/>
                  </a:lnTo>
                  <a:cubicBezTo>
                    <a:pt x="4271" y="3231"/>
                    <a:pt x="4412" y="3284"/>
                    <a:pt x="4554" y="3284"/>
                  </a:cubicBezTo>
                  <a:cubicBezTo>
                    <a:pt x="4695" y="3284"/>
                    <a:pt x="4836" y="3231"/>
                    <a:pt x="4946" y="3126"/>
                  </a:cubicBezTo>
                  <a:lnTo>
                    <a:pt x="6830" y="1308"/>
                  </a:lnTo>
                  <a:lnTo>
                    <a:pt x="6839" y="1302"/>
                  </a:lnTo>
                  <a:cubicBezTo>
                    <a:pt x="6948" y="1196"/>
                    <a:pt x="7090" y="1143"/>
                    <a:pt x="7232" y="1143"/>
                  </a:cubicBezTo>
                  <a:close/>
                  <a:moveTo>
                    <a:pt x="1865" y="0"/>
                  </a:moveTo>
                  <a:cubicBezTo>
                    <a:pt x="1430" y="0"/>
                    <a:pt x="995" y="166"/>
                    <a:pt x="664" y="499"/>
                  </a:cubicBezTo>
                  <a:cubicBezTo>
                    <a:pt x="0" y="1163"/>
                    <a:pt x="3" y="2241"/>
                    <a:pt x="667" y="2902"/>
                  </a:cubicBezTo>
                  <a:lnTo>
                    <a:pt x="2153" y="4388"/>
                  </a:lnTo>
                  <a:lnTo>
                    <a:pt x="667" y="5873"/>
                  </a:lnTo>
                  <a:cubicBezTo>
                    <a:pt x="0" y="6535"/>
                    <a:pt x="0" y="7610"/>
                    <a:pt x="661" y="8274"/>
                  </a:cubicBezTo>
                  <a:cubicBezTo>
                    <a:pt x="995" y="8607"/>
                    <a:pt x="1431" y="8774"/>
                    <a:pt x="1868" y="8774"/>
                  </a:cubicBezTo>
                  <a:cubicBezTo>
                    <a:pt x="2301" y="8774"/>
                    <a:pt x="2734" y="8609"/>
                    <a:pt x="3065" y="8280"/>
                  </a:cubicBezTo>
                  <a:lnTo>
                    <a:pt x="4554" y="6846"/>
                  </a:lnTo>
                  <a:lnTo>
                    <a:pt x="6042" y="8280"/>
                  </a:lnTo>
                  <a:cubicBezTo>
                    <a:pt x="6373" y="8609"/>
                    <a:pt x="6806" y="8774"/>
                    <a:pt x="7239" y="8774"/>
                  </a:cubicBezTo>
                  <a:cubicBezTo>
                    <a:pt x="7675" y="8774"/>
                    <a:pt x="8111" y="8607"/>
                    <a:pt x="8443" y="8274"/>
                  </a:cubicBezTo>
                  <a:cubicBezTo>
                    <a:pt x="9104" y="7610"/>
                    <a:pt x="9104" y="6535"/>
                    <a:pt x="8440" y="5873"/>
                  </a:cubicBezTo>
                  <a:lnTo>
                    <a:pt x="6957" y="4388"/>
                  </a:lnTo>
                  <a:lnTo>
                    <a:pt x="8440" y="2902"/>
                  </a:lnTo>
                  <a:cubicBezTo>
                    <a:pt x="8760" y="2585"/>
                    <a:pt x="8938" y="2153"/>
                    <a:pt x="8938" y="1703"/>
                  </a:cubicBezTo>
                  <a:cubicBezTo>
                    <a:pt x="8938" y="1018"/>
                    <a:pt x="8524" y="399"/>
                    <a:pt x="7893" y="133"/>
                  </a:cubicBezTo>
                  <a:cubicBezTo>
                    <a:pt x="7682" y="46"/>
                    <a:pt x="7460" y="3"/>
                    <a:pt x="7239" y="3"/>
                  </a:cubicBezTo>
                  <a:cubicBezTo>
                    <a:pt x="6799" y="3"/>
                    <a:pt x="6366" y="174"/>
                    <a:pt x="6042" y="496"/>
                  </a:cubicBezTo>
                  <a:lnTo>
                    <a:pt x="4554" y="1930"/>
                  </a:lnTo>
                  <a:lnTo>
                    <a:pt x="3065" y="496"/>
                  </a:lnTo>
                  <a:cubicBezTo>
                    <a:pt x="2733" y="165"/>
                    <a:pt x="2299" y="0"/>
                    <a:pt x="1865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435D74"/>
                </a:solidFill>
              </a:endParaRPr>
            </a:p>
          </p:txBody>
        </p:sp>
      </p:grpSp>
      <p:grpSp>
        <p:nvGrpSpPr>
          <p:cNvPr id="36" name="Google Shape;4625;p46">
            <a:extLst>
              <a:ext uri="{FF2B5EF4-FFF2-40B4-BE49-F238E27FC236}">
                <a16:creationId xmlns:a16="http://schemas.microsoft.com/office/drawing/2014/main" id="{EF08D0DD-B63D-5F19-5476-72D2C12F368F}"/>
              </a:ext>
            </a:extLst>
          </p:cNvPr>
          <p:cNvGrpSpPr/>
          <p:nvPr/>
        </p:nvGrpSpPr>
        <p:grpSpPr>
          <a:xfrm>
            <a:off x="3154656" y="2994166"/>
            <a:ext cx="284927" cy="329946"/>
            <a:chOff x="1259525" y="3852925"/>
            <a:chExt cx="336075" cy="435500"/>
          </a:xfrm>
        </p:grpSpPr>
        <p:sp>
          <p:nvSpPr>
            <p:cNvPr id="37" name="Google Shape;4626;p46">
              <a:extLst>
                <a:ext uri="{FF2B5EF4-FFF2-40B4-BE49-F238E27FC236}">
                  <a16:creationId xmlns:a16="http://schemas.microsoft.com/office/drawing/2014/main" id="{3D1AD717-4640-FB4E-A75B-54AB5F257EC9}"/>
                </a:ext>
              </a:extLst>
            </p:cNvPr>
            <p:cNvSpPr/>
            <p:nvPr/>
          </p:nvSpPr>
          <p:spPr>
            <a:xfrm>
              <a:off x="1302075" y="4048200"/>
              <a:ext cx="251250" cy="240225"/>
            </a:xfrm>
            <a:custGeom>
              <a:avLst/>
              <a:gdLst/>
              <a:ahLst/>
              <a:cxnLst/>
              <a:rect l="l" t="t" r="r" b="b"/>
              <a:pathLst>
                <a:path w="10050" h="9609" extrusionOk="0">
                  <a:moveTo>
                    <a:pt x="5715" y="6596"/>
                  </a:moveTo>
                  <a:cubicBezTo>
                    <a:pt x="5966" y="6596"/>
                    <a:pt x="6169" y="6782"/>
                    <a:pt x="6204" y="7037"/>
                  </a:cubicBezTo>
                  <a:cubicBezTo>
                    <a:pt x="6240" y="7334"/>
                    <a:pt x="6002" y="7608"/>
                    <a:pt x="5704" y="7608"/>
                  </a:cubicBezTo>
                  <a:lnTo>
                    <a:pt x="4370" y="7608"/>
                  </a:lnTo>
                  <a:cubicBezTo>
                    <a:pt x="4108" y="7608"/>
                    <a:pt x="3894" y="7418"/>
                    <a:pt x="3858" y="7156"/>
                  </a:cubicBezTo>
                  <a:cubicBezTo>
                    <a:pt x="3823" y="6864"/>
                    <a:pt x="4051" y="6596"/>
                    <a:pt x="4340" y="6596"/>
                  </a:cubicBezTo>
                  <a:cubicBezTo>
                    <a:pt x="4346" y="6596"/>
                    <a:pt x="4352" y="6596"/>
                    <a:pt x="4358" y="6596"/>
                  </a:cubicBezTo>
                  <a:lnTo>
                    <a:pt x="5692" y="6596"/>
                  </a:lnTo>
                  <a:cubicBezTo>
                    <a:pt x="5700" y="6596"/>
                    <a:pt x="5707" y="6596"/>
                    <a:pt x="5715" y="6596"/>
                  </a:cubicBezTo>
                  <a:close/>
                  <a:moveTo>
                    <a:pt x="1299" y="0"/>
                  </a:moveTo>
                  <a:cubicBezTo>
                    <a:pt x="1727" y="857"/>
                    <a:pt x="2573" y="1429"/>
                    <a:pt x="3525" y="1548"/>
                  </a:cubicBezTo>
                  <a:lnTo>
                    <a:pt x="3525" y="4620"/>
                  </a:lnTo>
                  <a:lnTo>
                    <a:pt x="1489" y="4620"/>
                  </a:lnTo>
                  <a:cubicBezTo>
                    <a:pt x="1215" y="4620"/>
                    <a:pt x="989" y="4846"/>
                    <a:pt x="989" y="5120"/>
                  </a:cubicBezTo>
                  <a:lnTo>
                    <a:pt x="989" y="8584"/>
                  </a:lnTo>
                  <a:lnTo>
                    <a:pt x="596" y="8584"/>
                  </a:lnTo>
                  <a:cubicBezTo>
                    <a:pt x="477" y="8584"/>
                    <a:pt x="358" y="8644"/>
                    <a:pt x="287" y="8751"/>
                  </a:cubicBezTo>
                  <a:cubicBezTo>
                    <a:pt x="1" y="9084"/>
                    <a:pt x="239" y="9608"/>
                    <a:pt x="679" y="9608"/>
                  </a:cubicBezTo>
                  <a:lnTo>
                    <a:pt x="9454" y="9608"/>
                  </a:lnTo>
                  <a:cubicBezTo>
                    <a:pt x="9573" y="9608"/>
                    <a:pt x="9692" y="9549"/>
                    <a:pt x="9764" y="9454"/>
                  </a:cubicBezTo>
                  <a:cubicBezTo>
                    <a:pt x="10050" y="9108"/>
                    <a:pt x="9812" y="8596"/>
                    <a:pt x="9371" y="8584"/>
                  </a:cubicBezTo>
                  <a:lnTo>
                    <a:pt x="9073" y="8584"/>
                  </a:lnTo>
                  <a:lnTo>
                    <a:pt x="9073" y="5120"/>
                  </a:lnTo>
                  <a:cubicBezTo>
                    <a:pt x="9073" y="4846"/>
                    <a:pt x="8847" y="4620"/>
                    <a:pt x="8561" y="4620"/>
                  </a:cubicBezTo>
                  <a:lnTo>
                    <a:pt x="6525" y="4620"/>
                  </a:lnTo>
                  <a:lnTo>
                    <a:pt x="6525" y="1536"/>
                  </a:lnTo>
                  <a:cubicBezTo>
                    <a:pt x="7478" y="1429"/>
                    <a:pt x="8311" y="857"/>
                    <a:pt x="87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4627;p46">
              <a:extLst>
                <a:ext uri="{FF2B5EF4-FFF2-40B4-BE49-F238E27FC236}">
                  <a16:creationId xmlns:a16="http://schemas.microsoft.com/office/drawing/2014/main" id="{956CF1EA-6DB3-3FBE-9B43-AC0B3C3FB499}"/>
                </a:ext>
              </a:extLst>
            </p:cNvPr>
            <p:cNvSpPr/>
            <p:nvPr/>
          </p:nvSpPr>
          <p:spPr>
            <a:xfrm>
              <a:off x="1259525" y="3852925"/>
              <a:ext cx="336075" cy="169700"/>
            </a:xfrm>
            <a:custGeom>
              <a:avLst/>
              <a:gdLst/>
              <a:ahLst/>
              <a:cxnLst/>
              <a:rect l="l" t="t" r="r" b="b"/>
              <a:pathLst>
                <a:path w="13443" h="6788" extrusionOk="0">
                  <a:moveTo>
                    <a:pt x="2060" y="1048"/>
                  </a:moveTo>
                  <a:cubicBezTo>
                    <a:pt x="2417" y="1048"/>
                    <a:pt x="2715" y="1346"/>
                    <a:pt x="2715" y="1715"/>
                  </a:cubicBezTo>
                  <a:lnTo>
                    <a:pt x="2715" y="5692"/>
                  </a:lnTo>
                  <a:cubicBezTo>
                    <a:pt x="1691" y="5263"/>
                    <a:pt x="1024" y="4263"/>
                    <a:pt x="1024" y="3156"/>
                  </a:cubicBezTo>
                  <a:lnTo>
                    <a:pt x="1024" y="1715"/>
                  </a:lnTo>
                  <a:cubicBezTo>
                    <a:pt x="1024" y="1346"/>
                    <a:pt x="1322" y="1048"/>
                    <a:pt x="1679" y="1048"/>
                  </a:cubicBezTo>
                  <a:close/>
                  <a:moveTo>
                    <a:pt x="11799" y="1048"/>
                  </a:moveTo>
                  <a:cubicBezTo>
                    <a:pt x="12168" y="1048"/>
                    <a:pt x="12466" y="1346"/>
                    <a:pt x="12466" y="1715"/>
                  </a:cubicBezTo>
                  <a:lnTo>
                    <a:pt x="12466" y="3156"/>
                  </a:lnTo>
                  <a:cubicBezTo>
                    <a:pt x="12466" y="4263"/>
                    <a:pt x="11787" y="5263"/>
                    <a:pt x="10763" y="5692"/>
                  </a:cubicBezTo>
                  <a:lnTo>
                    <a:pt x="10763" y="1715"/>
                  </a:lnTo>
                  <a:cubicBezTo>
                    <a:pt x="10775" y="1346"/>
                    <a:pt x="11073" y="1048"/>
                    <a:pt x="11442" y="1048"/>
                  </a:cubicBezTo>
                  <a:close/>
                  <a:moveTo>
                    <a:pt x="1657" y="0"/>
                  </a:moveTo>
                  <a:cubicBezTo>
                    <a:pt x="739" y="0"/>
                    <a:pt x="0" y="758"/>
                    <a:pt x="0" y="1679"/>
                  </a:cubicBezTo>
                  <a:lnTo>
                    <a:pt x="0" y="3132"/>
                  </a:lnTo>
                  <a:cubicBezTo>
                    <a:pt x="0" y="4811"/>
                    <a:pt x="1107" y="6287"/>
                    <a:pt x="2715" y="6775"/>
                  </a:cubicBezTo>
                  <a:cubicBezTo>
                    <a:pt x="2715" y="6775"/>
                    <a:pt x="2715" y="6787"/>
                    <a:pt x="2715" y="6787"/>
                  </a:cubicBezTo>
                  <a:lnTo>
                    <a:pt x="10740" y="6787"/>
                  </a:lnTo>
                  <a:cubicBezTo>
                    <a:pt x="10740" y="6787"/>
                    <a:pt x="10740" y="6775"/>
                    <a:pt x="10740" y="6775"/>
                  </a:cubicBezTo>
                  <a:cubicBezTo>
                    <a:pt x="12347" y="6287"/>
                    <a:pt x="13442" y="4811"/>
                    <a:pt x="13442" y="3132"/>
                  </a:cubicBezTo>
                  <a:lnTo>
                    <a:pt x="13442" y="1679"/>
                  </a:lnTo>
                  <a:cubicBezTo>
                    <a:pt x="13442" y="751"/>
                    <a:pt x="12704" y="1"/>
                    <a:pt x="11775" y="1"/>
                  </a:cubicBezTo>
                  <a:lnTo>
                    <a:pt x="11430" y="1"/>
                  </a:lnTo>
                  <a:cubicBezTo>
                    <a:pt x="10692" y="1"/>
                    <a:pt x="10049" y="477"/>
                    <a:pt x="9823" y="1191"/>
                  </a:cubicBezTo>
                  <a:lnTo>
                    <a:pt x="3643" y="1191"/>
                  </a:lnTo>
                  <a:cubicBezTo>
                    <a:pt x="3429" y="477"/>
                    <a:pt x="2774" y="1"/>
                    <a:pt x="2036" y="1"/>
                  </a:cubicBezTo>
                  <a:lnTo>
                    <a:pt x="1679" y="1"/>
                  </a:lnTo>
                  <a:cubicBezTo>
                    <a:pt x="1672" y="0"/>
                    <a:pt x="1665" y="0"/>
                    <a:pt x="16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" name="Google Shape;9288;p69">
            <a:extLst>
              <a:ext uri="{FF2B5EF4-FFF2-40B4-BE49-F238E27FC236}">
                <a16:creationId xmlns:a16="http://schemas.microsoft.com/office/drawing/2014/main" id="{CD95345F-1876-852D-ECE8-B749F996C714}"/>
              </a:ext>
            </a:extLst>
          </p:cNvPr>
          <p:cNvGrpSpPr/>
          <p:nvPr/>
        </p:nvGrpSpPr>
        <p:grpSpPr>
          <a:xfrm>
            <a:off x="5779553" y="1632508"/>
            <a:ext cx="349457" cy="349457"/>
            <a:chOff x="3963575" y="2317575"/>
            <a:chExt cx="296175" cy="296175"/>
          </a:xfrm>
          <a:solidFill>
            <a:schemeClr val="tx1"/>
          </a:solidFill>
        </p:grpSpPr>
        <p:sp>
          <p:nvSpPr>
            <p:cNvPr id="40" name="Google Shape;9289;p69">
              <a:extLst>
                <a:ext uri="{FF2B5EF4-FFF2-40B4-BE49-F238E27FC236}">
                  <a16:creationId xmlns:a16="http://schemas.microsoft.com/office/drawing/2014/main" id="{8BC51037-43F4-0D67-9979-BE658DF50FB9}"/>
                </a:ext>
              </a:extLst>
            </p:cNvPr>
            <p:cNvSpPr/>
            <p:nvPr/>
          </p:nvSpPr>
          <p:spPr>
            <a:xfrm>
              <a:off x="3963575" y="2317575"/>
              <a:ext cx="296175" cy="296175"/>
            </a:xfrm>
            <a:custGeom>
              <a:avLst/>
              <a:gdLst/>
              <a:ahLst/>
              <a:cxnLst/>
              <a:rect l="l" t="t" r="r" b="b"/>
              <a:pathLst>
                <a:path w="11847" h="11847" extrusionOk="0">
                  <a:moveTo>
                    <a:pt x="9483" y="1418"/>
                  </a:moveTo>
                  <a:cubicBezTo>
                    <a:pt x="9672" y="1418"/>
                    <a:pt x="9830" y="1576"/>
                    <a:pt x="9830" y="1765"/>
                  </a:cubicBezTo>
                  <a:lnTo>
                    <a:pt x="9830" y="2836"/>
                  </a:lnTo>
                  <a:lnTo>
                    <a:pt x="788" y="2836"/>
                  </a:lnTo>
                  <a:lnTo>
                    <a:pt x="788" y="1765"/>
                  </a:lnTo>
                  <a:lnTo>
                    <a:pt x="725" y="1765"/>
                  </a:lnTo>
                  <a:cubicBezTo>
                    <a:pt x="725" y="1576"/>
                    <a:pt x="883" y="1418"/>
                    <a:pt x="1072" y="1418"/>
                  </a:cubicBezTo>
                  <a:lnTo>
                    <a:pt x="1418" y="1418"/>
                  </a:lnTo>
                  <a:lnTo>
                    <a:pt x="1418" y="1765"/>
                  </a:lnTo>
                  <a:cubicBezTo>
                    <a:pt x="1418" y="1954"/>
                    <a:pt x="1576" y="2143"/>
                    <a:pt x="1765" y="2143"/>
                  </a:cubicBezTo>
                  <a:cubicBezTo>
                    <a:pt x="1954" y="2143"/>
                    <a:pt x="2111" y="1954"/>
                    <a:pt x="2111" y="1765"/>
                  </a:cubicBezTo>
                  <a:lnTo>
                    <a:pt x="2111" y="1418"/>
                  </a:lnTo>
                  <a:lnTo>
                    <a:pt x="3498" y="1418"/>
                  </a:lnTo>
                  <a:lnTo>
                    <a:pt x="3498" y="1765"/>
                  </a:lnTo>
                  <a:cubicBezTo>
                    <a:pt x="3498" y="1954"/>
                    <a:pt x="3655" y="2143"/>
                    <a:pt x="3844" y="2143"/>
                  </a:cubicBezTo>
                  <a:cubicBezTo>
                    <a:pt x="4065" y="2143"/>
                    <a:pt x="4222" y="1954"/>
                    <a:pt x="4222" y="1765"/>
                  </a:cubicBezTo>
                  <a:lnTo>
                    <a:pt x="4222" y="1418"/>
                  </a:lnTo>
                  <a:lnTo>
                    <a:pt x="6333" y="1418"/>
                  </a:lnTo>
                  <a:lnTo>
                    <a:pt x="6333" y="1765"/>
                  </a:lnTo>
                  <a:cubicBezTo>
                    <a:pt x="6333" y="1954"/>
                    <a:pt x="6490" y="2143"/>
                    <a:pt x="6680" y="2143"/>
                  </a:cubicBezTo>
                  <a:cubicBezTo>
                    <a:pt x="6900" y="2143"/>
                    <a:pt x="7058" y="1954"/>
                    <a:pt x="7058" y="1765"/>
                  </a:cubicBezTo>
                  <a:lnTo>
                    <a:pt x="7058" y="1418"/>
                  </a:lnTo>
                  <a:lnTo>
                    <a:pt x="8412" y="1418"/>
                  </a:lnTo>
                  <a:lnTo>
                    <a:pt x="8412" y="1765"/>
                  </a:lnTo>
                  <a:cubicBezTo>
                    <a:pt x="8412" y="1954"/>
                    <a:pt x="8570" y="2143"/>
                    <a:pt x="8790" y="2143"/>
                  </a:cubicBezTo>
                  <a:cubicBezTo>
                    <a:pt x="8979" y="2143"/>
                    <a:pt x="9137" y="1954"/>
                    <a:pt x="9137" y="1765"/>
                  </a:cubicBezTo>
                  <a:lnTo>
                    <a:pt x="9137" y="1418"/>
                  </a:lnTo>
                  <a:close/>
                  <a:moveTo>
                    <a:pt x="9767" y="3497"/>
                  </a:moveTo>
                  <a:lnTo>
                    <a:pt x="9767" y="7026"/>
                  </a:lnTo>
                  <a:cubicBezTo>
                    <a:pt x="9641" y="7026"/>
                    <a:pt x="9546" y="6963"/>
                    <a:pt x="9420" y="6963"/>
                  </a:cubicBezTo>
                  <a:cubicBezTo>
                    <a:pt x="8066" y="6963"/>
                    <a:pt x="6963" y="8066"/>
                    <a:pt x="6963" y="9420"/>
                  </a:cubicBezTo>
                  <a:cubicBezTo>
                    <a:pt x="6963" y="9546"/>
                    <a:pt x="6963" y="9641"/>
                    <a:pt x="7026" y="9767"/>
                  </a:cubicBezTo>
                  <a:lnTo>
                    <a:pt x="1040" y="9767"/>
                  </a:lnTo>
                  <a:cubicBezTo>
                    <a:pt x="820" y="9767"/>
                    <a:pt x="662" y="9609"/>
                    <a:pt x="662" y="9420"/>
                  </a:cubicBezTo>
                  <a:lnTo>
                    <a:pt x="662" y="3497"/>
                  </a:lnTo>
                  <a:close/>
                  <a:moveTo>
                    <a:pt x="9420" y="7688"/>
                  </a:moveTo>
                  <a:cubicBezTo>
                    <a:pt x="10366" y="7688"/>
                    <a:pt x="11153" y="8475"/>
                    <a:pt x="11153" y="9420"/>
                  </a:cubicBezTo>
                  <a:cubicBezTo>
                    <a:pt x="11153" y="10397"/>
                    <a:pt x="10366" y="11185"/>
                    <a:pt x="9420" y="11185"/>
                  </a:cubicBezTo>
                  <a:cubicBezTo>
                    <a:pt x="8475" y="11185"/>
                    <a:pt x="7688" y="10397"/>
                    <a:pt x="7688" y="9420"/>
                  </a:cubicBezTo>
                  <a:cubicBezTo>
                    <a:pt x="7688" y="8475"/>
                    <a:pt x="8475" y="7688"/>
                    <a:pt x="9420" y="7688"/>
                  </a:cubicBezTo>
                  <a:close/>
                  <a:moveTo>
                    <a:pt x="1733" y="0"/>
                  </a:moveTo>
                  <a:cubicBezTo>
                    <a:pt x="1544" y="0"/>
                    <a:pt x="1387" y="158"/>
                    <a:pt x="1387" y="347"/>
                  </a:cubicBezTo>
                  <a:lnTo>
                    <a:pt x="1387" y="725"/>
                  </a:lnTo>
                  <a:lnTo>
                    <a:pt x="1040" y="725"/>
                  </a:lnTo>
                  <a:cubicBezTo>
                    <a:pt x="442" y="725"/>
                    <a:pt x="0" y="1166"/>
                    <a:pt x="0" y="1733"/>
                  </a:cubicBezTo>
                  <a:lnTo>
                    <a:pt x="0" y="9389"/>
                  </a:lnTo>
                  <a:cubicBezTo>
                    <a:pt x="0" y="9956"/>
                    <a:pt x="473" y="10429"/>
                    <a:pt x="1040" y="10429"/>
                  </a:cubicBezTo>
                  <a:lnTo>
                    <a:pt x="7215" y="10429"/>
                  </a:lnTo>
                  <a:cubicBezTo>
                    <a:pt x="7593" y="11279"/>
                    <a:pt x="8444" y="11846"/>
                    <a:pt x="9420" y="11846"/>
                  </a:cubicBezTo>
                  <a:cubicBezTo>
                    <a:pt x="10744" y="11846"/>
                    <a:pt x="11846" y="10744"/>
                    <a:pt x="11846" y="9420"/>
                  </a:cubicBezTo>
                  <a:cubicBezTo>
                    <a:pt x="11846" y="8444"/>
                    <a:pt x="11311" y="7593"/>
                    <a:pt x="10492" y="7215"/>
                  </a:cubicBezTo>
                  <a:lnTo>
                    <a:pt x="10492" y="1733"/>
                  </a:lnTo>
                  <a:cubicBezTo>
                    <a:pt x="10492" y="1135"/>
                    <a:pt x="10019" y="725"/>
                    <a:pt x="9452" y="725"/>
                  </a:cubicBezTo>
                  <a:lnTo>
                    <a:pt x="9105" y="725"/>
                  </a:lnTo>
                  <a:lnTo>
                    <a:pt x="9105" y="347"/>
                  </a:lnTo>
                  <a:cubicBezTo>
                    <a:pt x="9105" y="158"/>
                    <a:pt x="8948" y="0"/>
                    <a:pt x="8759" y="0"/>
                  </a:cubicBezTo>
                  <a:cubicBezTo>
                    <a:pt x="8538" y="0"/>
                    <a:pt x="8381" y="158"/>
                    <a:pt x="8381" y="347"/>
                  </a:cubicBezTo>
                  <a:lnTo>
                    <a:pt x="8381" y="725"/>
                  </a:lnTo>
                  <a:lnTo>
                    <a:pt x="7026" y="725"/>
                  </a:lnTo>
                  <a:lnTo>
                    <a:pt x="7026" y="347"/>
                  </a:lnTo>
                  <a:cubicBezTo>
                    <a:pt x="7026" y="158"/>
                    <a:pt x="6869" y="0"/>
                    <a:pt x="6648" y="0"/>
                  </a:cubicBezTo>
                  <a:cubicBezTo>
                    <a:pt x="6459" y="0"/>
                    <a:pt x="6301" y="158"/>
                    <a:pt x="6301" y="347"/>
                  </a:cubicBezTo>
                  <a:lnTo>
                    <a:pt x="6301" y="725"/>
                  </a:lnTo>
                  <a:lnTo>
                    <a:pt x="4191" y="725"/>
                  </a:lnTo>
                  <a:lnTo>
                    <a:pt x="4191" y="347"/>
                  </a:lnTo>
                  <a:cubicBezTo>
                    <a:pt x="4191" y="158"/>
                    <a:pt x="4033" y="0"/>
                    <a:pt x="3813" y="0"/>
                  </a:cubicBezTo>
                  <a:cubicBezTo>
                    <a:pt x="3624" y="0"/>
                    <a:pt x="3466" y="158"/>
                    <a:pt x="3466" y="347"/>
                  </a:cubicBezTo>
                  <a:lnTo>
                    <a:pt x="3466" y="725"/>
                  </a:lnTo>
                  <a:lnTo>
                    <a:pt x="2080" y="725"/>
                  </a:lnTo>
                  <a:lnTo>
                    <a:pt x="2080" y="347"/>
                  </a:lnTo>
                  <a:cubicBezTo>
                    <a:pt x="2080" y="158"/>
                    <a:pt x="1922" y="0"/>
                    <a:pt x="17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9290;p69">
              <a:extLst>
                <a:ext uri="{FF2B5EF4-FFF2-40B4-BE49-F238E27FC236}">
                  <a16:creationId xmlns:a16="http://schemas.microsoft.com/office/drawing/2014/main" id="{4B8CD91D-2C5C-9C8A-819C-974B98DC003F}"/>
                </a:ext>
              </a:extLst>
            </p:cNvPr>
            <p:cNvSpPr/>
            <p:nvPr/>
          </p:nvSpPr>
          <p:spPr>
            <a:xfrm>
              <a:off x="4190400" y="2526300"/>
              <a:ext cx="34700" cy="35450"/>
            </a:xfrm>
            <a:custGeom>
              <a:avLst/>
              <a:gdLst/>
              <a:ahLst/>
              <a:cxnLst/>
              <a:rect l="l" t="t" r="r" b="b"/>
              <a:pathLst>
                <a:path w="1388" h="1418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1071"/>
                  </a:lnTo>
                  <a:cubicBezTo>
                    <a:pt x="1" y="1260"/>
                    <a:pt x="127" y="1418"/>
                    <a:pt x="347" y="1418"/>
                  </a:cubicBezTo>
                  <a:lnTo>
                    <a:pt x="1041" y="1418"/>
                  </a:lnTo>
                  <a:cubicBezTo>
                    <a:pt x="1261" y="1418"/>
                    <a:pt x="1387" y="1260"/>
                    <a:pt x="1387" y="1071"/>
                  </a:cubicBezTo>
                  <a:cubicBezTo>
                    <a:pt x="1387" y="882"/>
                    <a:pt x="1261" y="725"/>
                    <a:pt x="1041" y="725"/>
                  </a:cubicBezTo>
                  <a:lnTo>
                    <a:pt x="694" y="725"/>
                  </a:lnTo>
                  <a:lnTo>
                    <a:pt x="694" y="347"/>
                  </a:ln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9291;p69">
              <a:extLst>
                <a:ext uri="{FF2B5EF4-FFF2-40B4-BE49-F238E27FC236}">
                  <a16:creationId xmlns:a16="http://schemas.microsoft.com/office/drawing/2014/main" id="{9F55B51E-1A50-57E6-A202-12A52C9440BB}"/>
                </a:ext>
              </a:extLst>
            </p:cNvPr>
            <p:cNvSpPr/>
            <p:nvPr/>
          </p:nvSpPr>
          <p:spPr>
            <a:xfrm>
              <a:off x="3998225" y="2421550"/>
              <a:ext cx="35475" cy="18125"/>
            </a:xfrm>
            <a:custGeom>
              <a:avLst/>
              <a:gdLst/>
              <a:ahLst/>
              <a:cxnLst/>
              <a:rect l="l" t="t" r="r" b="b"/>
              <a:pathLst>
                <a:path w="1419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78"/>
                  </a:cubicBezTo>
                  <a:cubicBezTo>
                    <a:pt x="1418" y="158"/>
                    <a:pt x="1261" y="0"/>
                    <a:pt x="10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9292;p69">
              <a:extLst>
                <a:ext uri="{FF2B5EF4-FFF2-40B4-BE49-F238E27FC236}">
                  <a16:creationId xmlns:a16="http://schemas.microsoft.com/office/drawing/2014/main" id="{B1980457-CCB2-1443-F653-CB2CD6D66D61}"/>
                </a:ext>
              </a:extLst>
            </p:cNvPr>
            <p:cNvSpPr/>
            <p:nvPr/>
          </p:nvSpPr>
          <p:spPr>
            <a:xfrm>
              <a:off x="4050225" y="2421550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71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9293;p69">
              <a:extLst>
                <a:ext uri="{FF2B5EF4-FFF2-40B4-BE49-F238E27FC236}">
                  <a16:creationId xmlns:a16="http://schemas.microsoft.com/office/drawing/2014/main" id="{CE149156-AC92-B22A-7AAF-5BBC0C7F6A84}"/>
                </a:ext>
              </a:extLst>
            </p:cNvPr>
            <p:cNvSpPr/>
            <p:nvPr/>
          </p:nvSpPr>
          <p:spPr>
            <a:xfrm>
              <a:off x="4102200" y="2421550"/>
              <a:ext cx="35475" cy="18125"/>
            </a:xfrm>
            <a:custGeom>
              <a:avLst/>
              <a:gdLst/>
              <a:ahLst/>
              <a:cxnLst/>
              <a:rect l="l" t="t" r="r" b="b"/>
              <a:pathLst>
                <a:path w="1419" h="725" extrusionOk="0">
                  <a:moveTo>
                    <a:pt x="378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78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78"/>
                  </a:cubicBezTo>
                  <a:cubicBezTo>
                    <a:pt x="1418" y="158"/>
                    <a:pt x="1261" y="0"/>
                    <a:pt x="10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9294;p69">
              <a:extLst>
                <a:ext uri="{FF2B5EF4-FFF2-40B4-BE49-F238E27FC236}">
                  <a16:creationId xmlns:a16="http://schemas.microsoft.com/office/drawing/2014/main" id="{541E6A72-63CA-78D4-D006-AA3A86ED2574}"/>
                </a:ext>
              </a:extLst>
            </p:cNvPr>
            <p:cNvSpPr/>
            <p:nvPr/>
          </p:nvSpPr>
          <p:spPr>
            <a:xfrm>
              <a:off x="4155750" y="2421550"/>
              <a:ext cx="35475" cy="18125"/>
            </a:xfrm>
            <a:custGeom>
              <a:avLst/>
              <a:gdLst/>
              <a:ahLst/>
              <a:cxnLst/>
              <a:rect l="l" t="t" r="r" b="b"/>
              <a:pathLst>
                <a:path w="1419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78"/>
                  </a:cubicBezTo>
                  <a:cubicBezTo>
                    <a:pt x="1418" y="158"/>
                    <a:pt x="1261" y="0"/>
                    <a:pt x="10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9295;p69">
              <a:extLst>
                <a:ext uri="{FF2B5EF4-FFF2-40B4-BE49-F238E27FC236}">
                  <a16:creationId xmlns:a16="http://schemas.microsoft.com/office/drawing/2014/main" id="{9D9B6404-6D9A-02A2-8D58-B3395769018D}"/>
                </a:ext>
              </a:extLst>
            </p:cNvPr>
            <p:cNvSpPr/>
            <p:nvPr/>
          </p:nvSpPr>
          <p:spPr>
            <a:xfrm>
              <a:off x="3998225" y="2456975"/>
              <a:ext cx="35475" cy="18150"/>
            </a:xfrm>
            <a:custGeom>
              <a:avLst/>
              <a:gdLst/>
              <a:ahLst/>
              <a:cxnLst/>
              <a:rect l="l" t="t" r="r" b="b"/>
              <a:pathLst>
                <a:path w="1419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79"/>
                  </a:cubicBezTo>
                  <a:cubicBezTo>
                    <a:pt x="1" y="568"/>
                    <a:pt x="158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8"/>
                    <a:pt x="1418" y="379"/>
                  </a:cubicBezTo>
                  <a:cubicBezTo>
                    <a:pt x="1418" y="158"/>
                    <a:pt x="1261" y="1"/>
                    <a:pt x="10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9296;p69">
              <a:extLst>
                <a:ext uri="{FF2B5EF4-FFF2-40B4-BE49-F238E27FC236}">
                  <a16:creationId xmlns:a16="http://schemas.microsoft.com/office/drawing/2014/main" id="{97A72428-2637-2B00-67C9-6B2DA1508C6A}"/>
                </a:ext>
              </a:extLst>
            </p:cNvPr>
            <p:cNvSpPr/>
            <p:nvPr/>
          </p:nvSpPr>
          <p:spPr>
            <a:xfrm>
              <a:off x="4050225" y="2456975"/>
              <a:ext cx="35450" cy="18150"/>
            </a:xfrm>
            <a:custGeom>
              <a:avLst/>
              <a:gdLst/>
              <a:ahLst/>
              <a:cxnLst/>
              <a:rect l="l" t="t" r="r" b="b"/>
              <a:pathLst>
                <a:path w="1418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47" y="725"/>
                  </a:cubicBezTo>
                  <a:lnTo>
                    <a:pt x="1071" y="725"/>
                  </a:lnTo>
                  <a:cubicBezTo>
                    <a:pt x="1260" y="725"/>
                    <a:pt x="1418" y="568"/>
                    <a:pt x="1418" y="379"/>
                  </a:cubicBezTo>
                  <a:cubicBezTo>
                    <a:pt x="1418" y="158"/>
                    <a:pt x="1260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9297;p69">
              <a:extLst>
                <a:ext uri="{FF2B5EF4-FFF2-40B4-BE49-F238E27FC236}">
                  <a16:creationId xmlns:a16="http://schemas.microsoft.com/office/drawing/2014/main" id="{FA4A90E2-BF12-8DD1-7207-5E85318FCAA2}"/>
                </a:ext>
              </a:extLst>
            </p:cNvPr>
            <p:cNvSpPr/>
            <p:nvPr/>
          </p:nvSpPr>
          <p:spPr>
            <a:xfrm>
              <a:off x="4102200" y="2456975"/>
              <a:ext cx="35475" cy="18150"/>
            </a:xfrm>
            <a:custGeom>
              <a:avLst/>
              <a:gdLst/>
              <a:ahLst/>
              <a:cxnLst/>
              <a:rect l="l" t="t" r="r" b="b"/>
              <a:pathLst>
                <a:path w="1419" h="726" extrusionOk="0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78" y="725"/>
                  </a:cubicBezTo>
                  <a:lnTo>
                    <a:pt x="1072" y="725"/>
                  </a:lnTo>
                  <a:cubicBezTo>
                    <a:pt x="1261" y="725"/>
                    <a:pt x="1418" y="568"/>
                    <a:pt x="1418" y="379"/>
                  </a:cubicBezTo>
                  <a:cubicBezTo>
                    <a:pt x="1418" y="158"/>
                    <a:pt x="1261" y="1"/>
                    <a:pt x="10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9298;p69">
              <a:extLst>
                <a:ext uri="{FF2B5EF4-FFF2-40B4-BE49-F238E27FC236}">
                  <a16:creationId xmlns:a16="http://schemas.microsoft.com/office/drawing/2014/main" id="{C262BA1D-5A7A-CBCF-5B72-7B1E1346752A}"/>
                </a:ext>
              </a:extLst>
            </p:cNvPr>
            <p:cNvSpPr/>
            <p:nvPr/>
          </p:nvSpPr>
          <p:spPr>
            <a:xfrm>
              <a:off x="4155750" y="2456975"/>
              <a:ext cx="35475" cy="18150"/>
            </a:xfrm>
            <a:custGeom>
              <a:avLst/>
              <a:gdLst/>
              <a:ahLst/>
              <a:cxnLst/>
              <a:rect l="l" t="t" r="r" b="b"/>
              <a:pathLst>
                <a:path w="1419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79"/>
                  </a:cubicBezTo>
                  <a:cubicBezTo>
                    <a:pt x="1" y="568"/>
                    <a:pt x="158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8"/>
                    <a:pt x="1418" y="379"/>
                  </a:cubicBezTo>
                  <a:cubicBezTo>
                    <a:pt x="1418" y="158"/>
                    <a:pt x="1261" y="1"/>
                    <a:pt x="10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9299;p69">
              <a:extLst>
                <a:ext uri="{FF2B5EF4-FFF2-40B4-BE49-F238E27FC236}">
                  <a16:creationId xmlns:a16="http://schemas.microsoft.com/office/drawing/2014/main" id="{9BC3C60C-D3E0-E129-4CCE-734805920899}"/>
                </a:ext>
              </a:extLst>
            </p:cNvPr>
            <p:cNvSpPr/>
            <p:nvPr/>
          </p:nvSpPr>
          <p:spPr>
            <a:xfrm>
              <a:off x="3998225" y="2491650"/>
              <a:ext cx="35475" cy="18125"/>
            </a:xfrm>
            <a:custGeom>
              <a:avLst/>
              <a:gdLst/>
              <a:ahLst/>
              <a:cxnLst/>
              <a:rect l="l" t="t" r="r" b="b"/>
              <a:pathLst>
                <a:path w="1419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78"/>
                  </a:cubicBezTo>
                  <a:cubicBezTo>
                    <a:pt x="1418" y="158"/>
                    <a:pt x="1261" y="0"/>
                    <a:pt x="10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9300;p69">
              <a:extLst>
                <a:ext uri="{FF2B5EF4-FFF2-40B4-BE49-F238E27FC236}">
                  <a16:creationId xmlns:a16="http://schemas.microsoft.com/office/drawing/2014/main" id="{C78306B5-C139-2F95-6274-758DB519C22B}"/>
                </a:ext>
              </a:extLst>
            </p:cNvPr>
            <p:cNvSpPr/>
            <p:nvPr/>
          </p:nvSpPr>
          <p:spPr>
            <a:xfrm>
              <a:off x="4050225" y="2491650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71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9301;p69">
              <a:extLst>
                <a:ext uri="{FF2B5EF4-FFF2-40B4-BE49-F238E27FC236}">
                  <a16:creationId xmlns:a16="http://schemas.microsoft.com/office/drawing/2014/main" id="{09B026DB-C301-D31F-C609-DF9EC82FDE2D}"/>
                </a:ext>
              </a:extLst>
            </p:cNvPr>
            <p:cNvSpPr/>
            <p:nvPr/>
          </p:nvSpPr>
          <p:spPr>
            <a:xfrm>
              <a:off x="4102200" y="2491650"/>
              <a:ext cx="35475" cy="18125"/>
            </a:xfrm>
            <a:custGeom>
              <a:avLst/>
              <a:gdLst/>
              <a:ahLst/>
              <a:cxnLst/>
              <a:rect l="l" t="t" r="r" b="b"/>
              <a:pathLst>
                <a:path w="1419" h="725" extrusionOk="0">
                  <a:moveTo>
                    <a:pt x="378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78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78"/>
                  </a:cubicBezTo>
                  <a:cubicBezTo>
                    <a:pt x="1418" y="158"/>
                    <a:pt x="1261" y="0"/>
                    <a:pt x="10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9302;p69">
              <a:extLst>
                <a:ext uri="{FF2B5EF4-FFF2-40B4-BE49-F238E27FC236}">
                  <a16:creationId xmlns:a16="http://schemas.microsoft.com/office/drawing/2014/main" id="{8650E308-A217-C558-6F5D-7341D138D89C}"/>
                </a:ext>
              </a:extLst>
            </p:cNvPr>
            <p:cNvSpPr/>
            <p:nvPr/>
          </p:nvSpPr>
          <p:spPr>
            <a:xfrm>
              <a:off x="3998225" y="2526300"/>
              <a:ext cx="35475" cy="18125"/>
            </a:xfrm>
            <a:custGeom>
              <a:avLst/>
              <a:gdLst/>
              <a:ahLst/>
              <a:cxnLst/>
              <a:rect l="l" t="t" r="r" b="b"/>
              <a:pathLst>
                <a:path w="1419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47"/>
                  </a:cubicBezTo>
                  <a:cubicBezTo>
                    <a:pt x="1418" y="158"/>
                    <a:pt x="1261" y="0"/>
                    <a:pt x="10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9303;p69">
              <a:extLst>
                <a:ext uri="{FF2B5EF4-FFF2-40B4-BE49-F238E27FC236}">
                  <a16:creationId xmlns:a16="http://schemas.microsoft.com/office/drawing/2014/main" id="{71EA6EC3-B78A-B145-DB9C-72E3C6DAA191}"/>
                </a:ext>
              </a:extLst>
            </p:cNvPr>
            <p:cNvSpPr/>
            <p:nvPr/>
          </p:nvSpPr>
          <p:spPr>
            <a:xfrm>
              <a:off x="4050225" y="2526300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71" y="725"/>
                  </a:lnTo>
                  <a:cubicBezTo>
                    <a:pt x="1260" y="725"/>
                    <a:pt x="1418" y="567"/>
                    <a:pt x="1418" y="347"/>
                  </a:cubicBez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9304;p69">
              <a:extLst>
                <a:ext uri="{FF2B5EF4-FFF2-40B4-BE49-F238E27FC236}">
                  <a16:creationId xmlns:a16="http://schemas.microsoft.com/office/drawing/2014/main" id="{6EBAF738-B71B-D6E4-5AB0-63AC6AC0F64A}"/>
                </a:ext>
              </a:extLst>
            </p:cNvPr>
            <p:cNvSpPr/>
            <p:nvPr/>
          </p:nvSpPr>
          <p:spPr>
            <a:xfrm>
              <a:off x="4102200" y="2526300"/>
              <a:ext cx="35475" cy="18125"/>
            </a:xfrm>
            <a:custGeom>
              <a:avLst/>
              <a:gdLst/>
              <a:ahLst/>
              <a:cxnLst/>
              <a:rect l="l" t="t" r="r" b="b"/>
              <a:pathLst>
                <a:path w="1419" h="725" extrusionOk="0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7"/>
                    <a:pt x="158" y="725"/>
                    <a:pt x="378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47"/>
                  </a:cubicBezTo>
                  <a:cubicBezTo>
                    <a:pt x="1418" y="158"/>
                    <a:pt x="1261" y="0"/>
                    <a:pt x="10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" name="Google Shape;8479;p67">
            <a:extLst>
              <a:ext uri="{FF2B5EF4-FFF2-40B4-BE49-F238E27FC236}">
                <a16:creationId xmlns:a16="http://schemas.microsoft.com/office/drawing/2014/main" id="{C20A12E0-F7CD-B737-ED1F-E04AD21F0B07}"/>
              </a:ext>
            </a:extLst>
          </p:cNvPr>
          <p:cNvGrpSpPr/>
          <p:nvPr/>
        </p:nvGrpSpPr>
        <p:grpSpPr>
          <a:xfrm>
            <a:off x="5769186" y="3011644"/>
            <a:ext cx="340168" cy="298978"/>
            <a:chOff x="2081650" y="2050750"/>
            <a:chExt cx="483125" cy="424625"/>
          </a:xfrm>
          <a:solidFill>
            <a:schemeClr val="tx1"/>
          </a:solidFill>
        </p:grpSpPr>
        <p:sp>
          <p:nvSpPr>
            <p:cNvPr id="57" name="Google Shape;8480;p67">
              <a:extLst>
                <a:ext uri="{FF2B5EF4-FFF2-40B4-BE49-F238E27FC236}">
                  <a16:creationId xmlns:a16="http://schemas.microsoft.com/office/drawing/2014/main" id="{945DE129-7E73-3603-3580-27077420D917}"/>
                </a:ext>
              </a:extLst>
            </p:cNvPr>
            <p:cNvSpPr/>
            <p:nvPr/>
          </p:nvSpPr>
          <p:spPr>
            <a:xfrm>
              <a:off x="2081650" y="2050750"/>
              <a:ext cx="483125" cy="424625"/>
            </a:xfrm>
            <a:custGeom>
              <a:avLst/>
              <a:gdLst/>
              <a:ahLst/>
              <a:cxnLst/>
              <a:rect l="l" t="t" r="r" b="b"/>
              <a:pathLst>
                <a:path w="19325" h="16985" extrusionOk="0">
                  <a:moveTo>
                    <a:pt x="5662" y="1402"/>
                  </a:moveTo>
                  <a:lnTo>
                    <a:pt x="5662" y="13770"/>
                  </a:lnTo>
                  <a:lnTo>
                    <a:pt x="1133" y="15581"/>
                  </a:lnTo>
                  <a:lnTo>
                    <a:pt x="1133" y="3214"/>
                  </a:lnTo>
                  <a:lnTo>
                    <a:pt x="5662" y="1402"/>
                  </a:lnTo>
                  <a:close/>
                  <a:moveTo>
                    <a:pt x="18192" y="1402"/>
                  </a:moveTo>
                  <a:lnTo>
                    <a:pt x="18192" y="13770"/>
                  </a:lnTo>
                  <a:lnTo>
                    <a:pt x="13663" y="15581"/>
                  </a:lnTo>
                  <a:lnTo>
                    <a:pt x="13663" y="3214"/>
                  </a:lnTo>
                  <a:lnTo>
                    <a:pt x="18192" y="1402"/>
                  </a:lnTo>
                  <a:close/>
                  <a:moveTo>
                    <a:pt x="6794" y="1348"/>
                  </a:moveTo>
                  <a:lnTo>
                    <a:pt x="12531" y="3241"/>
                  </a:lnTo>
                  <a:lnTo>
                    <a:pt x="12531" y="9464"/>
                  </a:lnTo>
                  <a:lnTo>
                    <a:pt x="12510" y="9461"/>
                  </a:lnTo>
                  <a:cubicBezTo>
                    <a:pt x="12205" y="9437"/>
                    <a:pt x="11903" y="9364"/>
                    <a:pt x="11619" y="9244"/>
                  </a:cubicBezTo>
                  <a:cubicBezTo>
                    <a:pt x="11548" y="9214"/>
                    <a:pt x="11474" y="9200"/>
                    <a:pt x="11401" y="9200"/>
                  </a:cubicBezTo>
                  <a:cubicBezTo>
                    <a:pt x="11181" y="9200"/>
                    <a:pt x="10970" y="9330"/>
                    <a:pt x="10879" y="9546"/>
                  </a:cubicBezTo>
                  <a:cubicBezTo>
                    <a:pt x="10759" y="9832"/>
                    <a:pt x="10891" y="10165"/>
                    <a:pt x="11178" y="10288"/>
                  </a:cubicBezTo>
                  <a:cubicBezTo>
                    <a:pt x="11574" y="10454"/>
                    <a:pt x="11994" y="10557"/>
                    <a:pt x="12422" y="10590"/>
                  </a:cubicBezTo>
                  <a:lnTo>
                    <a:pt x="12468" y="10590"/>
                  </a:lnTo>
                  <a:cubicBezTo>
                    <a:pt x="12489" y="10590"/>
                    <a:pt x="12510" y="10587"/>
                    <a:pt x="12531" y="10584"/>
                  </a:cubicBezTo>
                  <a:lnTo>
                    <a:pt x="12531" y="15633"/>
                  </a:lnTo>
                  <a:lnTo>
                    <a:pt x="6794" y="13746"/>
                  </a:lnTo>
                  <a:lnTo>
                    <a:pt x="6794" y="6774"/>
                  </a:lnTo>
                  <a:cubicBezTo>
                    <a:pt x="6951" y="6777"/>
                    <a:pt x="7105" y="6795"/>
                    <a:pt x="7259" y="6822"/>
                  </a:cubicBezTo>
                  <a:cubicBezTo>
                    <a:pt x="7295" y="6828"/>
                    <a:pt x="7331" y="6834"/>
                    <a:pt x="7368" y="6834"/>
                  </a:cubicBezTo>
                  <a:cubicBezTo>
                    <a:pt x="7658" y="6831"/>
                    <a:pt x="7902" y="6611"/>
                    <a:pt x="7929" y="6321"/>
                  </a:cubicBezTo>
                  <a:cubicBezTo>
                    <a:pt x="7957" y="6028"/>
                    <a:pt x="7760" y="5765"/>
                    <a:pt x="7473" y="5711"/>
                  </a:cubicBezTo>
                  <a:cubicBezTo>
                    <a:pt x="7250" y="5669"/>
                    <a:pt x="7020" y="5644"/>
                    <a:pt x="6794" y="5641"/>
                  </a:cubicBezTo>
                  <a:lnTo>
                    <a:pt x="6794" y="1348"/>
                  </a:lnTo>
                  <a:close/>
                  <a:moveTo>
                    <a:pt x="18757" y="0"/>
                  </a:moveTo>
                  <a:cubicBezTo>
                    <a:pt x="18687" y="0"/>
                    <a:pt x="18616" y="13"/>
                    <a:pt x="18549" y="40"/>
                  </a:cubicBezTo>
                  <a:lnTo>
                    <a:pt x="13077" y="2229"/>
                  </a:lnTo>
                  <a:lnTo>
                    <a:pt x="6405" y="28"/>
                  </a:lnTo>
                  <a:cubicBezTo>
                    <a:pt x="6395" y="25"/>
                    <a:pt x="6386" y="25"/>
                    <a:pt x="6380" y="22"/>
                  </a:cubicBezTo>
                  <a:cubicBezTo>
                    <a:pt x="6371" y="19"/>
                    <a:pt x="6359" y="16"/>
                    <a:pt x="6347" y="13"/>
                  </a:cubicBezTo>
                  <a:lnTo>
                    <a:pt x="6311" y="7"/>
                  </a:lnTo>
                  <a:cubicBezTo>
                    <a:pt x="6302" y="7"/>
                    <a:pt x="6290" y="4"/>
                    <a:pt x="6281" y="4"/>
                  </a:cubicBezTo>
                  <a:lnTo>
                    <a:pt x="6211" y="4"/>
                  </a:lnTo>
                  <a:cubicBezTo>
                    <a:pt x="6199" y="4"/>
                    <a:pt x="6187" y="4"/>
                    <a:pt x="6172" y="7"/>
                  </a:cubicBezTo>
                  <a:cubicBezTo>
                    <a:pt x="6166" y="9"/>
                    <a:pt x="6161" y="9"/>
                    <a:pt x="6157" y="9"/>
                  </a:cubicBezTo>
                  <a:cubicBezTo>
                    <a:pt x="6152" y="9"/>
                    <a:pt x="6148" y="9"/>
                    <a:pt x="6142" y="10"/>
                  </a:cubicBezTo>
                  <a:cubicBezTo>
                    <a:pt x="6133" y="13"/>
                    <a:pt x="6118" y="13"/>
                    <a:pt x="6106" y="16"/>
                  </a:cubicBezTo>
                  <a:lnTo>
                    <a:pt x="6075" y="22"/>
                  </a:lnTo>
                  <a:cubicBezTo>
                    <a:pt x="6063" y="28"/>
                    <a:pt x="6048" y="31"/>
                    <a:pt x="6036" y="37"/>
                  </a:cubicBezTo>
                  <a:cubicBezTo>
                    <a:pt x="6027" y="40"/>
                    <a:pt x="6021" y="40"/>
                    <a:pt x="6015" y="43"/>
                  </a:cubicBezTo>
                  <a:lnTo>
                    <a:pt x="354" y="2308"/>
                  </a:lnTo>
                  <a:cubicBezTo>
                    <a:pt x="139" y="2396"/>
                    <a:pt x="0" y="2601"/>
                    <a:pt x="0" y="2830"/>
                  </a:cubicBezTo>
                  <a:lnTo>
                    <a:pt x="0" y="16418"/>
                  </a:lnTo>
                  <a:cubicBezTo>
                    <a:pt x="0" y="16744"/>
                    <a:pt x="267" y="16984"/>
                    <a:pt x="566" y="16984"/>
                  </a:cubicBezTo>
                  <a:cubicBezTo>
                    <a:pt x="635" y="16984"/>
                    <a:pt x="706" y="16971"/>
                    <a:pt x="776" y="16943"/>
                  </a:cubicBezTo>
                  <a:lnTo>
                    <a:pt x="6248" y="14754"/>
                  </a:lnTo>
                  <a:lnTo>
                    <a:pt x="12917" y="16952"/>
                  </a:lnTo>
                  <a:cubicBezTo>
                    <a:pt x="12933" y="16958"/>
                    <a:pt x="12951" y="16964"/>
                    <a:pt x="12966" y="16967"/>
                  </a:cubicBezTo>
                  <a:cubicBezTo>
                    <a:pt x="13008" y="16976"/>
                    <a:pt x="13050" y="16983"/>
                    <a:pt x="13096" y="16983"/>
                  </a:cubicBezTo>
                  <a:lnTo>
                    <a:pt x="13099" y="16983"/>
                  </a:lnTo>
                  <a:cubicBezTo>
                    <a:pt x="13156" y="16983"/>
                    <a:pt x="13213" y="16973"/>
                    <a:pt x="13271" y="16955"/>
                  </a:cubicBezTo>
                  <a:cubicBezTo>
                    <a:pt x="13283" y="16952"/>
                    <a:pt x="13295" y="16946"/>
                    <a:pt x="13307" y="16940"/>
                  </a:cubicBezTo>
                  <a:lnTo>
                    <a:pt x="18965" y="14676"/>
                  </a:lnTo>
                  <a:cubicBezTo>
                    <a:pt x="19183" y="14591"/>
                    <a:pt x="19325" y="14386"/>
                    <a:pt x="19325" y="14153"/>
                  </a:cubicBezTo>
                  <a:lnTo>
                    <a:pt x="19325" y="566"/>
                  </a:lnTo>
                  <a:cubicBezTo>
                    <a:pt x="19325" y="379"/>
                    <a:pt x="19231" y="203"/>
                    <a:pt x="19077" y="98"/>
                  </a:cubicBezTo>
                  <a:cubicBezTo>
                    <a:pt x="18981" y="33"/>
                    <a:pt x="18869" y="0"/>
                    <a:pt x="187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8" name="Google Shape;8481;p67">
              <a:extLst>
                <a:ext uri="{FF2B5EF4-FFF2-40B4-BE49-F238E27FC236}">
                  <a16:creationId xmlns:a16="http://schemas.microsoft.com/office/drawing/2014/main" id="{A83249AF-FC3E-DDD6-5239-868BBB408920}"/>
                </a:ext>
              </a:extLst>
            </p:cNvPr>
            <p:cNvSpPr/>
            <p:nvPr/>
          </p:nvSpPr>
          <p:spPr>
            <a:xfrm>
              <a:off x="2136375" y="2292025"/>
              <a:ext cx="36400" cy="41975"/>
            </a:xfrm>
            <a:custGeom>
              <a:avLst/>
              <a:gdLst/>
              <a:ahLst/>
              <a:cxnLst/>
              <a:rect l="l" t="t" r="r" b="b"/>
              <a:pathLst>
                <a:path w="1456" h="1679" extrusionOk="0">
                  <a:moveTo>
                    <a:pt x="820" y="1"/>
                  </a:moveTo>
                  <a:cubicBezTo>
                    <a:pt x="583" y="1"/>
                    <a:pt x="361" y="151"/>
                    <a:pt x="284" y="390"/>
                  </a:cubicBezTo>
                  <a:lnTo>
                    <a:pt x="103" y="927"/>
                  </a:lnTo>
                  <a:cubicBezTo>
                    <a:pt x="0" y="1223"/>
                    <a:pt x="160" y="1549"/>
                    <a:pt x="459" y="1649"/>
                  </a:cubicBezTo>
                  <a:cubicBezTo>
                    <a:pt x="519" y="1669"/>
                    <a:pt x="579" y="1678"/>
                    <a:pt x="639" y="1678"/>
                  </a:cubicBezTo>
                  <a:cubicBezTo>
                    <a:pt x="878" y="1678"/>
                    <a:pt x="1101" y="1525"/>
                    <a:pt x="1178" y="1284"/>
                  </a:cubicBezTo>
                  <a:lnTo>
                    <a:pt x="1356" y="746"/>
                  </a:lnTo>
                  <a:cubicBezTo>
                    <a:pt x="1456" y="450"/>
                    <a:pt x="1296" y="130"/>
                    <a:pt x="1000" y="30"/>
                  </a:cubicBezTo>
                  <a:cubicBezTo>
                    <a:pt x="940" y="10"/>
                    <a:pt x="880" y="1"/>
                    <a:pt x="8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9" name="Google Shape;8482;p67">
              <a:extLst>
                <a:ext uri="{FF2B5EF4-FFF2-40B4-BE49-F238E27FC236}">
                  <a16:creationId xmlns:a16="http://schemas.microsoft.com/office/drawing/2014/main" id="{F7A3BA4D-6818-3770-F1E3-BC4CB910840F}"/>
                </a:ext>
              </a:extLst>
            </p:cNvPr>
            <p:cNvSpPr/>
            <p:nvPr/>
          </p:nvSpPr>
          <p:spPr>
            <a:xfrm>
              <a:off x="2296850" y="2220800"/>
              <a:ext cx="46075" cy="51650"/>
            </a:xfrm>
            <a:custGeom>
              <a:avLst/>
              <a:gdLst/>
              <a:ahLst/>
              <a:cxnLst/>
              <a:rect l="l" t="t" r="r" b="b"/>
              <a:pathLst>
                <a:path w="1843" h="2066" extrusionOk="0">
                  <a:moveTo>
                    <a:pt x="634" y="1"/>
                  </a:moveTo>
                  <a:cubicBezTo>
                    <a:pt x="506" y="1"/>
                    <a:pt x="378" y="44"/>
                    <a:pt x="272" y="132"/>
                  </a:cubicBezTo>
                  <a:cubicBezTo>
                    <a:pt x="37" y="331"/>
                    <a:pt x="1" y="681"/>
                    <a:pt x="194" y="920"/>
                  </a:cubicBezTo>
                  <a:cubicBezTo>
                    <a:pt x="354" y="1113"/>
                    <a:pt x="487" y="1327"/>
                    <a:pt x="593" y="1557"/>
                  </a:cubicBezTo>
                  <a:cubicBezTo>
                    <a:pt x="626" y="1626"/>
                    <a:pt x="662" y="1696"/>
                    <a:pt x="698" y="1765"/>
                  </a:cubicBezTo>
                  <a:cubicBezTo>
                    <a:pt x="798" y="1957"/>
                    <a:pt x="993" y="2065"/>
                    <a:pt x="1195" y="2065"/>
                  </a:cubicBezTo>
                  <a:cubicBezTo>
                    <a:pt x="1285" y="2065"/>
                    <a:pt x="1377" y="2044"/>
                    <a:pt x="1462" y="1998"/>
                  </a:cubicBezTo>
                  <a:cubicBezTo>
                    <a:pt x="1740" y="1853"/>
                    <a:pt x="1843" y="1509"/>
                    <a:pt x="1698" y="1234"/>
                  </a:cubicBezTo>
                  <a:cubicBezTo>
                    <a:pt x="1670" y="1183"/>
                    <a:pt x="1643" y="1131"/>
                    <a:pt x="1622" y="1083"/>
                  </a:cubicBezTo>
                  <a:cubicBezTo>
                    <a:pt x="1474" y="763"/>
                    <a:pt x="1287" y="464"/>
                    <a:pt x="1061" y="195"/>
                  </a:cubicBezTo>
                  <a:cubicBezTo>
                    <a:pt x="949" y="67"/>
                    <a:pt x="792" y="1"/>
                    <a:pt x="63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0" name="Google Shape;8483;p67">
              <a:extLst>
                <a:ext uri="{FF2B5EF4-FFF2-40B4-BE49-F238E27FC236}">
                  <a16:creationId xmlns:a16="http://schemas.microsoft.com/office/drawing/2014/main" id="{C4E12572-918F-7B16-C482-F35662928BCE}"/>
                </a:ext>
              </a:extLst>
            </p:cNvPr>
            <p:cNvSpPr/>
            <p:nvPr/>
          </p:nvSpPr>
          <p:spPr>
            <a:xfrm>
              <a:off x="2158650" y="2216775"/>
              <a:ext cx="47275" cy="51425"/>
            </a:xfrm>
            <a:custGeom>
              <a:avLst/>
              <a:gdLst/>
              <a:ahLst/>
              <a:cxnLst/>
              <a:rect l="l" t="t" r="r" b="b"/>
              <a:pathLst>
                <a:path w="1891" h="2057" extrusionOk="0">
                  <a:moveTo>
                    <a:pt x="1264" y="1"/>
                  </a:moveTo>
                  <a:cubicBezTo>
                    <a:pt x="1109" y="1"/>
                    <a:pt x="955" y="63"/>
                    <a:pt x="843" y="187"/>
                  </a:cubicBezTo>
                  <a:lnTo>
                    <a:pt x="846" y="184"/>
                  </a:lnTo>
                  <a:lnTo>
                    <a:pt x="846" y="184"/>
                  </a:lnTo>
                  <a:cubicBezTo>
                    <a:pt x="547" y="498"/>
                    <a:pt x="305" y="860"/>
                    <a:pt x="130" y="1256"/>
                  </a:cubicBezTo>
                  <a:cubicBezTo>
                    <a:pt x="0" y="1543"/>
                    <a:pt x="127" y="1878"/>
                    <a:pt x="414" y="2005"/>
                  </a:cubicBezTo>
                  <a:cubicBezTo>
                    <a:pt x="486" y="2038"/>
                    <a:pt x="565" y="2056"/>
                    <a:pt x="643" y="2056"/>
                  </a:cubicBezTo>
                  <a:cubicBezTo>
                    <a:pt x="867" y="2056"/>
                    <a:pt x="1069" y="1923"/>
                    <a:pt x="1163" y="1721"/>
                  </a:cubicBezTo>
                  <a:cubicBezTo>
                    <a:pt x="1286" y="1443"/>
                    <a:pt x="1455" y="1187"/>
                    <a:pt x="1664" y="966"/>
                  </a:cubicBezTo>
                  <a:cubicBezTo>
                    <a:pt x="1890" y="740"/>
                    <a:pt x="1884" y="374"/>
                    <a:pt x="1655" y="157"/>
                  </a:cubicBezTo>
                  <a:cubicBezTo>
                    <a:pt x="1544" y="52"/>
                    <a:pt x="1404" y="1"/>
                    <a:pt x="126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1" name="Google Shape;8484;p67">
              <a:extLst>
                <a:ext uri="{FF2B5EF4-FFF2-40B4-BE49-F238E27FC236}">
                  <a16:creationId xmlns:a16="http://schemas.microsoft.com/office/drawing/2014/main" id="{E8CB1B68-A634-CE5B-675D-58A755DCBC04}"/>
                </a:ext>
              </a:extLst>
            </p:cNvPr>
            <p:cNvSpPr/>
            <p:nvPr/>
          </p:nvSpPr>
          <p:spPr>
            <a:xfrm>
              <a:off x="2426475" y="2255725"/>
              <a:ext cx="55875" cy="46900"/>
            </a:xfrm>
            <a:custGeom>
              <a:avLst/>
              <a:gdLst/>
              <a:ahLst/>
              <a:cxnLst/>
              <a:rect l="l" t="t" r="r" b="b"/>
              <a:pathLst>
                <a:path w="2235" h="1876" extrusionOk="0">
                  <a:moveTo>
                    <a:pt x="1592" y="1"/>
                  </a:moveTo>
                  <a:cubicBezTo>
                    <a:pt x="1423" y="1"/>
                    <a:pt x="1257" y="76"/>
                    <a:pt x="1144" y="220"/>
                  </a:cubicBezTo>
                  <a:cubicBezTo>
                    <a:pt x="960" y="462"/>
                    <a:pt x="734" y="667"/>
                    <a:pt x="477" y="830"/>
                  </a:cubicBezTo>
                  <a:cubicBezTo>
                    <a:pt x="0" y="1135"/>
                    <a:pt x="218" y="1875"/>
                    <a:pt x="782" y="1875"/>
                  </a:cubicBezTo>
                  <a:cubicBezTo>
                    <a:pt x="891" y="1875"/>
                    <a:pt x="997" y="1845"/>
                    <a:pt x="1087" y="1784"/>
                  </a:cubicBezTo>
                  <a:cubicBezTo>
                    <a:pt x="1452" y="1552"/>
                    <a:pt x="1776" y="1256"/>
                    <a:pt x="2041" y="912"/>
                  </a:cubicBezTo>
                  <a:cubicBezTo>
                    <a:pt x="2234" y="667"/>
                    <a:pt x="2186" y="311"/>
                    <a:pt x="1939" y="121"/>
                  </a:cubicBezTo>
                  <a:cubicBezTo>
                    <a:pt x="1835" y="40"/>
                    <a:pt x="1713" y="1"/>
                    <a:pt x="159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2" name="Google Shape;8485;p67">
              <a:extLst>
                <a:ext uri="{FF2B5EF4-FFF2-40B4-BE49-F238E27FC236}">
                  <a16:creationId xmlns:a16="http://schemas.microsoft.com/office/drawing/2014/main" id="{3A3E4BC4-F8AE-5B99-1CB7-6D9920D66AFF}"/>
                </a:ext>
              </a:extLst>
            </p:cNvPr>
            <p:cNvSpPr/>
            <p:nvPr/>
          </p:nvSpPr>
          <p:spPr>
            <a:xfrm>
              <a:off x="2473050" y="2192325"/>
              <a:ext cx="37000" cy="41500"/>
            </a:xfrm>
            <a:custGeom>
              <a:avLst/>
              <a:gdLst/>
              <a:ahLst/>
              <a:cxnLst/>
              <a:rect l="l" t="t" r="r" b="b"/>
              <a:pathLst>
                <a:path w="1480" h="1660" extrusionOk="0">
                  <a:moveTo>
                    <a:pt x="838" y="0"/>
                  </a:moveTo>
                  <a:cubicBezTo>
                    <a:pt x="609" y="0"/>
                    <a:pt x="393" y="140"/>
                    <a:pt x="308" y="368"/>
                  </a:cubicBezTo>
                  <a:lnTo>
                    <a:pt x="109" y="896"/>
                  </a:lnTo>
                  <a:cubicBezTo>
                    <a:pt x="0" y="1189"/>
                    <a:pt x="148" y="1515"/>
                    <a:pt x="441" y="1624"/>
                  </a:cubicBezTo>
                  <a:cubicBezTo>
                    <a:pt x="506" y="1648"/>
                    <a:pt x="573" y="1660"/>
                    <a:pt x="639" y="1660"/>
                  </a:cubicBezTo>
                  <a:cubicBezTo>
                    <a:pt x="868" y="1660"/>
                    <a:pt x="1084" y="1520"/>
                    <a:pt x="1169" y="1292"/>
                  </a:cubicBezTo>
                  <a:lnTo>
                    <a:pt x="1368" y="764"/>
                  </a:lnTo>
                  <a:cubicBezTo>
                    <a:pt x="1480" y="471"/>
                    <a:pt x="1329" y="145"/>
                    <a:pt x="1036" y="36"/>
                  </a:cubicBezTo>
                  <a:cubicBezTo>
                    <a:pt x="971" y="12"/>
                    <a:pt x="904" y="0"/>
                    <a:pt x="8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4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0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4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 tmFilter="0, 0; .2, .5; .8, .5; 1, 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6" dur="250" autoRev="1" fill="hold"/>
                                        <p:tgtEl>
                                          <p:spTgt spid="3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500"/>
                            </p:stCondLst>
                            <p:childTnLst>
                              <p:par>
                                <p:cTn id="6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4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4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4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000"/>
                            </p:stCondLst>
                            <p:childTnLst>
                              <p:par>
                                <p:cTn id="80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2" dur="25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500"/>
                            </p:stCondLst>
                            <p:childTnLst>
                              <p:par>
                                <p:cTn id="8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4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4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4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000"/>
                            </p:stCondLst>
                            <p:childTnLst>
                              <p:par>
                                <p:cTn id="96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500" tmFilter="0, 0; .2, .5; .8, .5; 1, 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8" dur="250" autoRev="1" fill="hold"/>
                                        <p:tgtEl>
                                          <p:spTgt spid="3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4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4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2000"/>
                            </p:stCondLst>
                            <p:childTnLst>
                              <p:par>
                                <p:cTn id="10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4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4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500" tmFilter="0, 0; .2, .5; .8, .5; 1, 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0" dur="250" autoRev="1" fill="hold"/>
                                        <p:tgtEl>
                                          <p:spTgt spid="5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4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4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8" grpId="0" build="p"/>
      <p:bldP spid="415" grpId="0" build="p"/>
      <p:bldP spid="419" grpId="0" build="p"/>
      <p:bldP spid="420" grpId="0" build="p"/>
      <p:bldP spid="416" grpId="0" build="p"/>
      <p:bldP spid="421" grpId="0" build="p"/>
      <p:bldP spid="422" grpId="0" build="p"/>
      <p:bldP spid="423" grpId="0" build="p"/>
      <p:bldP spid="424" grpId="0" build="p"/>
      <p:bldP spid="425" grpId="0" build="p"/>
      <p:bldP spid="426" grpId="0" build="p"/>
      <p:bldP spid="427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2">
          <a:extLst>
            <a:ext uri="{FF2B5EF4-FFF2-40B4-BE49-F238E27FC236}">
              <a16:creationId xmlns:a16="http://schemas.microsoft.com/office/drawing/2014/main" id="{DFEA3604-590D-3E4F-B879-6E8D44FD8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51">
            <a:extLst>
              <a:ext uri="{FF2B5EF4-FFF2-40B4-BE49-F238E27FC236}">
                <a16:creationId xmlns:a16="http://schemas.microsoft.com/office/drawing/2014/main" id="{EAA16358-841C-A9C2-88A0-A89CC620B6DF}"/>
              </a:ext>
            </a:extLst>
          </p:cNvPr>
          <p:cNvSpPr txBox="1"/>
          <p:nvPr/>
        </p:nvSpPr>
        <p:spPr>
          <a:xfrm>
            <a:off x="3430489" y="1579557"/>
            <a:ext cx="2228100" cy="4911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000" dirty="0">
                <a:solidFill>
                  <a:schemeClr val="accen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Unification</a:t>
            </a:r>
            <a:endParaRPr sz="2000" dirty="0">
              <a:solidFill>
                <a:schemeClr val="accent2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624" name="Google Shape;624;p51">
            <a:extLst>
              <a:ext uri="{FF2B5EF4-FFF2-40B4-BE49-F238E27FC236}">
                <a16:creationId xmlns:a16="http://schemas.microsoft.com/office/drawing/2014/main" id="{A59B3F91-1616-E6BC-68D8-9B41F7630A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376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Preprocessing</a:t>
            </a:r>
            <a:endParaRPr dirty="0"/>
          </a:p>
        </p:txBody>
      </p:sp>
      <p:sp>
        <p:nvSpPr>
          <p:cNvPr id="625" name="Google Shape;625;p51">
            <a:extLst>
              <a:ext uri="{FF2B5EF4-FFF2-40B4-BE49-F238E27FC236}">
                <a16:creationId xmlns:a16="http://schemas.microsoft.com/office/drawing/2014/main" id="{93FFBF3A-5E71-305C-88D8-2258162D0F19}"/>
              </a:ext>
            </a:extLst>
          </p:cNvPr>
          <p:cNvSpPr txBox="1"/>
          <p:nvPr/>
        </p:nvSpPr>
        <p:spPr>
          <a:xfrm>
            <a:off x="458602" y="2210885"/>
            <a:ext cx="1940700" cy="4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2200" dirty="0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626" name="Google Shape;626;p51">
            <a:extLst>
              <a:ext uri="{FF2B5EF4-FFF2-40B4-BE49-F238E27FC236}">
                <a16:creationId xmlns:a16="http://schemas.microsoft.com/office/drawing/2014/main" id="{74B9A0AB-0EC5-C968-FE07-EA4BE951688B}"/>
              </a:ext>
            </a:extLst>
          </p:cNvPr>
          <p:cNvSpPr txBox="1"/>
          <p:nvPr/>
        </p:nvSpPr>
        <p:spPr>
          <a:xfrm>
            <a:off x="458584" y="2200705"/>
            <a:ext cx="2500626" cy="7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Converted inconsistent date formats from different websites</a:t>
            </a:r>
          </a:p>
          <a:p>
            <a:pPr marL="285750" lvl="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All dates are now in a standard </a:t>
            </a:r>
            <a:r>
              <a:rPr lang="en-US" b="1" dirty="0">
                <a:solidFill>
                  <a:schemeClr val="tx1"/>
                </a:solidFill>
                <a:latin typeface="DM Sans" pitchFamily="2" charset="0"/>
              </a:rPr>
              <a:t>MM/DD/YYYY</a:t>
            </a: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 format for system compatibility</a:t>
            </a:r>
            <a:endParaRPr dirty="0">
              <a:solidFill>
                <a:schemeClr val="tx1"/>
              </a:solidFill>
              <a:latin typeface="DM Sans" pitchFamily="2" charset="0"/>
              <a:ea typeface="DM Sans"/>
              <a:cs typeface="DM Sans"/>
              <a:sym typeface="DM Sans"/>
            </a:endParaRPr>
          </a:p>
        </p:txBody>
      </p:sp>
      <p:sp>
        <p:nvSpPr>
          <p:cNvPr id="627" name="Google Shape;627;p51">
            <a:extLst>
              <a:ext uri="{FF2B5EF4-FFF2-40B4-BE49-F238E27FC236}">
                <a16:creationId xmlns:a16="http://schemas.microsoft.com/office/drawing/2014/main" id="{2A4D6621-B029-A523-3DAE-B2E0D2E55884}"/>
              </a:ext>
            </a:extLst>
          </p:cNvPr>
          <p:cNvSpPr txBox="1"/>
          <p:nvPr/>
        </p:nvSpPr>
        <p:spPr>
          <a:xfrm>
            <a:off x="458584" y="1584314"/>
            <a:ext cx="2385500" cy="4911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 dirty="0">
                <a:solidFill>
                  <a:schemeClr val="accen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Standardization</a:t>
            </a:r>
            <a:endParaRPr sz="2000" dirty="0">
              <a:solidFill>
                <a:schemeClr val="accent2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630" name="Google Shape;630;p51">
            <a:extLst>
              <a:ext uri="{FF2B5EF4-FFF2-40B4-BE49-F238E27FC236}">
                <a16:creationId xmlns:a16="http://schemas.microsoft.com/office/drawing/2014/main" id="{F332A582-BF43-98CC-D296-EA5A4E924C1B}"/>
              </a:ext>
            </a:extLst>
          </p:cNvPr>
          <p:cNvSpPr txBox="1"/>
          <p:nvPr/>
        </p:nvSpPr>
        <p:spPr>
          <a:xfrm>
            <a:off x="6161766" y="1579557"/>
            <a:ext cx="2070699" cy="4911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 dirty="0">
                <a:solidFill>
                  <a:schemeClr val="accen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Linking</a:t>
            </a:r>
            <a:endParaRPr sz="2000" dirty="0">
              <a:solidFill>
                <a:schemeClr val="accent2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grpSp>
        <p:nvGrpSpPr>
          <p:cNvPr id="5" name="Google Shape;955;p61">
            <a:extLst>
              <a:ext uri="{FF2B5EF4-FFF2-40B4-BE49-F238E27FC236}">
                <a16:creationId xmlns:a16="http://schemas.microsoft.com/office/drawing/2014/main" id="{FFEA3DE2-78FF-4497-3205-AF83751CE2AE}"/>
              </a:ext>
            </a:extLst>
          </p:cNvPr>
          <p:cNvGrpSpPr/>
          <p:nvPr/>
        </p:nvGrpSpPr>
        <p:grpSpPr>
          <a:xfrm>
            <a:off x="2628034" y="1673438"/>
            <a:ext cx="261400" cy="317236"/>
            <a:chOff x="4960900" y="2433225"/>
            <a:chExt cx="48525" cy="60050"/>
          </a:xfrm>
          <a:solidFill>
            <a:schemeClr val="tx1"/>
          </a:solidFill>
        </p:grpSpPr>
        <p:sp>
          <p:nvSpPr>
            <p:cNvPr id="6" name="Google Shape;956;p61">
              <a:extLst>
                <a:ext uri="{FF2B5EF4-FFF2-40B4-BE49-F238E27FC236}">
                  <a16:creationId xmlns:a16="http://schemas.microsoft.com/office/drawing/2014/main" id="{E6A15318-1710-ECC8-AF49-7EEC41069000}"/>
                </a:ext>
              </a:extLst>
            </p:cNvPr>
            <p:cNvSpPr/>
            <p:nvPr/>
          </p:nvSpPr>
          <p:spPr>
            <a:xfrm>
              <a:off x="4974225" y="2433225"/>
              <a:ext cx="35200" cy="60050"/>
            </a:xfrm>
            <a:custGeom>
              <a:avLst/>
              <a:gdLst/>
              <a:ahLst/>
              <a:cxnLst/>
              <a:rect l="l" t="t" r="r" b="b"/>
              <a:pathLst>
                <a:path w="1408" h="2402" extrusionOk="0">
                  <a:moveTo>
                    <a:pt x="102" y="0"/>
                  </a:moveTo>
                  <a:lnTo>
                    <a:pt x="95" y="7"/>
                  </a:lnTo>
                  <a:lnTo>
                    <a:pt x="1112" y="1154"/>
                  </a:lnTo>
                  <a:lnTo>
                    <a:pt x="1" y="2402"/>
                  </a:lnTo>
                  <a:lnTo>
                    <a:pt x="297" y="2402"/>
                  </a:lnTo>
                  <a:lnTo>
                    <a:pt x="1407" y="1154"/>
                  </a:lnTo>
                  <a:lnTo>
                    <a:pt x="38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957;p61">
              <a:extLst>
                <a:ext uri="{FF2B5EF4-FFF2-40B4-BE49-F238E27FC236}">
                  <a16:creationId xmlns:a16="http://schemas.microsoft.com/office/drawing/2014/main" id="{0162231D-83A4-DC49-6629-02CEE9078201}"/>
                </a:ext>
              </a:extLst>
            </p:cNvPr>
            <p:cNvSpPr/>
            <p:nvPr/>
          </p:nvSpPr>
          <p:spPr>
            <a:xfrm>
              <a:off x="4960900" y="2433225"/>
              <a:ext cx="35175" cy="60050"/>
            </a:xfrm>
            <a:custGeom>
              <a:avLst/>
              <a:gdLst/>
              <a:ahLst/>
              <a:cxnLst/>
              <a:rect l="l" t="t" r="r" b="b"/>
              <a:pathLst>
                <a:path w="1407" h="2402" extrusionOk="0">
                  <a:moveTo>
                    <a:pt x="108" y="0"/>
                  </a:moveTo>
                  <a:lnTo>
                    <a:pt x="94" y="7"/>
                  </a:lnTo>
                  <a:lnTo>
                    <a:pt x="1111" y="1154"/>
                  </a:lnTo>
                  <a:lnTo>
                    <a:pt x="0" y="2402"/>
                  </a:lnTo>
                  <a:lnTo>
                    <a:pt x="296" y="2402"/>
                  </a:lnTo>
                  <a:lnTo>
                    <a:pt x="1407" y="1154"/>
                  </a:lnTo>
                  <a:lnTo>
                    <a:pt x="39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" name="Google Shape;955;p61">
            <a:extLst>
              <a:ext uri="{FF2B5EF4-FFF2-40B4-BE49-F238E27FC236}">
                <a16:creationId xmlns:a16="http://schemas.microsoft.com/office/drawing/2014/main" id="{40CD76F2-4642-2FBB-0113-6EA685125DC0}"/>
              </a:ext>
            </a:extLst>
          </p:cNvPr>
          <p:cNvGrpSpPr/>
          <p:nvPr/>
        </p:nvGrpSpPr>
        <p:grpSpPr>
          <a:xfrm>
            <a:off x="5397189" y="1666489"/>
            <a:ext cx="261400" cy="317236"/>
            <a:chOff x="4960900" y="2433225"/>
            <a:chExt cx="48525" cy="60050"/>
          </a:xfrm>
          <a:solidFill>
            <a:schemeClr val="tx1"/>
          </a:solidFill>
        </p:grpSpPr>
        <p:sp>
          <p:nvSpPr>
            <p:cNvPr id="9" name="Google Shape;956;p61">
              <a:extLst>
                <a:ext uri="{FF2B5EF4-FFF2-40B4-BE49-F238E27FC236}">
                  <a16:creationId xmlns:a16="http://schemas.microsoft.com/office/drawing/2014/main" id="{6D1FE3C4-00E1-E0D3-FC22-783EE595BCA2}"/>
                </a:ext>
              </a:extLst>
            </p:cNvPr>
            <p:cNvSpPr/>
            <p:nvPr/>
          </p:nvSpPr>
          <p:spPr>
            <a:xfrm>
              <a:off x="4974225" y="2433225"/>
              <a:ext cx="35200" cy="60050"/>
            </a:xfrm>
            <a:custGeom>
              <a:avLst/>
              <a:gdLst/>
              <a:ahLst/>
              <a:cxnLst/>
              <a:rect l="l" t="t" r="r" b="b"/>
              <a:pathLst>
                <a:path w="1408" h="2402" extrusionOk="0">
                  <a:moveTo>
                    <a:pt x="102" y="0"/>
                  </a:moveTo>
                  <a:lnTo>
                    <a:pt x="95" y="7"/>
                  </a:lnTo>
                  <a:lnTo>
                    <a:pt x="1112" y="1154"/>
                  </a:lnTo>
                  <a:lnTo>
                    <a:pt x="1" y="2402"/>
                  </a:lnTo>
                  <a:lnTo>
                    <a:pt x="297" y="2402"/>
                  </a:lnTo>
                  <a:lnTo>
                    <a:pt x="1407" y="1154"/>
                  </a:lnTo>
                  <a:lnTo>
                    <a:pt x="38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957;p61">
              <a:extLst>
                <a:ext uri="{FF2B5EF4-FFF2-40B4-BE49-F238E27FC236}">
                  <a16:creationId xmlns:a16="http://schemas.microsoft.com/office/drawing/2014/main" id="{27478DF8-A779-0153-D9B8-74710F794CD8}"/>
                </a:ext>
              </a:extLst>
            </p:cNvPr>
            <p:cNvSpPr/>
            <p:nvPr/>
          </p:nvSpPr>
          <p:spPr>
            <a:xfrm>
              <a:off x="4960900" y="2433225"/>
              <a:ext cx="35175" cy="60050"/>
            </a:xfrm>
            <a:custGeom>
              <a:avLst/>
              <a:gdLst/>
              <a:ahLst/>
              <a:cxnLst/>
              <a:rect l="l" t="t" r="r" b="b"/>
              <a:pathLst>
                <a:path w="1407" h="2402" extrusionOk="0">
                  <a:moveTo>
                    <a:pt x="108" y="0"/>
                  </a:moveTo>
                  <a:lnTo>
                    <a:pt x="94" y="7"/>
                  </a:lnTo>
                  <a:lnTo>
                    <a:pt x="1111" y="1154"/>
                  </a:lnTo>
                  <a:lnTo>
                    <a:pt x="0" y="2402"/>
                  </a:lnTo>
                  <a:lnTo>
                    <a:pt x="296" y="2402"/>
                  </a:lnTo>
                  <a:lnTo>
                    <a:pt x="1407" y="1154"/>
                  </a:lnTo>
                  <a:lnTo>
                    <a:pt x="39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" name="Google Shape;626;p51">
            <a:extLst>
              <a:ext uri="{FF2B5EF4-FFF2-40B4-BE49-F238E27FC236}">
                <a16:creationId xmlns:a16="http://schemas.microsoft.com/office/drawing/2014/main" id="{469FFC86-0D3B-3B22-CA5D-C064B885F729}"/>
              </a:ext>
            </a:extLst>
          </p:cNvPr>
          <p:cNvSpPr txBox="1"/>
          <p:nvPr/>
        </p:nvSpPr>
        <p:spPr>
          <a:xfrm>
            <a:off x="3309041" y="2082935"/>
            <a:ext cx="2500626" cy="7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Fixed inconsistent team names </a:t>
            </a:r>
          </a:p>
          <a:p>
            <a:pPr marL="285750" lvl="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Every team has a unique </a:t>
            </a:r>
            <a:r>
              <a:rPr lang="en-US" b="1" dirty="0">
                <a:solidFill>
                  <a:schemeClr val="tx1"/>
                </a:solidFill>
                <a:latin typeface="DM Sans" pitchFamily="2" charset="0"/>
              </a:rPr>
              <a:t>Team ID</a:t>
            </a: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 (e.g., "AHL") that works across all files</a:t>
            </a:r>
            <a:endParaRPr dirty="0">
              <a:solidFill>
                <a:schemeClr val="tx1"/>
              </a:solidFill>
              <a:latin typeface="DM Sans" pitchFamily="2" charset="0"/>
              <a:ea typeface="DM Sans"/>
              <a:cs typeface="DM Sans"/>
              <a:sym typeface="DM Sans"/>
            </a:endParaRPr>
          </a:p>
        </p:txBody>
      </p:sp>
      <p:sp>
        <p:nvSpPr>
          <p:cNvPr id="13" name="Google Shape;626;p51">
            <a:extLst>
              <a:ext uri="{FF2B5EF4-FFF2-40B4-BE49-F238E27FC236}">
                <a16:creationId xmlns:a16="http://schemas.microsoft.com/office/drawing/2014/main" id="{3D7247FE-64B3-6D87-6F6F-5332424D9048}"/>
              </a:ext>
            </a:extLst>
          </p:cNvPr>
          <p:cNvSpPr txBox="1"/>
          <p:nvPr/>
        </p:nvSpPr>
        <p:spPr>
          <a:xfrm>
            <a:off x="5932224" y="2082935"/>
            <a:ext cx="2500626" cy="7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Connected the separate Excel sheets using the new IDs</a:t>
            </a:r>
          </a:p>
          <a:p>
            <a:pPr marL="285750" lvl="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Transformed "flat" files into a </a:t>
            </a:r>
            <a:r>
              <a:rPr lang="en-US" b="1" dirty="0">
                <a:solidFill>
                  <a:schemeClr val="tx1"/>
                </a:solidFill>
                <a:latin typeface="DM Sans" pitchFamily="2" charset="0"/>
              </a:rPr>
              <a:t>Connected Schema.</a:t>
            </a:r>
            <a:endParaRPr dirty="0">
              <a:solidFill>
                <a:schemeClr val="tx1"/>
              </a:solidFill>
              <a:latin typeface="DM Sans" pitchFamily="2" charset="0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3842361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62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62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3" presetClass="path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2.5E-6 -2.83951E-6 L 0.05712 -2.83951E-6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47" y="0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200"/>
                                        <p:tgtEl>
                                          <p:spTgt spid="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750"/>
                            </p:stCondLst>
                            <p:childTnLst>
                              <p:par>
                                <p:cTn id="26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 tmFilter="0, 0; .2, .5; .8, .5; 1, 0"/>
                                        <p:tgtEl>
                                          <p:spTgt spid="6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250" autoRev="1" fill="hold"/>
                                        <p:tgtEl>
                                          <p:spTgt spid="6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1.7284E-6 L 0.05157 1.7284E-6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6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 tmFilter="0, 0; .2, .5; .8, .5; 1, 0"/>
                                        <p:tgtEl>
                                          <p:spTgt spid="63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9" dur="250" autoRev="1" fill="hold"/>
                                        <p:tgtEl>
                                          <p:spTgt spid="63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3" grpId="0" animBg="1"/>
      <p:bldP spid="623" grpId="1" animBg="1"/>
      <p:bldP spid="626" grpId="0"/>
      <p:bldP spid="627" grpId="0" animBg="1"/>
      <p:bldP spid="630" grpId="0" animBg="1"/>
      <p:bldP spid="630" grpId="1" animBg="1"/>
      <p:bldP spid="11" grpId="0"/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>
          <a:extLst>
            <a:ext uri="{FF2B5EF4-FFF2-40B4-BE49-F238E27FC236}">
              <a16:creationId xmlns:a16="http://schemas.microsoft.com/office/drawing/2014/main" id="{0F3ABC6E-6852-14E8-9C5D-46E8D73AB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6">
            <a:extLst>
              <a:ext uri="{FF2B5EF4-FFF2-40B4-BE49-F238E27FC236}">
                <a16:creationId xmlns:a16="http://schemas.microsoft.com/office/drawing/2014/main" id="{1351E482-10DB-04A7-CF05-C55B37FD0A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9999" y="445025"/>
            <a:ext cx="808946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Data Modeling</a:t>
            </a:r>
          </a:p>
        </p:txBody>
      </p:sp>
      <p:sp>
        <p:nvSpPr>
          <p:cNvPr id="367" name="Google Shape;367;p36">
            <a:extLst>
              <a:ext uri="{FF2B5EF4-FFF2-40B4-BE49-F238E27FC236}">
                <a16:creationId xmlns:a16="http://schemas.microsoft.com/office/drawing/2014/main" id="{B6FDECD2-0072-853B-82B9-7E3B01512EE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79480" y="1251813"/>
            <a:ext cx="3692520" cy="43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sz="2000" dirty="0"/>
              <a:t>Infrastructure Model</a:t>
            </a:r>
            <a:endParaRPr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11E889-EE78-B1CC-8DC2-573D278C4715}"/>
              </a:ext>
            </a:extLst>
          </p:cNvPr>
          <p:cNvSpPr txBox="1"/>
          <p:nvPr/>
        </p:nvSpPr>
        <p:spPr>
          <a:xfrm>
            <a:off x="879480" y="1689232"/>
            <a:ext cx="3771794" cy="2648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DM Sans" pitchFamily="2" charset="0"/>
              </a:rPr>
              <a:t>Purpose:</a:t>
            </a: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 Connects every team to their specific home venue.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DM Sans" pitchFamily="2" charset="0"/>
              </a:rPr>
              <a:t>How it Works:</a:t>
            </a: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 Uses a "Many-to-One" link because multiple teams can share one stadium.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DM Sans" pitchFamily="2" charset="0"/>
              </a:rPr>
              <a:t>Travel Calculation:</a:t>
            </a: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 Links stadiums to a Distance Matrix to automatically calculate travel costs.</a:t>
            </a:r>
            <a:endParaRPr lang="en-US" dirty="0">
              <a:solidFill>
                <a:schemeClr val="tx1"/>
              </a:solidFill>
              <a:latin typeface="DM Sans" pitchFamily="2" charset="0"/>
              <a:cs typeface="Diwani Simple Striped" panose="02010400000000000000" pitchFamily="2" charset="-78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1E2A083-FD09-4AD9-A3F6-351BE5ACB183}"/>
              </a:ext>
            </a:extLst>
          </p:cNvPr>
          <p:cNvGrpSpPr/>
          <p:nvPr/>
        </p:nvGrpSpPr>
        <p:grpSpPr>
          <a:xfrm>
            <a:off x="4749191" y="1230596"/>
            <a:ext cx="1332074" cy="1170045"/>
            <a:chOff x="5800165" y="1707786"/>
            <a:chExt cx="1013011" cy="124686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81E4277-1504-4D90-B474-4938B603F346}"/>
                </a:ext>
              </a:extLst>
            </p:cNvPr>
            <p:cNvSpPr/>
            <p:nvPr/>
          </p:nvSpPr>
          <p:spPr>
            <a:xfrm>
              <a:off x="5800165" y="1707786"/>
              <a:ext cx="1013011" cy="328299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Stadiums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978D60C-5AAD-4879-8175-7A516CD8CAF3}"/>
                </a:ext>
              </a:extLst>
            </p:cNvPr>
            <p:cNvSpPr/>
            <p:nvPr/>
          </p:nvSpPr>
          <p:spPr>
            <a:xfrm>
              <a:off x="5800165" y="2021305"/>
              <a:ext cx="1013011" cy="933346"/>
            </a:xfrm>
            <a:prstGeom prst="rect">
              <a:avLst/>
            </a:prstGeom>
            <a:ln>
              <a:solidFill>
                <a:schemeClr val="tx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 err="1">
                  <a:solidFill>
                    <a:schemeClr val="accent5">
                      <a:lumMod val="50000"/>
                    </a:schemeClr>
                  </a:solidFill>
                </a:rPr>
                <a:t>Stadium_ID</a:t>
              </a:r>
              <a:endParaRPr lang="en-US" sz="1100" dirty="0">
                <a:solidFill>
                  <a:schemeClr val="accent5">
                    <a:lumMod val="50000"/>
                  </a:schemeClr>
                </a:solidFill>
              </a:endParaRPr>
            </a:p>
            <a:p>
              <a:pPr algn="ctr"/>
              <a:r>
                <a:rPr lang="en-US" sz="1100" dirty="0" err="1">
                  <a:solidFill>
                    <a:schemeClr val="accent5">
                      <a:lumMod val="50000"/>
                    </a:schemeClr>
                  </a:solidFill>
                </a:rPr>
                <a:t>Stadium_Name</a:t>
              </a:r>
              <a:endParaRPr lang="en-US" sz="1100" dirty="0">
                <a:solidFill>
                  <a:schemeClr val="accent5">
                    <a:lumMod val="50000"/>
                  </a:schemeClr>
                </a:solidFill>
              </a:endParaRPr>
            </a:p>
            <a:p>
              <a:pPr algn="ctr"/>
              <a:r>
                <a:rPr lang="en-US" sz="1100" dirty="0" err="1">
                  <a:solidFill>
                    <a:schemeClr val="accent5">
                      <a:lumMod val="50000"/>
                    </a:schemeClr>
                  </a:solidFill>
                </a:rPr>
                <a:t>Gov_ID</a:t>
              </a:r>
              <a:endParaRPr lang="en-US" sz="1100" dirty="0">
                <a:solidFill>
                  <a:schemeClr val="accent5">
                    <a:lumMod val="50000"/>
                  </a:schemeClr>
                </a:solidFill>
              </a:endParaRPr>
            </a:p>
            <a:p>
              <a:pPr algn="ctr"/>
              <a:r>
                <a:rPr lang="en-US" sz="1100" dirty="0">
                  <a:solidFill>
                    <a:schemeClr val="accent5">
                      <a:lumMod val="50000"/>
                    </a:schemeClr>
                  </a:solidFill>
                </a:rPr>
                <a:t>City</a:t>
              </a:r>
            </a:p>
            <a:p>
              <a:pPr algn="ctr"/>
              <a:r>
                <a:rPr lang="en-US" sz="1100" dirty="0" err="1">
                  <a:solidFill>
                    <a:schemeClr val="accent5">
                      <a:lumMod val="50000"/>
                    </a:schemeClr>
                  </a:solidFill>
                </a:rPr>
                <a:t>Is_Floodlit</a:t>
              </a:r>
              <a:endParaRPr lang="en-US" sz="1100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C098FCB-45BE-4A39-AA1B-97895CC18FB4}"/>
              </a:ext>
            </a:extLst>
          </p:cNvPr>
          <p:cNvGrpSpPr/>
          <p:nvPr/>
        </p:nvGrpSpPr>
        <p:grpSpPr>
          <a:xfrm>
            <a:off x="7551843" y="2919106"/>
            <a:ext cx="1425354" cy="1105444"/>
            <a:chOff x="5800165" y="1830028"/>
            <a:chExt cx="1013011" cy="1179107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B8202221-8CCD-4684-A643-3FEBC534997A}"/>
                </a:ext>
              </a:extLst>
            </p:cNvPr>
            <p:cNvSpPr/>
            <p:nvPr/>
          </p:nvSpPr>
          <p:spPr>
            <a:xfrm>
              <a:off x="5800165" y="1830028"/>
              <a:ext cx="1013011" cy="230592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Sec_Matrix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3989AC9-9DFB-4C86-9181-0D0A0A901BF8}"/>
                </a:ext>
              </a:extLst>
            </p:cNvPr>
            <p:cNvSpPr/>
            <p:nvPr/>
          </p:nvSpPr>
          <p:spPr>
            <a:xfrm>
              <a:off x="5800165" y="2081796"/>
              <a:ext cx="1013011" cy="927339"/>
            </a:xfrm>
            <a:prstGeom prst="rect">
              <a:avLst/>
            </a:prstGeom>
            <a:ln>
              <a:solidFill>
                <a:schemeClr val="tx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 err="1">
                  <a:solidFill>
                    <a:schemeClr val="accent5">
                      <a:lumMod val="50000"/>
                    </a:schemeClr>
                  </a:solidFill>
                </a:rPr>
                <a:t>Home_Team_ID</a:t>
              </a:r>
              <a:endParaRPr lang="en-US" sz="1100" dirty="0">
                <a:solidFill>
                  <a:schemeClr val="accent5">
                    <a:lumMod val="50000"/>
                  </a:schemeClr>
                </a:solidFill>
              </a:endParaRPr>
            </a:p>
            <a:p>
              <a:pPr algn="ctr"/>
              <a:r>
                <a:rPr lang="en-US" sz="1100" dirty="0" err="1">
                  <a:solidFill>
                    <a:schemeClr val="accent5">
                      <a:lumMod val="50000"/>
                    </a:schemeClr>
                  </a:solidFill>
                </a:rPr>
                <a:t>Away_Team_ID</a:t>
              </a:r>
              <a:endParaRPr lang="en-US" sz="1100" dirty="0">
                <a:solidFill>
                  <a:schemeClr val="accent5">
                    <a:lumMod val="50000"/>
                  </a:schemeClr>
                </a:solidFill>
              </a:endParaRPr>
            </a:p>
            <a:p>
              <a:pPr algn="ctr"/>
              <a:r>
                <a:rPr lang="en-US" sz="1100" dirty="0">
                  <a:solidFill>
                    <a:schemeClr val="accent5">
                      <a:lumMod val="50000"/>
                    </a:schemeClr>
                  </a:solidFill>
                </a:rPr>
                <a:t>Banned_venue1_ID</a:t>
              </a:r>
            </a:p>
            <a:p>
              <a:pPr algn="ctr"/>
              <a:r>
                <a:rPr lang="en-US" sz="1100" dirty="0">
                  <a:solidFill>
                    <a:schemeClr val="accent5">
                      <a:lumMod val="50000"/>
                    </a:schemeClr>
                  </a:solidFill>
                </a:rPr>
                <a:t>Banned_venue2_ID</a:t>
              </a:r>
            </a:p>
            <a:p>
              <a:pPr algn="ctr"/>
              <a:r>
                <a:rPr lang="en-US" sz="1100" dirty="0" err="1">
                  <a:solidFill>
                    <a:schemeClr val="accent5">
                      <a:lumMod val="50000"/>
                    </a:schemeClr>
                  </a:solidFill>
                </a:rPr>
                <a:t>Forced_venue_ID</a:t>
              </a:r>
              <a:endParaRPr lang="en-US" sz="1100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6A5C8CD-E6F4-4119-86B4-0994B3A20701}"/>
              </a:ext>
            </a:extLst>
          </p:cNvPr>
          <p:cNvGrpSpPr/>
          <p:nvPr/>
        </p:nvGrpSpPr>
        <p:grpSpPr>
          <a:xfrm>
            <a:off x="4978090" y="3327881"/>
            <a:ext cx="1465430" cy="1185445"/>
            <a:chOff x="5800165" y="1512117"/>
            <a:chExt cx="1013012" cy="2157515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7C5D0E39-7F8E-495E-8772-B262A11803DE}"/>
                </a:ext>
              </a:extLst>
            </p:cNvPr>
            <p:cNvSpPr/>
            <p:nvPr/>
          </p:nvSpPr>
          <p:spPr>
            <a:xfrm>
              <a:off x="5800166" y="1512117"/>
              <a:ext cx="1013011" cy="52396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Dist_Matrix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3A1D9D9F-8D8F-4A1D-A4EF-73BC032CA1A0}"/>
                </a:ext>
              </a:extLst>
            </p:cNvPr>
            <p:cNvSpPr/>
            <p:nvPr/>
          </p:nvSpPr>
          <p:spPr>
            <a:xfrm>
              <a:off x="5800165" y="2021305"/>
              <a:ext cx="1013011" cy="1648327"/>
            </a:xfrm>
            <a:prstGeom prst="rect">
              <a:avLst/>
            </a:prstGeom>
            <a:ln>
              <a:solidFill>
                <a:schemeClr val="tx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accent5">
                      <a:lumMod val="50000"/>
                    </a:schemeClr>
                  </a:solidFill>
                </a:rPr>
                <a:t>Origin</a:t>
              </a:r>
            </a:p>
            <a:p>
              <a:pPr algn="ctr"/>
              <a:r>
                <a:rPr lang="en-US" sz="1100" dirty="0">
                  <a:solidFill>
                    <a:schemeClr val="accent5">
                      <a:lumMod val="50000"/>
                    </a:schemeClr>
                  </a:solidFill>
                </a:rPr>
                <a:t>30_June</a:t>
              </a:r>
            </a:p>
            <a:p>
              <a:pPr algn="ctr"/>
              <a:r>
                <a:rPr lang="en-US" sz="1100" dirty="0" err="1">
                  <a:solidFill>
                    <a:schemeClr val="accent5">
                      <a:lumMod val="50000"/>
                    </a:schemeClr>
                  </a:solidFill>
                </a:rPr>
                <a:t>Alx_Stadium</a:t>
              </a:r>
              <a:endParaRPr lang="en-US" sz="1100" dirty="0">
                <a:solidFill>
                  <a:schemeClr val="accent5">
                    <a:lumMod val="50000"/>
                  </a:schemeClr>
                </a:solidFill>
              </a:endParaRPr>
            </a:p>
            <a:p>
              <a:pPr algn="ctr"/>
              <a:r>
                <a:rPr lang="en-US" sz="1100" dirty="0" err="1">
                  <a:solidFill>
                    <a:schemeClr val="accent5">
                      <a:lumMod val="50000"/>
                    </a:schemeClr>
                  </a:solidFill>
                </a:rPr>
                <a:t>Al_Salam</a:t>
              </a:r>
              <a:endParaRPr lang="en-US" sz="1100" dirty="0">
                <a:solidFill>
                  <a:schemeClr val="accent5">
                    <a:lumMod val="50000"/>
                  </a:schemeClr>
                </a:solidFill>
              </a:endParaRPr>
            </a:p>
            <a:p>
              <a:pPr algn="ctr"/>
              <a:r>
                <a:rPr lang="en-US" sz="1100" dirty="0" err="1">
                  <a:solidFill>
                    <a:schemeClr val="accent5">
                      <a:lumMod val="50000"/>
                    </a:schemeClr>
                  </a:solidFill>
                </a:rPr>
                <a:t>Arab_CONT</a:t>
              </a:r>
              <a:endParaRPr lang="en-US" sz="1100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DD45B66-A4DC-430D-B6A5-518E737B4B60}"/>
              </a:ext>
            </a:extLst>
          </p:cNvPr>
          <p:cNvGrpSpPr/>
          <p:nvPr/>
        </p:nvGrpSpPr>
        <p:grpSpPr>
          <a:xfrm>
            <a:off x="6605274" y="333493"/>
            <a:ext cx="1423714" cy="1842215"/>
            <a:chOff x="5697178" y="1864332"/>
            <a:chExt cx="1116000" cy="940820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47CF7C0-49A9-4371-903A-FB95F684C05F}"/>
                </a:ext>
              </a:extLst>
            </p:cNvPr>
            <p:cNvSpPr/>
            <p:nvPr/>
          </p:nvSpPr>
          <p:spPr>
            <a:xfrm>
              <a:off x="5697178" y="1864332"/>
              <a:ext cx="1116000" cy="1569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Team_Details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288F67E5-12BD-43A8-92A2-1759959BB574}"/>
                </a:ext>
              </a:extLst>
            </p:cNvPr>
            <p:cNvSpPr/>
            <p:nvPr/>
          </p:nvSpPr>
          <p:spPr>
            <a:xfrm>
              <a:off x="5697178" y="2021306"/>
              <a:ext cx="1115998" cy="783846"/>
            </a:xfrm>
            <a:prstGeom prst="rect">
              <a:avLst/>
            </a:prstGeom>
            <a:ln>
              <a:solidFill>
                <a:schemeClr val="tx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 err="1">
                  <a:solidFill>
                    <a:schemeClr val="accent5">
                      <a:lumMod val="50000"/>
                    </a:schemeClr>
                  </a:solidFill>
                </a:rPr>
                <a:t>Team_ID</a:t>
              </a:r>
              <a:endParaRPr lang="en-US" sz="1100" dirty="0">
                <a:solidFill>
                  <a:schemeClr val="accent5">
                    <a:lumMod val="50000"/>
                  </a:schemeClr>
                </a:solidFill>
              </a:endParaRPr>
            </a:p>
            <a:p>
              <a:pPr algn="ctr"/>
              <a:r>
                <a:rPr lang="en-US" sz="1100" dirty="0" err="1">
                  <a:solidFill>
                    <a:schemeClr val="accent5">
                      <a:lumMod val="50000"/>
                    </a:schemeClr>
                  </a:solidFill>
                </a:rPr>
                <a:t>Team_Name</a:t>
              </a:r>
              <a:endParaRPr lang="en-US" sz="1100" dirty="0">
                <a:solidFill>
                  <a:schemeClr val="accent5">
                    <a:lumMod val="50000"/>
                  </a:schemeClr>
                </a:solidFill>
              </a:endParaRPr>
            </a:p>
            <a:p>
              <a:pPr algn="ctr"/>
              <a:r>
                <a:rPr lang="en-US" sz="1100" dirty="0" err="1">
                  <a:solidFill>
                    <a:schemeClr val="accent5">
                      <a:lumMod val="50000"/>
                    </a:schemeClr>
                  </a:solidFill>
                </a:rPr>
                <a:t>Gov_ID</a:t>
              </a:r>
              <a:endParaRPr lang="en-US" sz="1100" dirty="0">
                <a:solidFill>
                  <a:schemeClr val="accent5">
                    <a:lumMod val="50000"/>
                  </a:schemeClr>
                </a:solidFill>
              </a:endParaRPr>
            </a:p>
            <a:p>
              <a:pPr algn="ctr"/>
              <a:r>
                <a:rPr lang="en-US" sz="1100" dirty="0" err="1">
                  <a:solidFill>
                    <a:schemeClr val="accent5">
                      <a:lumMod val="50000"/>
                    </a:schemeClr>
                  </a:solidFill>
                </a:rPr>
                <a:t>Gov_Name</a:t>
              </a:r>
              <a:endParaRPr lang="en-US" sz="1100" dirty="0">
                <a:solidFill>
                  <a:schemeClr val="accent5">
                    <a:lumMod val="50000"/>
                  </a:schemeClr>
                </a:solidFill>
              </a:endParaRPr>
            </a:p>
            <a:p>
              <a:pPr algn="ctr"/>
              <a:r>
                <a:rPr lang="en-US" sz="1100" dirty="0" err="1">
                  <a:solidFill>
                    <a:schemeClr val="accent5">
                      <a:lumMod val="50000"/>
                    </a:schemeClr>
                  </a:solidFill>
                </a:rPr>
                <a:t>Home_Stadium_ID</a:t>
              </a:r>
              <a:endParaRPr lang="en-US" sz="1100" dirty="0">
                <a:solidFill>
                  <a:schemeClr val="accent5">
                    <a:lumMod val="50000"/>
                  </a:schemeClr>
                </a:solidFill>
              </a:endParaRPr>
            </a:p>
            <a:p>
              <a:pPr algn="ctr"/>
              <a:r>
                <a:rPr lang="en-US" sz="1100" dirty="0" err="1">
                  <a:solidFill>
                    <a:schemeClr val="accent5">
                      <a:lumMod val="50000"/>
                    </a:schemeClr>
                  </a:solidFill>
                </a:rPr>
                <a:t>Alt_Stadium_ID</a:t>
              </a:r>
              <a:endParaRPr lang="en-US" sz="1100" dirty="0">
                <a:solidFill>
                  <a:schemeClr val="accent5">
                    <a:lumMod val="50000"/>
                  </a:schemeClr>
                </a:solidFill>
              </a:endParaRPr>
            </a:p>
            <a:p>
              <a:pPr algn="ctr"/>
              <a:r>
                <a:rPr lang="en-US" sz="1100" dirty="0">
                  <a:solidFill>
                    <a:schemeClr val="accent5">
                      <a:lumMod val="50000"/>
                    </a:schemeClr>
                  </a:solidFill>
                </a:rPr>
                <a:t>Tier</a:t>
              </a:r>
            </a:p>
            <a:p>
              <a:pPr algn="ctr"/>
              <a:r>
                <a:rPr lang="en-US" sz="1100" dirty="0" err="1">
                  <a:solidFill>
                    <a:schemeClr val="accent5">
                      <a:lumMod val="50000"/>
                    </a:schemeClr>
                  </a:solidFill>
                </a:rPr>
                <a:t>Cont_Flag</a:t>
              </a:r>
              <a:endParaRPr lang="en-US" sz="1100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</p:grp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40AE51A0-5F22-300F-E0D1-32E21354C006}"/>
              </a:ext>
            </a:extLst>
          </p:cNvPr>
          <p:cNvCxnSpPr>
            <a:cxnSpLocks/>
          </p:cNvCxnSpPr>
          <p:nvPr/>
        </p:nvCxnSpPr>
        <p:spPr>
          <a:xfrm flipV="1">
            <a:off x="6081268" y="1472615"/>
            <a:ext cx="550057" cy="126462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911B09FD-70B7-B517-49EA-CE66D8C616EB}"/>
              </a:ext>
            </a:extLst>
          </p:cNvPr>
          <p:cNvCxnSpPr>
            <a:stCxn id="48" idx="3"/>
            <a:endCxn id="42" idx="1"/>
          </p:cNvCxnSpPr>
          <p:nvPr/>
        </p:nvCxnSpPr>
        <p:spPr>
          <a:xfrm flipH="1">
            <a:off x="7551843" y="1408286"/>
            <a:ext cx="477142" cy="2181562"/>
          </a:xfrm>
          <a:prstGeom prst="bentConnector5">
            <a:avLst>
              <a:gd name="adj1" fmla="val -47910"/>
              <a:gd name="adj2" fmla="val 57626"/>
              <a:gd name="adj3" fmla="val 14791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9FD51FC9-5273-54E7-75B1-AFA3D09373AD}"/>
              </a:ext>
            </a:extLst>
          </p:cNvPr>
          <p:cNvCxnSpPr>
            <a:stCxn id="44" idx="0"/>
            <a:endCxn id="10" idx="2"/>
          </p:cNvCxnSpPr>
          <p:nvPr/>
        </p:nvCxnSpPr>
        <p:spPr>
          <a:xfrm rot="16200000" flipV="1">
            <a:off x="5099397" y="2716472"/>
            <a:ext cx="927240" cy="295578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E7F63FB-1965-70CA-5424-79382749FEC0}"/>
              </a:ext>
            </a:extLst>
          </p:cNvPr>
          <p:cNvSpPr txBox="1"/>
          <p:nvPr/>
        </p:nvSpPr>
        <p:spPr>
          <a:xfrm>
            <a:off x="5423202" y="2369346"/>
            <a:ext cx="990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49348AF-D88C-82BA-A20E-1B1019BA1AA2}"/>
              </a:ext>
            </a:extLst>
          </p:cNvPr>
          <p:cNvSpPr txBox="1"/>
          <p:nvPr/>
        </p:nvSpPr>
        <p:spPr>
          <a:xfrm>
            <a:off x="5710804" y="3155145"/>
            <a:ext cx="990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*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D212BD6-70E4-76D0-0609-E6C5C2519518}"/>
              </a:ext>
            </a:extLst>
          </p:cNvPr>
          <p:cNvSpPr txBox="1"/>
          <p:nvPr/>
        </p:nvSpPr>
        <p:spPr>
          <a:xfrm>
            <a:off x="6081265" y="1428124"/>
            <a:ext cx="990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B102AE6-7DAB-B8DF-56BD-2418F5A6A2DD}"/>
              </a:ext>
            </a:extLst>
          </p:cNvPr>
          <p:cNvSpPr txBox="1"/>
          <p:nvPr/>
        </p:nvSpPr>
        <p:spPr>
          <a:xfrm>
            <a:off x="6517745" y="1342648"/>
            <a:ext cx="752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*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4A535C8-1E4B-885F-F401-E811B0C09507}"/>
              </a:ext>
            </a:extLst>
          </p:cNvPr>
          <p:cNvSpPr txBox="1"/>
          <p:nvPr/>
        </p:nvSpPr>
        <p:spPr>
          <a:xfrm>
            <a:off x="8063575" y="1230596"/>
            <a:ext cx="990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137AE75-5751-0D16-8232-EE2172FD35C0}"/>
              </a:ext>
            </a:extLst>
          </p:cNvPr>
          <p:cNvSpPr txBox="1"/>
          <p:nvPr/>
        </p:nvSpPr>
        <p:spPr>
          <a:xfrm>
            <a:off x="7452782" y="3433330"/>
            <a:ext cx="990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*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8700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7" grpId="0" build="p"/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>
          <a:extLst>
            <a:ext uri="{FF2B5EF4-FFF2-40B4-BE49-F238E27FC236}">
              <a16:creationId xmlns:a16="http://schemas.microsoft.com/office/drawing/2014/main" id="{0F3ABC6E-6852-14E8-9C5D-46E8D73AB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6">
            <a:extLst>
              <a:ext uri="{FF2B5EF4-FFF2-40B4-BE49-F238E27FC236}">
                <a16:creationId xmlns:a16="http://schemas.microsoft.com/office/drawing/2014/main" id="{1351E482-10DB-04A7-CF05-C55B37FD0A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9999" y="445025"/>
            <a:ext cx="808946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Data Modeling</a:t>
            </a:r>
          </a:p>
        </p:txBody>
      </p:sp>
      <p:sp>
        <p:nvSpPr>
          <p:cNvPr id="365" name="Google Shape;365;p36">
            <a:extLst>
              <a:ext uri="{FF2B5EF4-FFF2-40B4-BE49-F238E27FC236}">
                <a16:creationId xmlns:a16="http://schemas.microsoft.com/office/drawing/2014/main" id="{599533C4-C353-D261-84AD-D4BF3D441AA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139390" y="1670400"/>
            <a:ext cx="4711390" cy="37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8826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b="1" dirty="0"/>
              <a:t>Purpose: </a:t>
            </a:r>
            <a:r>
              <a:rPr lang="en-US" sz="1500" dirty="0"/>
              <a:t>A "Star Schema" centered around the main Calendar.</a:t>
            </a:r>
          </a:p>
          <a:p>
            <a:pPr marL="8826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b="1" dirty="0"/>
              <a:t>How it Works: </a:t>
            </a:r>
            <a:r>
              <a:rPr lang="en-US" sz="1500" dirty="0"/>
              <a:t>Connects the master calendar to FIFA and CAF lists</a:t>
            </a:r>
            <a:r>
              <a:rPr lang="en-US" sz="1500" b="1" dirty="0"/>
              <a:t>.</a:t>
            </a:r>
          </a:p>
          <a:p>
            <a:pPr marL="8826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b="1" dirty="0"/>
              <a:t>Blocking: </a:t>
            </a:r>
            <a:r>
              <a:rPr lang="en-US" sz="1500" dirty="0"/>
              <a:t>Automatically "blocks" league matches during international or continental dates.</a:t>
            </a:r>
          </a:p>
        </p:txBody>
      </p:sp>
      <p:sp>
        <p:nvSpPr>
          <p:cNvPr id="368" name="Google Shape;368;p36">
            <a:extLst>
              <a:ext uri="{FF2B5EF4-FFF2-40B4-BE49-F238E27FC236}">
                <a16:creationId xmlns:a16="http://schemas.microsoft.com/office/drawing/2014/main" id="{869CEB3F-4E06-34D5-5121-E0BC46FC4541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651873" y="1334727"/>
            <a:ext cx="3920127" cy="43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Temporal Model</a:t>
            </a:r>
            <a:endParaRPr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0455FB2-32A9-825E-E0E1-B2B4BD18D932}"/>
              </a:ext>
            </a:extLst>
          </p:cNvPr>
          <p:cNvGrpSpPr/>
          <p:nvPr/>
        </p:nvGrpSpPr>
        <p:grpSpPr>
          <a:xfrm>
            <a:off x="6897679" y="1749000"/>
            <a:ext cx="2017369" cy="1238283"/>
            <a:chOff x="5800165" y="1707786"/>
            <a:chExt cx="1013011" cy="1319583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8DA0852-9D5A-57DC-3FA8-888E4A21A3E9}"/>
                </a:ext>
              </a:extLst>
            </p:cNvPr>
            <p:cNvSpPr/>
            <p:nvPr/>
          </p:nvSpPr>
          <p:spPr>
            <a:xfrm>
              <a:off x="5800165" y="1707786"/>
              <a:ext cx="1013011" cy="328299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calender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2D704BB-B6D2-A4F7-DE40-6C30B9FC6885}"/>
                </a:ext>
              </a:extLst>
            </p:cNvPr>
            <p:cNvSpPr/>
            <p:nvPr/>
          </p:nvSpPr>
          <p:spPr>
            <a:xfrm>
              <a:off x="5800165" y="2021304"/>
              <a:ext cx="1013011" cy="1006065"/>
            </a:xfrm>
            <a:prstGeom prst="rect">
              <a:avLst/>
            </a:prstGeom>
            <a:ln>
              <a:solidFill>
                <a:schemeClr val="tx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 err="1">
                  <a:solidFill>
                    <a:schemeClr val="accent5">
                      <a:lumMod val="50000"/>
                    </a:schemeClr>
                  </a:solidFill>
                </a:rPr>
                <a:t>Day_ID</a:t>
              </a:r>
              <a:endParaRPr lang="en-US" sz="1100" dirty="0">
                <a:solidFill>
                  <a:schemeClr val="accent5">
                    <a:lumMod val="50000"/>
                  </a:schemeClr>
                </a:solidFill>
              </a:endParaRPr>
            </a:p>
            <a:p>
              <a:pPr algn="ctr"/>
              <a:r>
                <a:rPr lang="en-US" sz="1100" dirty="0">
                  <a:solidFill>
                    <a:schemeClr val="accent5">
                      <a:lumMod val="50000"/>
                    </a:schemeClr>
                  </a:solidFill>
                </a:rPr>
                <a:t>Date</a:t>
              </a:r>
            </a:p>
            <a:p>
              <a:pPr algn="ctr"/>
              <a:r>
                <a:rPr lang="en-US" sz="1100" dirty="0">
                  <a:solidFill>
                    <a:schemeClr val="accent5">
                      <a:lumMod val="50000"/>
                    </a:schemeClr>
                  </a:solidFill>
                </a:rPr>
                <a:t>Date time</a:t>
              </a:r>
            </a:p>
            <a:p>
              <a:pPr algn="ctr"/>
              <a:r>
                <a:rPr lang="en-US" sz="1100" dirty="0" err="1">
                  <a:solidFill>
                    <a:schemeClr val="accent5">
                      <a:lumMod val="50000"/>
                    </a:schemeClr>
                  </a:solidFill>
                </a:rPr>
                <a:t>Week_num</a:t>
              </a:r>
              <a:endParaRPr lang="en-US" sz="1100" dirty="0">
                <a:solidFill>
                  <a:schemeClr val="accent5">
                    <a:lumMod val="50000"/>
                  </a:schemeClr>
                </a:solidFill>
              </a:endParaRPr>
            </a:p>
            <a:p>
              <a:pPr algn="ctr"/>
              <a:r>
                <a:rPr lang="en-US" sz="1100" dirty="0">
                  <a:solidFill>
                    <a:schemeClr val="accent5">
                      <a:lumMod val="50000"/>
                    </a:schemeClr>
                  </a:solidFill>
                </a:rPr>
                <a:t>day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1918C3C9-C171-AF5D-D46D-18ED22C28229}"/>
              </a:ext>
            </a:extLst>
          </p:cNvPr>
          <p:cNvGrpSpPr/>
          <p:nvPr/>
        </p:nvGrpSpPr>
        <p:grpSpPr>
          <a:xfrm>
            <a:off x="4477380" y="2984744"/>
            <a:ext cx="1935799" cy="1428549"/>
            <a:chOff x="5800165" y="1830028"/>
            <a:chExt cx="1013011" cy="1179107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2E7E9FB-CA41-0A39-3C27-CADAB4CB20FB}"/>
                </a:ext>
              </a:extLst>
            </p:cNvPr>
            <p:cNvSpPr/>
            <p:nvPr/>
          </p:nvSpPr>
          <p:spPr>
            <a:xfrm>
              <a:off x="5800165" y="1830028"/>
              <a:ext cx="1013011" cy="230592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unique_CAF_dates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5C652C8-F1F6-67C0-9766-BBA59246FAD0}"/>
                </a:ext>
              </a:extLst>
            </p:cNvPr>
            <p:cNvSpPr/>
            <p:nvPr/>
          </p:nvSpPr>
          <p:spPr>
            <a:xfrm>
              <a:off x="5800165" y="2081796"/>
              <a:ext cx="1013011" cy="927339"/>
            </a:xfrm>
            <a:prstGeom prst="rect">
              <a:avLst/>
            </a:prstGeom>
            <a:ln>
              <a:solidFill>
                <a:schemeClr val="tx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 err="1">
                  <a:solidFill>
                    <a:schemeClr val="accent5">
                      <a:lumMod val="50000"/>
                    </a:schemeClr>
                  </a:solidFill>
                </a:rPr>
                <a:t>date_id</a:t>
              </a:r>
              <a:endParaRPr lang="en-US" sz="1100" dirty="0">
                <a:solidFill>
                  <a:schemeClr val="accent5">
                    <a:lumMod val="50000"/>
                  </a:schemeClr>
                </a:solidFill>
              </a:endParaRPr>
            </a:p>
            <a:p>
              <a:pPr algn="ctr"/>
              <a:r>
                <a:rPr lang="en-US" sz="1100" dirty="0" err="1">
                  <a:solidFill>
                    <a:schemeClr val="accent5">
                      <a:lumMod val="50000"/>
                    </a:schemeClr>
                  </a:solidFill>
                </a:rPr>
                <a:t>competition_name</a:t>
              </a:r>
              <a:endParaRPr lang="en-US" sz="1100" dirty="0">
                <a:solidFill>
                  <a:schemeClr val="accent5">
                    <a:lumMod val="50000"/>
                  </a:schemeClr>
                </a:solidFill>
              </a:endParaRPr>
            </a:p>
            <a:p>
              <a:pPr algn="ctr"/>
              <a:r>
                <a:rPr lang="en-US" sz="1100" dirty="0" err="1">
                  <a:solidFill>
                    <a:schemeClr val="accent5">
                      <a:lumMod val="50000"/>
                    </a:schemeClr>
                  </a:solidFill>
                </a:rPr>
                <a:t>caf_date</a:t>
              </a:r>
              <a:endParaRPr lang="en-US" sz="1100" dirty="0">
                <a:solidFill>
                  <a:schemeClr val="accent5">
                    <a:lumMod val="50000"/>
                  </a:schemeClr>
                </a:solidFill>
              </a:endParaRPr>
            </a:p>
            <a:p>
              <a:pPr algn="ctr"/>
              <a:r>
                <a:rPr lang="en-US" sz="1100" dirty="0">
                  <a:solidFill>
                    <a:schemeClr val="accent5">
                      <a:lumMod val="50000"/>
                    </a:schemeClr>
                  </a:solidFill>
                </a:rPr>
                <a:t>Round</a:t>
              </a:r>
            </a:p>
            <a:p>
              <a:pPr algn="ctr"/>
              <a:r>
                <a:rPr lang="en-US" sz="1100" dirty="0" err="1">
                  <a:solidFill>
                    <a:schemeClr val="accent5">
                      <a:lumMod val="50000"/>
                    </a:schemeClr>
                  </a:solidFill>
                </a:rPr>
                <a:t>team_id</a:t>
              </a:r>
              <a:endParaRPr lang="en-US" sz="1100" dirty="0">
                <a:solidFill>
                  <a:schemeClr val="accent5">
                    <a:lumMod val="50000"/>
                  </a:schemeClr>
                </a:solidFill>
              </a:endParaRPr>
            </a:p>
            <a:p>
              <a:pPr algn="ctr"/>
              <a:r>
                <a:rPr lang="en-US" sz="1100" dirty="0">
                  <a:solidFill>
                    <a:schemeClr val="accent5">
                      <a:lumMod val="50000"/>
                    </a:schemeClr>
                  </a:solidFill>
                </a:rPr>
                <a:t>location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88FA4860-4C9F-535B-1DE3-C603A4823B71}"/>
              </a:ext>
            </a:extLst>
          </p:cNvPr>
          <p:cNvGrpSpPr/>
          <p:nvPr/>
        </p:nvGrpSpPr>
        <p:grpSpPr>
          <a:xfrm>
            <a:off x="4986484" y="642279"/>
            <a:ext cx="1332074" cy="802203"/>
            <a:chOff x="5800165" y="1512117"/>
            <a:chExt cx="1013012" cy="145885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0647B1A-568B-0358-C54E-9A26C4680CD8}"/>
                </a:ext>
              </a:extLst>
            </p:cNvPr>
            <p:cNvSpPr/>
            <p:nvPr/>
          </p:nvSpPr>
          <p:spPr>
            <a:xfrm>
              <a:off x="5800166" y="1512117"/>
              <a:ext cx="1013011" cy="52396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FIFA_DAYS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6AB1DF-4F47-FD2B-512D-DE49F6F5DF93}"/>
                </a:ext>
              </a:extLst>
            </p:cNvPr>
            <p:cNvSpPr/>
            <p:nvPr/>
          </p:nvSpPr>
          <p:spPr>
            <a:xfrm>
              <a:off x="5800165" y="2021305"/>
              <a:ext cx="1013011" cy="949662"/>
            </a:xfrm>
            <a:prstGeom prst="rect">
              <a:avLst/>
            </a:prstGeom>
            <a:ln>
              <a:solidFill>
                <a:schemeClr val="tx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accent5">
                      <a:lumMod val="50000"/>
                    </a:schemeClr>
                  </a:solidFill>
                </a:rPr>
                <a:t>Round Name</a:t>
              </a:r>
            </a:p>
            <a:p>
              <a:pPr algn="ctr"/>
              <a:r>
                <a:rPr lang="en-US" sz="1100" dirty="0">
                  <a:solidFill>
                    <a:schemeClr val="accent5">
                      <a:lumMod val="50000"/>
                    </a:schemeClr>
                  </a:solidFill>
                </a:rPr>
                <a:t>Date </a:t>
              </a:r>
            </a:p>
          </p:txBody>
        </p:sp>
      </p:grp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E46A03E9-790D-0086-BE79-BA4FAE8B3920}"/>
              </a:ext>
            </a:extLst>
          </p:cNvPr>
          <p:cNvCxnSpPr>
            <a:cxnSpLocks/>
          </p:cNvCxnSpPr>
          <p:nvPr/>
        </p:nvCxnSpPr>
        <p:spPr>
          <a:xfrm>
            <a:off x="6318558" y="1311927"/>
            <a:ext cx="579121" cy="1057156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5F663BBF-EE38-C578-3005-49EF4E851811}"/>
              </a:ext>
            </a:extLst>
          </p:cNvPr>
          <p:cNvCxnSpPr>
            <a:cxnSpLocks/>
            <a:stCxn id="4" idx="1"/>
            <a:endCxn id="7" idx="3"/>
          </p:cNvCxnSpPr>
          <p:nvPr/>
        </p:nvCxnSpPr>
        <p:spPr>
          <a:xfrm rot="10800000" flipV="1">
            <a:off x="6413179" y="2515242"/>
            <a:ext cx="484500" cy="133629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5533AEC-4085-AFB2-AC8A-3A113643EA15}"/>
              </a:ext>
            </a:extLst>
          </p:cNvPr>
          <p:cNvSpPr txBox="1"/>
          <p:nvPr/>
        </p:nvSpPr>
        <p:spPr>
          <a:xfrm>
            <a:off x="6413178" y="1119283"/>
            <a:ext cx="990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372F1EC-867E-CEF3-B155-8286DC81B593}"/>
              </a:ext>
            </a:extLst>
          </p:cNvPr>
          <p:cNvSpPr txBox="1"/>
          <p:nvPr/>
        </p:nvSpPr>
        <p:spPr>
          <a:xfrm>
            <a:off x="6798619" y="2226719"/>
            <a:ext cx="990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*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BE6321A-4799-83F6-A2C6-154FDA9EB854}"/>
              </a:ext>
            </a:extLst>
          </p:cNvPr>
          <p:cNvSpPr txBox="1"/>
          <p:nvPr/>
        </p:nvSpPr>
        <p:spPr>
          <a:xfrm>
            <a:off x="6798619" y="2386423"/>
            <a:ext cx="990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*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97FC0E6-834B-31B8-212D-35315393C7E9}"/>
              </a:ext>
            </a:extLst>
          </p:cNvPr>
          <p:cNvSpPr txBox="1"/>
          <p:nvPr/>
        </p:nvSpPr>
        <p:spPr>
          <a:xfrm>
            <a:off x="6462708" y="3643894"/>
            <a:ext cx="990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569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" grpId="0" build="p"/>
      <p:bldP spid="25" grpId="0"/>
      <p:bldP spid="26" grpId="0"/>
      <p:bldP spid="27" grpId="0"/>
      <p:bldP spid="2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>
          <a:extLst>
            <a:ext uri="{FF2B5EF4-FFF2-40B4-BE49-F238E27FC236}">
              <a16:creationId xmlns:a16="http://schemas.microsoft.com/office/drawing/2014/main" id="{CC544517-3135-620A-B04E-EEF60FD04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0869361-CF64-117A-9FF0-C211664AB85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20000" y="1173595"/>
            <a:ext cx="805062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1800" b="1" dirty="0"/>
              <a:t>Clearly defined scheduling inefficiencies in the Egyptian League</a:t>
            </a:r>
            <a:endParaRPr lang="ar-EG" sz="1800" b="1" dirty="0"/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1800" b="1" dirty="0"/>
              <a:t>Identified operational, security, and continental constraints</a:t>
            </a:r>
            <a:endParaRPr lang="ar-EG" sz="1800" b="1" dirty="0"/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1800" b="1" dirty="0"/>
              <a:t>Built a structured, connected data framework and validated datasets for optimization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sz="1800" b="1" dirty="0"/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1800" b="1" dirty="0"/>
              <a:t>Next Phase: Formulating and implementing the model</a:t>
            </a:r>
            <a:endParaRPr lang="ar-EG" sz="1800" b="1" dirty="0"/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1800" b="1" dirty="0"/>
              <a:t>Translating constraints into equations</a:t>
            </a:r>
            <a:endParaRPr lang="ar-EG" sz="1800" b="1" dirty="0"/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1800" b="1" dirty="0"/>
              <a:t>Generating an efficient, fair, and feasible schedule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M Sans" pitchFamily="2" charset="0"/>
            </a:endParaRPr>
          </a:p>
        </p:txBody>
      </p:sp>
      <p:sp>
        <p:nvSpPr>
          <p:cNvPr id="314" name="Google Shape;314;p32">
            <a:extLst>
              <a:ext uri="{FF2B5EF4-FFF2-40B4-BE49-F238E27FC236}">
                <a16:creationId xmlns:a16="http://schemas.microsoft.com/office/drawing/2014/main" id="{8D313EF3-9C7D-67D6-4260-159DA8A2DC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Conclusion Of Phase I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46094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1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>
          <a:extLst>
            <a:ext uri="{FF2B5EF4-FFF2-40B4-BE49-F238E27FC236}">
              <a16:creationId xmlns:a16="http://schemas.microsoft.com/office/drawing/2014/main" id="{C6268C87-CBD2-E48E-BBEE-2108CA5CB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2">
            <a:extLst>
              <a:ext uri="{FF2B5EF4-FFF2-40B4-BE49-F238E27FC236}">
                <a16:creationId xmlns:a16="http://schemas.microsoft.com/office/drawing/2014/main" id="{422328E0-39E0-E94E-33E2-2A67E67829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References</a:t>
            </a:r>
            <a:endParaRPr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B41EDEC-0304-80B9-5928-6F85AD383B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4914850"/>
              </p:ext>
            </p:extLst>
          </p:nvPr>
        </p:nvGraphicFramePr>
        <p:xfrm>
          <a:off x="720000" y="1152527"/>
          <a:ext cx="7836702" cy="2244876"/>
        </p:xfrm>
        <a:graphic>
          <a:graphicData uri="http://schemas.openxmlformats.org/drawingml/2006/table">
            <a:tbl>
              <a:tblPr firstRow="1" firstCol="1" bandRow="1"/>
              <a:tblGrid>
                <a:gridCol w="239005">
                  <a:extLst>
                    <a:ext uri="{9D8B030D-6E8A-4147-A177-3AD203B41FA5}">
                      <a16:colId xmlns:a16="http://schemas.microsoft.com/office/drawing/2014/main" val="4294718165"/>
                    </a:ext>
                  </a:extLst>
                </a:gridCol>
                <a:gridCol w="7597697">
                  <a:extLst>
                    <a:ext uri="{9D8B030D-6E8A-4147-A177-3AD203B41FA5}">
                      <a16:colId xmlns:a16="http://schemas.microsoft.com/office/drawing/2014/main" val="1349942756"/>
                    </a:ext>
                  </a:extLst>
                </a:gridCol>
              </a:tblGrid>
              <a:tr h="37414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b="1" dirty="0">
                          <a:effectLst/>
                          <a:latin typeface="DM Sans" pitchFamily="2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[1] </a:t>
                      </a:r>
                    </a:p>
                  </a:txBody>
                  <a:tcPr marL="6940" marR="6940" marT="6940" marB="69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b="1" dirty="0">
                          <a:effectLst/>
                          <a:latin typeface="DM Sans" pitchFamily="2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R. V. Rasmussen and M. A. Trick, "Round robin scheduling – a survey," </a:t>
                      </a:r>
                      <a:r>
                        <a:rPr lang="en-US" sz="1000" b="1" i="1" dirty="0">
                          <a:effectLst/>
                          <a:latin typeface="DM Sans" pitchFamily="2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European Journal of Operational Research, </a:t>
                      </a:r>
                      <a:r>
                        <a:rPr lang="en-US" sz="1000" b="1" dirty="0">
                          <a:effectLst/>
                          <a:latin typeface="DM Sans" pitchFamily="2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2008. </a:t>
                      </a:r>
                    </a:p>
                  </a:txBody>
                  <a:tcPr marL="6940" marR="6940" marT="6940" marB="69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9997458"/>
                  </a:ext>
                </a:extLst>
              </a:tr>
              <a:tr h="37414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b="1" dirty="0">
                          <a:effectLst/>
                          <a:latin typeface="DM Sans" pitchFamily="2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[2] </a:t>
                      </a:r>
                    </a:p>
                  </a:txBody>
                  <a:tcPr marL="6940" marR="6940" marT="6940" marB="69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b="1" dirty="0">
                          <a:effectLst/>
                          <a:latin typeface="DM Sans" pitchFamily="2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D. Van Bulck, D. Goossens and F. </a:t>
                      </a:r>
                      <a:r>
                        <a:rPr lang="en-US" sz="1000" b="1" dirty="0" err="1">
                          <a:effectLst/>
                          <a:latin typeface="DM Sans" pitchFamily="2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Spieksma</a:t>
                      </a:r>
                      <a:r>
                        <a:rPr lang="en-US" sz="1000" b="1" dirty="0">
                          <a:effectLst/>
                          <a:latin typeface="DM Sans" pitchFamily="2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, "Integer programming models for round robin tournaments," </a:t>
                      </a:r>
                      <a:r>
                        <a:rPr lang="en-US" sz="1000" b="1" i="1" dirty="0">
                          <a:effectLst/>
                          <a:latin typeface="DM Sans" pitchFamily="2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European Journal of Operational Research, </a:t>
                      </a:r>
                      <a:r>
                        <a:rPr lang="en-US" sz="1000" b="1" dirty="0">
                          <a:effectLst/>
                          <a:latin typeface="DM Sans" pitchFamily="2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2023. </a:t>
                      </a:r>
                    </a:p>
                  </a:txBody>
                  <a:tcPr marL="6940" marR="6940" marT="6940" marB="69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3108309"/>
                  </a:ext>
                </a:extLst>
              </a:tr>
              <a:tr h="37414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b="1" dirty="0">
                          <a:effectLst/>
                          <a:latin typeface="DM Sans" pitchFamily="2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[3] </a:t>
                      </a:r>
                    </a:p>
                  </a:txBody>
                  <a:tcPr marL="6940" marR="6940" marT="6940" marB="69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b="1" dirty="0">
                          <a:effectLst/>
                          <a:latin typeface="DM Sans" pitchFamily="2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P. Staats, "Generic Scheduling of Sports Tournaments," Utrecht University, Utrecht, 2009.</a:t>
                      </a:r>
                    </a:p>
                  </a:txBody>
                  <a:tcPr marL="6940" marR="6940" marT="6940" marB="69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4345337"/>
                  </a:ext>
                </a:extLst>
              </a:tr>
              <a:tr h="37414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b="1" dirty="0">
                          <a:effectLst/>
                          <a:latin typeface="DM Sans" pitchFamily="2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[4] </a:t>
                      </a:r>
                    </a:p>
                  </a:txBody>
                  <a:tcPr marL="6940" marR="6940" marT="6940" marB="69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b="1" dirty="0">
                          <a:effectLst/>
                          <a:latin typeface="DM Sans" pitchFamily="2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D. R. Goossens and F. C. R. </a:t>
                      </a:r>
                      <a:r>
                        <a:rPr lang="en-US" sz="1000" b="1" dirty="0" err="1">
                          <a:effectLst/>
                          <a:latin typeface="DM Sans" pitchFamily="2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Spieksma</a:t>
                      </a:r>
                      <a:r>
                        <a:rPr lang="en-US" sz="1000" b="1" dirty="0">
                          <a:effectLst/>
                          <a:latin typeface="DM Sans" pitchFamily="2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, "Soccer schedules in Europe: an overview," </a:t>
                      </a:r>
                      <a:r>
                        <a:rPr lang="en-US" sz="1000" b="1" i="1" dirty="0">
                          <a:effectLst/>
                          <a:latin typeface="DM Sans" pitchFamily="2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Journal of Scheduling, </a:t>
                      </a:r>
                      <a:r>
                        <a:rPr lang="en-US" sz="1000" b="1" dirty="0">
                          <a:effectLst/>
                          <a:latin typeface="DM Sans" pitchFamily="2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vol. 15, no. 5, pp. 641-651, 2012. </a:t>
                      </a:r>
                    </a:p>
                  </a:txBody>
                  <a:tcPr marL="6940" marR="6940" marT="6940" marB="69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0267609"/>
                  </a:ext>
                </a:extLst>
              </a:tr>
              <a:tr h="37414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b="1" dirty="0">
                          <a:effectLst/>
                          <a:latin typeface="DM Sans" pitchFamily="2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[5] </a:t>
                      </a:r>
                    </a:p>
                  </a:txBody>
                  <a:tcPr marL="6940" marR="6940" marT="6940" marB="69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b="1">
                          <a:effectLst/>
                          <a:latin typeface="DM Sans" pitchFamily="2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K. Easton, G. Nemhauser and M. Trick, "The traveling tournament problem description and benchmarks," </a:t>
                      </a:r>
                      <a:r>
                        <a:rPr lang="en-US" sz="1000" b="1" i="1">
                          <a:effectLst/>
                          <a:latin typeface="DM Sans" pitchFamily="2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Principles and Practice of Constraint Programming, </a:t>
                      </a:r>
                      <a:r>
                        <a:rPr lang="en-US" sz="1000" b="1">
                          <a:effectLst/>
                          <a:latin typeface="DM Sans" pitchFamily="2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pp. 580-584, 2001. </a:t>
                      </a:r>
                    </a:p>
                  </a:txBody>
                  <a:tcPr marL="6940" marR="6940" marT="6940" marB="69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4665921"/>
                  </a:ext>
                </a:extLst>
              </a:tr>
              <a:tr h="37414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b="1" dirty="0">
                          <a:effectLst/>
                          <a:latin typeface="DM Sans" pitchFamily="2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[6] </a:t>
                      </a:r>
                    </a:p>
                  </a:txBody>
                  <a:tcPr marL="6940" marR="6940" marT="6940" marB="69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b="1" dirty="0">
                          <a:effectLst/>
                          <a:latin typeface="DM Sans" pitchFamily="2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G. Durán, M. Guajardo and J. Wolf-Yadlin, "Scheduling the Chilean soccer league by integer programming," </a:t>
                      </a:r>
                      <a:r>
                        <a:rPr lang="en-US" sz="1000" b="1" i="1" dirty="0">
                          <a:effectLst/>
                          <a:latin typeface="DM Sans" pitchFamily="2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Interfaces, </a:t>
                      </a:r>
                      <a:r>
                        <a:rPr lang="en-US" sz="1000" b="1" dirty="0">
                          <a:effectLst/>
                          <a:latin typeface="DM Sans" pitchFamily="2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vol. 37, no. 6, pp. 539-552, 2007. </a:t>
                      </a:r>
                    </a:p>
                  </a:txBody>
                  <a:tcPr marL="6940" marR="6940" marT="6940" marB="69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42919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040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Presented by</a:t>
            </a:r>
            <a:endParaRPr dirty="0"/>
          </a:p>
        </p:txBody>
      </p:sp>
      <p:graphicFrame>
        <p:nvGraphicFramePr>
          <p:cNvPr id="289" name="Google Shape;289;p30"/>
          <p:cNvGraphicFramePr/>
          <p:nvPr>
            <p:extLst>
              <p:ext uri="{D42A27DB-BD31-4B8C-83A1-F6EECF244321}">
                <p14:modId xmlns:p14="http://schemas.microsoft.com/office/powerpoint/2010/main" val="2788796308"/>
              </p:ext>
            </p:extLst>
          </p:nvPr>
        </p:nvGraphicFramePr>
        <p:xfrm>
          <a:off x="720000" y="1310025"/>
          <a:ext cx="7704000" cy="2169150"/>
        </p:xfrm>
        <a:graphic>
          <a:graphicData uri="http://schemas.openxmlformats.org/drawingml/2006/table">
            <a:tbl>
              <a:tblPr>
                <a:noFill/>
                <a:tableStyleId>{3D0EB4C6-B8E4-40DF-850D-9352D601E4A8}</a:tableStyleId>
              </a:tblPr>
              <a:tblGrid>
                <a:gridCol w="3752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51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15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 sz="1800" b="1" u="none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800" b="1" dirty="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ID</a:t>
                      </a:r>
                      <a:endParaRPr sz="1800" b="1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u="none" dirty="0">
                          <a:solidFill>
                            <a:schemeClr val="hlink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Rawan Ehab</a:t>
                      </a:r>
                      <a:endParaRPr sz="1800" b="1" u="none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800" b="1" dirty="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20220133</a:t>
                      </a:r>
                      <a:endParaRPr sz="1800" b="1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u="none" dirty="0">
                          <a:solidFill>
                            <a:schemeClr val="hlink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Mohamed Osama</a:t>
                      </a:r>
                      <a:endParaRPr sz="1800" b="1" u="none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800" b="1" dirty="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20220477</a:t>
                      </a:r>
                      <a:endParaRPr sz="1800" b="1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u="none" dirty="0">
                          <a:solidFill>
                            <a:schemeClr val="hlink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Ibrahim Medhat </a:t>
                      </a:r>
                      <a:endParaRPr sz="1800" b="1" u="none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800" b="1" dirty="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20221003</a:t>
                      </a:r>
                      <a:endParaRPr sz="1800" b="1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u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Ghassan Tarek</a:t>
                      </a:r>
                      <a:endParaRPr sz="1800" b="1" u="none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20220239</a:t>
                      </a:r>
                      <a:endParaRPr sz="1800" b="1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u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Abdelrahman Ashraf</a:t>
                      </a:r>
                      <a:endParaRPr sz="1800" b="1" u="none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800" b="1" dirty="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20220189</a:t>
                      </a:r>
                      <a:endParaRPr sz="1800" b="1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91" name="Google Shape;291;p30"/>
          <p:cNvSpPr txBox="1"/>
          <p:nvPr/>
        </p:nvSpPr>
        <p:spPr>
          <a:xfrm>
            <a:off x="2566413" y="3771475"/>
            <a:ext cx="4011174" cy="964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i="1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Under Supervision of</a:t>
            </a:r>
            <a:br>
              <a:rPr lang="en" sz="2000" b="1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n" sz="2000" b="1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Dr. Sally Kassem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Eng. Rawaa Hesham</a:t>
            </a:r>
            <a:endParaRPr sz="2000" b="1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DC37E9C-5B32-AD67-8D19-3AEB9A0D24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7665" y="3660338"/>
            <a:ext cx="1240366" cy="113480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F80EBCD-1725-717A-BEA6-29FECC2926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00" y="3660338"/>
            <a:ext cx="730794" cy="10381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5C2F"/>
        </a:solidFill>
        <a:effectLst/>
      </p:bgPr>
    </p:bg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9"/>
          <p:cNvSpPr txBox="1">
            <a:spLocks noGrp="1"/>
          </p:cNvSpPr>
          <p:nvPr>
            <p:ph type="ctrTitle"/>
          </p:nvPr>
        </p:nvSpPr>
        <p:spPr>
          <a:xfrm>
            <a:off x="2052825" y="672445"/>
            <a:ext cx="6860355" cy="248198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spcAft>
                <a:spcPts val="200"/>
              </a:spcAft>
            </a:pPr>
            <a:r>
              <a:rPr lang="en-US" dirty="0">
                <a:solidFill>
                  <a:schemeClr val="tx1"/>
                </a:solidFill>
              </a:rPr>
              <a:t>Thank You</a:t>
            </a:r>
            <a:endParaRPr dirty="0">
              <a:solidFill>
                <a:schemeClr val="tx1"/>
              </a:solidFill>
            </a:endParaRPr>
          </a:p>
        </p:txBody>
      </p:sp>
      <p:cxnSp>
        <p:nvCxnSpPr>
          <p:cNvPr id="283" name="Google Shape;283;p29"/>
          <p:cNvCxnSpPr/>
          <p:nvPr/>
        </p:nvCxnSpPr>
        <p:spPr>
          <a:xfrm rot="10800000">
            <a:off x="2510700" y="2388345"/>
            <a:ext cx="41226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" name="Google Shape;689;p55">
            <a:extLst>
              <a:ext uri="{FF2B5EF4-FFF2-40B4-BE49-F238E27FC236}">
                <a16:creationId xmlns:a16="http://schemas.microsoft.com/office/drawing/2014/main" id="{6FBFCD4E-F247-4D7F-BBD5-2DA6CC1F355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225" y="3757035"/>
            <a:ext cx="1782250" cy="12823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00889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Indoor Soccer Club by Slidesgo">
  <a:themeElements>
    <a:clrScheme name="Simple Light">
      <a:dk1>
        <a:srgbClr val="FFFFFF"/>
      </a:dk1>
      <a:lt1>
        <a:srgbClr val="007637"/>
      </a:lt1>
      <a:dk2>
        <a:srgbClr val="00B056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427ba3f-bf6b-4e36-982f-401b240078b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8EF0F6A95660A4A8A96CF00B1CF5037" ma:contentTypeVersion="8" ma:contentTypeDescription="Create a new document." ma:contentTypeScope="" ma:versionID="07112cf381e643d660836564ada6a4e4">
  <xsd:schema xmlns:xsd="http://www.w3.org/2001/XMLSchema" xmlns:xs="http://www.w3.org/2001/XMLSchema" xmlns:p="http://schemas.microsoft.com/office/2006/metadata/properties" xmlns:ns3="9427ba3f-bf6b-4e36-982f-401b240078b5" xmlns:ns4="ed82aeb9-b910-4c50-992f-22dbdd50696f" targetNamespace="http://schemas.microsoft.com/office/2006/metadata/properties" ma:root="true" ma:fieldsID="f4d5d8ac3f0c1f50cdcd6f42d32044d8" ns3:_="" ns4:_="">
    <xsd:import namespace="9427ba3f-bf6b-4e36-982f-401b240078b5"/>
    <xsd:import namespace="ed82aeb9-b910-4c50-992f-22dbdd50696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27ba3f-bf6b-4e36-982f-401b240078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82aeb9-b910-4c50-992f-22dbdd50696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72E6D98-677C-41B8-8A0A-E214B4F1B9ED}">
  <ds:schemaRefs>
    <ds:schemaRef ds:uri="http://schemas.openxmlformats.org/package/2006/metadata/core-properties"/>
    <ds:schemaRef ds:uri="http://purl.org/dc/dcmitype/"/>
    <ds:schemaRef ds:uri="http://schemas.microsoft.com/office/2006/metadata/properties"/>
    <ds:schemaRef ds:uri="http://purl.org/dc/elements/1.1/"/>
    <ds:schemaRef ds:uri="9427ba3f-bf6b-4e36-982f-401b240078b5"/>
    <ds:schemaRef ds:uri="http://schemas.microsoft.com/office/2006/documentManagement/types"/>
    <ds:schemaRef ds:uri="ed82aeb9-b910-4c50-992f-22dbdd50696f"/>
    <ds:schemaRef ds:uri="http://www.w3.org/XML/1998/namespace"/>
    <ds:schemaRef ds:uri="http://schemas.microsoft.com/office/infopath/2007/PartnerControl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97686E73-217C-4C92-91A5-4D2E68FA714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427ba3f-bf6b-4e36-982f-401b240078b5"/>
    <ds:schemaRef ds:uri="ed82aeb9-b910-4c50-992f-22dbdd50696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309E11F-D857-4267-A6D9-2945B8F4268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1470</TotalTime>
  <Words>1388</Words>
  <Application>Microsoft Office PowerPoint</Application>
  <PresentationFormat>On-screen Show (16:9)</PresentationFormat>
  <Paragraphs>235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DM Sans</vt:lpstr>
      <vt:lpstr>Arial</vt:lpstr>
      <vt:lpstr>Wingdings</vt:lpstr>
      <vt:lpstr>Montserrat</vt:lpstr>
      <vt:lpstr>Lato</vt:lpstr>
      <vt:lpstr>Montserrat ExtraBold</vt:lpstr>
      <vt:lpstr>Indoor Soccer Club by Slidesgo</vt:lpstr>
      <vt:lpstr>Optimizing the Egyptian Premier League Schedule</vt:lpstr>
      <vt:lpstr>Introduction</vt:lpstr>
      <vt:lpstr>The origin of the story </vt:lpstr>
      <vt:lpstr>The Aggravator (COVID-19)</vt:lpstr>
      <vt:lpstr>Visualizing the Disparity</vt:lpstr>
      <vt:lpstr>2024/2025 Exceptional Format</vt:lpstr>
      <vt:lpstr>Our Goal</vt:lpstr>
      <vt:lpstr>The Proposed Solution</vt:lpstr>
      <vt:lpstr>Model</vt:lpstr>
      <vt:lpstr>Background</vt:lpstr>
      <vt:lpstr>Sports Scheduling as an Optimization Problem</vt:lpstr>
      <vt:lpstr>Fairness &amp; Travel</vt:lpstr>
      <vt:lpstr>Chile Case Study</vt:lpstr>
      <vt:lpstr>The Egyptian Gap</vt:lpstr>
      <vt:lpstr>PROJECT DATA</vt:lpstr>
      <vt:lpstr>Data Collection</vt:lpstr>
      <vt:lpstr>Data Architecture</vt:lpstr>
      <vt:lpstr>Data Preprocessing</vt:lpstr>
      <vt:lpstr>Data Modeling</vt:lpstr>
      <vt:lpstr>Data Modeling</vt:lpstr>
      <vt:lpstr>Conclusion Of Phase I</vt:lpstr>
      <vt:lpstr>References</vt:lpstr>
      <vt:lpstr>Presented by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Optimizing the Egyptian Premier League Schedule</dc:title>
  <dc:creator>rawan</dc:creator>
  <cp:lastModifiedBy>Ghassan Elgendy</cp:lastModifiedBy>
  <cp:revision>58</cp:revision>
  <dcterms:modified xsi:type="dcterms:W3CDTF">2026-02-11T21:29:50Z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0x01010058EF0F6A95660A4A8A96CF00B1CF5037</vt:lpwstr>
  </property>
</Properties>
</file>