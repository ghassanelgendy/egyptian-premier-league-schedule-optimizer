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9"/>
  </p:notesMasterIdLst>
  <p:sldIdLst>
    <p:sldId id="256" r:id="rId5"/>
    <p:sldId id="261" r:id="rId6"/>
    <p:sldId id="259" r:id="rId7"/>
    <p:sldId id="315" r:id="rId8"/>
    <p:sldId id="317" r:id="rId9"/>
    <p:sldId id="316" r:id="rId10"/>
    <p:sldId id="302" r:id="rId11"/>
    <p:sldId id="262" r:id="rId12"/>
    <p:sldId id="319" r:id="rId13"/>
    <p:sldId id="303" r:id="rId14"/>
    <p:sldId id="263" r:id="rId15"/>
    <p:sldId id="305" r:id="rId16"/>
    <p:sldId id="268" r:id="rId17"/>
    <p:sldId id="304" r:id="rId18"/>
    <p:sldId id="306" r:id="rId19"/>
    <p:sldId id="307" r:id="rId20"/>
    <p:sldId id="265" r:id="rId21"/>
    <p:sldId id="310" r:id="rId22"/>
    <p:sldId id="309" r:id="rId23"/>
    <p:sldId id="313" r:id="rId24"/>
    <p:sldId id="311" r:id="rId25"/>
    <p:sldId id="318" r:id="rId26"/>
    <p:sldId id="257" r:id="rId27"/>
    <p:sldId id="314" r:id="rId28"/>
  </p:sldIdLst>
  <p:sldSz cx="9144000" cy="5143500" type="screen16x9"/>
  <p:notesSz cx="6858000" cy="9144000"/>
  <p:embeddedFontLst>
    <p:embeddedFont>
      <p:font typeface="DM Sans" pitchFamily="2" charset="0"/>
      <p:regular r:id="rId30"/>
      <p:bold r:id="rId31"/>
      <p:italic r:id="rId32"/>
      <p:boldItalic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Montserrat ExtraBold" panose="00000900000000000000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EB4C6-B8E4-40DF-850D-9352D601E4A8}">
  <a:tblStyle styleId="{3D0EB4C6-B8E4-40DF-850D-9352D601E4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94" y="11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15718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6843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455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2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477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010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C969BC06-1276-8533-55B6-D5FF1F5F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C46477DE-E749-5013-2445-7DFA5DD56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707DF7CA-A2EA-B0E6-98A8-8893FF850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53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429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83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35C29A7A-4066-4DCE-07AA-AA89B528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>
            <a:extLst>
              <a:ext uri="{FF2B5EF4-FFF2-40B4-BE49-F238E27FC236}">
                <a16:creationId xmlns:a16="http://schemas.microsoft.com/office/drawing/2014/main" id="{8A6FEAC6-620F-D081-C71C-F56BA1829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>
            <a:extLst>
              <a:ext uri="{FF2B5EF4-FFF2-40B4-BE49-F238E27FC236}">
                <a16:creationId xmlns:a16="http://schemas.microsoft.com/office/drawing/2014/main" id="{EF6161BB-32BF-7AE6-E5BB-1786B55FB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862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4641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0D52B228-3FFE-AA00-F39B-29D4AB15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07438001-FA01-DDFB-2ECD-F06ACFDAA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313657BC-EEB7-10E3-0FC5-F805B0D9F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950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a82146d382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a82146d382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169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050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299ADFF8-517E-CC21-B9A8-C5F1A7A9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>
            <a:extLst>
              <a:ext uri="{FF2B5EF4-FFF2-40B4-BE49-F238E27FC236}">
                <a16:creationId xmlns:a16="http://schemas.microsoft.com/office/drawing/2014/main" id="{BF5385DD-0C4D-115D-3C5A-FDDD3535C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>
            <a:extLst>
              <a:ext uri="{FF2B5EF4-FFF2-40B4-BE49-F238E27FC236}">
                <a16:creationId xmlns:a16="http://schemas.microsoft.com/office/drawing/2014/main" id="{44E39953-6BFB-F2F3-70ED-638C0CD75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25923F8-D821-1705-1716-2A6C1768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8A458C6C-B8F0-D461-18C8-138ABF12E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ABDA17E0-2970-49A3-94AF-A511B32AA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617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364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>
          <a:extLst>
            <a:ext uri="{FF2B5EF4-FFF2-40B4-BE49-F238E27FC236}">
              <a16:creationId xmlns:a16="http://schemas.microsoft.com/office/drawing/2014/main" id="{E529B046-39E0-E430-B473-1F82A499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a82146d382_1_129:notes">
            <a:extLst>
              <a:ext uri="{FF2B5EF4-FFF2-40B4-BE49-F238E27FC236}">
                <a16:creationId xmlns:a16="http://schemas.microsoft.com/office/drawing/2014/main" id="{090D46D0-03F9-0B6A-6176-3D17F885B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a82146d382_1_129:notes">
            <a:extLst>
              <a:ext uri="{FF2B5EF4-FFF2-40B4-BE49-F238E27FC236}">
                <a16:creationId xmlns:a16="http://schemas.microsoft.com/office/drawing/2014/main" id="{393A474F-D4DB-58EA-1729-C2C2BC4F9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6548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24C3F03-36AB-C97E-1048-5D42219C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177F7CC8-EA16-21CC-42DB-E32F17CD7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CB770621-6680-3EF9-F0B1-D51E4FC55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52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24C3F03-36AB-C97E-1048-5D42219C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177F7CC8-EA16-21CC-42DB-E32F17CD7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CB770621-6680-3EF9-F0B1-D51E4FC55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1944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F89F2601-537A-C074-07AC-EF13202E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AD5ECE14-F727-4699-5EEA-57487B6CE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C607B6DB-594C-EA98-EBA9-FD13AFAA1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2724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747235F-1F6F-292F-B075-4D17AE6F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B06ACC7B-CCC5-9974-CB49-DD5F65896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EAB6CDA7-16E4-336B-9CAA-5CDC5817E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89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866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9154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3663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00250" y="933196"/>
            <a:ext cx="5709000" cy="19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5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20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00250" y="3563840"/>
            <a:ext cx="5709000" cy="4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85975" y="-786675"/>
            <a:ext cx="1455300" cy="5981458"/>
            <a:chOff x="-285975" y="-786675"/>
            <a:chExt cx="1455300" cy="5981458"/>
          </a:xfrm>
        </p:grpSpPr>
        <p:sp>
          <p:nvSpPr>
            <p:cNvPr id="13" name="Google Shape;13;p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" name="Google Shape;14;p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5675" y="275975"/>
            <a:ext cx="2430875" cy="4462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 rot="-5400000">
            <a:off x="7742789" y="4332814"/>
            <a:ext cx="281947" cy="1094035"/>
            <a:chOff x="7256520" y="835200"/>
            <a:chExt cx="562320" cy="2181960"/>
          </a:xfrm>
        </p:grpSpPr>
        <p:sp>
          <p:nvSpPr>
            <p:cNvPr id="17" name="Google Shape;17;p2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124688" y="1492050"/>
            <a:ext cx="4894500" cy="17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13" y="1492050"/>
            <a:ext cx="1194000" cy="1106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124700" y="3585050"/>
            <a:ext cx="48945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26" name="Google Shape;26;p3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" name="Google Shape;27;p3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6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46" name="Google Shape;46;p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7" name="Google Shape;47;p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oogle Shape;48;p6"/>
          <p:cNvGrpSpPr/>
          <p:nvPr/>
        </p:nvGrpSpPr>
        <p:grpSpPr>
          <a:xfrm rot="-5400000">
            <a:off x="246689" y="-272965"/>
            <a:ext cx="281947" cy="1094035"/>
            <a:chOff x="7256520" y="835200"/>
            <a:chExt cx="562320" cy="2181960"/>
          </a:xfrm>
        </p:grpSpPr>
        <p:sp>
          <p:nvSpPr>
            <p:cNvPr id="49" name="Google Shape;49;p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>
            <a:spLocks noGrp="1"/>
          </p:cNvSpPr>
          <p:nvPr>
            <p:ph type="subTitle" idx="1"/>
          </p:nvPr>
        </p:nvSpPr>
        <p:spPr>
          <a:xfrm>
            <a:off x="469792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2"/>
          </p:nvPr>
        </p:nvSpPr>
        <p:spPr>
          <a:xfrm>
            <a:off x="72000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4" name="Google Shape;154;p16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155" name="Google Shape;155;p1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6" name="Google Shape;156;p1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7" name="Google Shape;157;p16"/>
          <p:cNvGrpSpPr/>
          <p:nvPr/>
        </p:nvGrpSpPr>
        <p:grpSpPr>
          <a:xfrm>
            <a:off x="8604089" y="137764"/>
            <a:ext cx="281947" cy="1094035"/>
            <a:chOff x="7256520" y="835200"/>
            <a:chExt cx="562320" cy="2181960"/>
          </a:xfrm>
        </p:grpSpPr>
        <p:sp>
          <p:nvSpPr>
            <p:cNvPr id="158" name="Google Shape;158;p1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50" y="4474656"/>
            <a:ext cx="946200" cy="94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1"/>
          </p:nvPr>
        </p:nvSpPr>
        <p:spPr>
          <a:xfrm>
            <a:off x="72000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2"/>
          </p:nvPr>
        </p:nvSpPr>
        <p:spPr>
          <a:xfrm>
            <a:off x="3350467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3"/>
          </p:nvPr>
        </p:nvSpPr>
        <p:spPr>
          <a:xfrm>
            <a:off x="598094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subTitle" idx="4"/>
          </p:nvPr>
        </p:nvSpPr>
        <p:spPr>
          <a:xfrm>
            <a:off x="720000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5"/>
          </p:nvPr>
        </p:nvSpPr>
        <p:spPr>
          <a:xfrm>
            <a:off x="3350468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6"/>
          </p:nvPr>
        </p:nvSpPr>
        <p:spPr>
          <a:xfrm>
            <a:off x="5980942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1" name="Google Shape;171;p17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172" name="Google Shape;172;p17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73" name="Google Shape;173;p17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4" name="Google Shape;174;p17"/>
          <p:cNvGrpSpPr/>
          <p:nvPr/>
        </p:nvGrpSpPr>
        <p:grpSpPr>
          <a:xfrm>
            <a:off x="8653689" y="-159924"/>
            <a:ext cx="281947" cy="1094035"/>
            <a:chOff x="7256520" y="835200"/>
            <a:chExt cx="562320" cy="2181960"/>
          </a:xfrm>
        </p:grpSpPr>
        <p:sp>
          <p:nvSpPr>
            <p:cNvPr id="175" name="Google Shape;175;p17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1"/>
          </p:nvPr>
        </p:nvSpPr>
        <p:spPr>
          <a:xfrm>
            <a:off x="7132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2"/>
          </p:nvPr>
        </p:nvSpPr>
        <p:spPr>
          <a:xfrm>
            <a:off x="33334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3"/>
          </p:nvPr>
        </p:nvSpPr>
        <p:spPr>
          <a:xfrm>
            <a:off x="7132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4"/>
          </p:nvPr>
        </p:nvSpPr>
        <p:spPr>
          <a:xfrm>
            <a:off x="33334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5"/>
          </p:nvPr>
        </p:nvSpPr>
        <p:spPr>
          <a:xfrm>
            <a:off x="5953632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subTitle" idx="6"/>
          </p:nvPr>
        </p:nvSpPr>
        <p:spPr>
          <a:xfrm>
            <a:off x="5953632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ubTitle" idx="7"/>
          </p:nvPr>
        </p:nvSpPr>
        <p:spPr>
          <a:xfrm>
            <a:off x="7132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subTitle" idx="8"/>
          </p:nvPr>
        </p:nvSpPr>
        <p:spPr>
          <a:xfrm>
            <a:off x="33334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ubTitle" idx="9"/>
          </p:nvPr>
        </p:nvSpPr>
        <p:spPr>
          <a:xfrm>
            <a:off x="7132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13"/>
          </p:nvPr>
        </p:nvSpPr>
        <p:spPr>
          <a:xfrm>
            <a:off x="33334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subTitle" idx="14"/>
          </p:nvPr>
        </p:nvSpPr>
        <p:spPr>
          <a:xfrm>
            <a:off x="5953631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subTitle" idx="15"/>
          </p:nvPr>
        </p:nvSpPr>
        <p:spPr>
          <a:xfrm>
            <a:off x="5953631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11" name="Google Shape;211;p19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12" name="Google Shape;212;p19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3" name="Google Shape;213;p19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" name="Google Shape;214;p19"/>
          <p:cNvGrpSpPr/>
          <p:nvPr/>
        </p:nvGrpSpPr>
        <p:grpSpPr>
          <a:xfrm rot="-5400000">
            <a:off x="618389" y="4270239"/>
            <a:ext cx="281947" cy="1094035"/>
            <a:chOff x="7256520" y="835200"/>
            <a:chExt cx="562320" cy="2181960"/>
          </a:xfrm>
        </p:grpSpPr>
        <p:sp>
          <p:nvSpPr>
            <p:cNvPr id="215" name="Google Shape;215;p19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21"/>
          <p:cNvGrpSpPr/>
          <p:nvPr/>
        </p:nvGrpSpPr>
        <p:grpSpPr>
          <a:xfrm rot="-5400000">
            <a:off x="8289802" y="4353460"/>
            <a:ext cx="281947" cy="1094035"/>
            <a:chOff x="7256520" y="835200"/>
            <a:chExt cx="562320" cy="2181960"/>
          </a:xfrm>
        </p:grpSpPr>
        <p:sp>
          <p:nvSpPr>
            <p:cNvPr id="229" name="Google Shape;229;p21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233" name="Google Shape;233;p21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4" name="Google Shape;234;p21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9100" y="1511556"/>
            <a:ext cx="946200" cy="948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4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60" name="Google Shape;260;p24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1" name="Google Shape;261;p24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5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65" name="Google Shape;265;p25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6" name="Google Shape;266;p25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7" name="Google Shape;267;p25"/>
          <p:cNvGrpSpPr/>
          <p:nvPr/>
        </p:nvGrpSpPr>
        <p:grpSpPr>
          <a:xfrm rot="-5400000">
            <a:off x="572252" y="4353460"/>
            <a:ext cx="281947" cy="1094035"/>
            <a:chOff x="7256520" y="835200"/>
            <a:chExt cx="562320" cy="2181960"/>
          </a:xfrm>
        </p:grpSpPr>
        <p:sp>
          <p:nvSpPr>
            <p:cNvPr id="268" name="Google Shape;268;p25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2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38" name="Google Shape;238;p2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9" name="Google Shape;239;p2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41" name="Google Shape;2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200" y="4655956"/>
            <a:ext cx="946200" cy="948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2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43" name="Google Shape;243;p2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44" name="Google Shape;244;p2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4316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75C2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62" r:id="rId5"/>
    <p:sldLayoutId id="2147483663" r:id="rId6"/>
    <p:sldLayoutId id="2147483665" r:id="rId7"/>
    <p:sldLayoutId id="2147483667" r:id="rId8"/>
    <p:sldLayoutId id="2147483670" r:id="rId9"/>
    <p:sldLayoutId id="2147483671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>
            <a:spLocks noGrp="1"/>
          </p:cNvSpPr>
          <p:nvPr>
            <p:ph type="ctrTitle"/>
          </p:nvPr>
        </p:nvSpPr>
        <p:spPr>
          <a:xfrm>
            <a:off x="447225" y="7012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Aft>
                <a:spcPts val="200"/>
              </a:spcAft>
            </a:pPr>
            <a:r>
              <a:rPr lang="en-US" sz="4400" dirty="0">
                <a:solidFill>
                  <a:schemeClr val="tx1"/>
                </a:solidFill>
              </a:rPr>
              <a:t>Optimizing the Egyptian Premier League Schedule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282" name="Google Shape;282;p29"/>
          <p:cNvSpPr txBox="1">
            <a:spLocks noGrp="1"/>
          </p:cNvSpPr>
          <p:nvPr>
            <p:ph type="subTitle" idx="1"/>
          </p:nvPr>
        </p:nvSpPr>
        <p:spPr>
          <a:xfrm>
            <a:off x="447225" y="3183225"/>
            <a:ext cx="7927155" cy="3909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A Mathematical Optimization Approach using Integer Linear Programming</a:t>
            </a:r>
            <a:endParaRPr b="1" dirty="0"/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449400" y="3000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689;p55">
            <a:extLst>
              <a:ext uri="{FF2B5EF4-FFF2-40B4-BE49-F238E27FC236}">
                <a16:creationId xmlns:a16="http://schemas.microsoft.com/office/drawing/2014/main" id="{6FBFCD4E-F247-4D7F-BBD5-2DA6CC1F3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25" y="3757035"/>
            <a:ext cx="1782250" cy="128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60000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6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>
            <a:spLocks noGrp="1"/>
          </p:cNvSpPr>
          <p:nvPr>
            <p:ph type="title"/>
          </p:nvPr>
        </p:nvSpPr>
        <p:spPr>
          <a:xfrm>
            <a:off x="2083725" y="1527636"/>
            <a:ext cx="4894500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31" name="Google Shape;331;p34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0" name="Google Shape;330;p34"/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Introduction To The Project And Problem Overview 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A885B0-2086-58B9-44DB-C5D08A8A16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2956" y="866657"/>
            <a:ext cx="8302269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DM Sans" pitchFamily="2" charset="0"/>
              </a:rPr>
              <a:t>For years, league scheduling relied on manual planning, quietly accumulating issues that became impossible to ignore during Egypt’s emergency hosting of AFCON 2019.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This forced a significant disruption to the standard calendar.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league is currently trapped in a "Domino Effect" of delayed starts and compressed schedules, which results in: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Fixture Congestion: Teams facing impossible turnaround time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Uneven Rest: Disparities in recovery time between competing clubs.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Frequent Postponements: A chaotic schedule that changes frequently.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origin of the story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A885B0-2086-58B9-44DB-C5D08A8A16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9200" y="-469281"/>
            <a:ext cx="8050620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Global Disruption: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COVID-19 disrupted global sport, resulting in further delays.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This accumulation pushed season start dates as far back as December, creating a time deficit that was never recovered.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/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Aggravator (COVID-19)</a:t>
            </a:r>
          </a:p>
        </p:txBody>
      </p:sp>
    </p:spTree>
    <p:extLst>
      <p:ext uri="{BB962C8B-B14F-4D97-AF65-F5344CB8AC3E}">
        <p14:creationId xmlns:p14="http://schemas.microsoft.com/office/powerpoint/2010/main" val="417755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>
            <a:spLocks noGrp="1"/>
          </p:cNvSpPr>
          <p:nvPr>
            <p:ph type="title"/>
          </p:nvPr>
        </p:nvSpPr>
        <p:spPr>
          <a:xfrm>
            <a:off x="1802100" y="441657"/>
            <a:ext cx="593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Visualizing the Disparity</a:t>
            </a:r>
          </a:p>
        </p:txBody>
      </p:sp>
      <p:cxnSp>
        <p:nvCxnSpPr>
          <p:cNvPr id="520" name="Google Shape;520;p46"/>
          <p:cNvCxnSpPr>
            <a:cxnSpLocks/>
          </p:cNvCxnSpPr>
          <p:nvPr/>
        </p:nvCxnSpPr>
        <p:spPr>
          <a:xfrm>
            <a:off x="5620974" y="1375974"/>
            <a:ext cx="0" cy="23915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CB7549-DDAA-42C5-8294-F942BAD1F395}"/>
              </a:ext>
            </a:extLst>
          </p:cNvPr>
          <p:cNvSpPr txBox="1"/>
          <p:nvPr/>
        </p:nvSpPr>
        <p:spPr>
          <a:xfrm>
            <a:off x="5810024" y="1535544"/>
            <a:ext cx="3188051" cy="2274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0" dirty="0">
                <a:solidFill>
                  <a:schemeClr val="tx1"/>
                </a:solidFill>
                <a:effectLst/>
                <a:latin typeface="DM Sans" panose="020B0604020202020204" charset="0"/>
              </a:rPr>
              <a:t>This chart illustrates the 2020/2021 problem’s peak, comparing the disparity in matches played by five teams at the same point in the season.</a:t>
            </a:r>
            <a:endParaRPr lang="en-US" sz="1600" b="1" dirty="0">
              <a:solidFill>
                <a:schemeClr val="tx1"/>
              </a:solidFill>
              <a:latin typeface="DM Sans" panose="020B060402020202020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18D982-FE51-46EA-A7E3-255BCADF2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01" y="1224870"/>
            <a:ext cx="4993900" cy="269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53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>
            <a:spLocks noGrp="1"/>
          </p:cNvSpPr>
          <p:nvPr>
            <p:ph type="title"/>
          </p:nvPr>
        </p:nvSpPr>
        <p:spPr>
          <a:xfrm>
            <a:off x="916500" y="398457"/>
            <a:ext cx="749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2024/2025 Exceptional Format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04750-94B4-47C2-87E9-581FB9B6F9EC}"/>
              </a:ext>
            </a:extLst>
          </p:cNvPr>
          <p:cNvSpPr txBox="1"/>
          <p:nvPr/>
        </p:nvSpPr>
        <p:spPr>
          <a:xfrm>
            <a:off x="617035" y="1152293"/>
            <a:ext cx="8779726" cy="2490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Qualifier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: All 18 teams compete in a single round-robin format (17 matches per team), with no return legs.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Split:</a:t>
            </a: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Top 9: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Compete for the league title and continental qualification.</a:t>
            </a: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DM Sans" pitchFamily="2" charset="0"/>
              </a:rPr>
              <a:t>Bottom 9: </a:t>
            </a:r>
            <a:r>
              <a:rPr lang="en-US" altLang="en-US" sz="1600" dirty="0">
                <a:solidFill>
                  <a:schemeClr val="tx1"/>
                </a:solidFill>
                <a:latin typeface="DM Sans" pitchFamily="2" charset="0"/>
              </a:rPr>
              <a:t>Compete to avoid relegation.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6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B411C630-42BA-5BD3-ED41-969D0C16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CD9A0B5-2820-A567-93F8-01E335C0BB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6308" y="1433714"/>
            <a:ext cx="796308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Structured 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Model the league using Integer Linear Programming (ILP).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Time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Fit the standard 34-round season strictly between August and May.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Constraint Satisfaction: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Respect CAF commitments, Security refusals, and FIFA breaks.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Fairness: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Balance Home/Away streaks and travel distances.</a:t>
            </a: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976DABBE-4DD0-ED40-7806-E9877F9CD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3375" y="59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Our Goal</a:t>
            </a:r>
            <a:endParaRPr dirty="0"/>
          </a:p>
        </p:txBody>
      </p:sp>
      <p:sp>
        <p:nvSpPr>
          <p:cNvPr id="2" name="Google Shape;314;p32">
            <a:extLst>
              <a:ext uri="{FF2B5EF4-FFF2-40B4-BE49-F238E27FC236}">
                <a16:creationId xmlns:a16="http://schemas.microsoft.com/office/drawing/2014/main" id="{D7E3F853-1960-F253-BA75-30AA08D568EC}"/>
              </a:ext>
            </a:extLst>
          </p:cNvPr>
          <p:cNvSpPr txBox="1">
            <a:spLocks/>
          </p:cNvSpPr>
          <p:nvPr/>
        </p:nvSpPr>
        <p:spPr>
          <a:xfrm>
            <a:off x="566240" y="963827"/>
            <a:ext cx="7543980" cy="44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lang="en-US" sz="2400" dirty="0"/>
          </a:p>
        </p:txBody>
      </p:sp>
      <p:grpSp>
        <p:nvGrpSpPr>
          <p:cNvPr id="10" name="Google Shape;8456;p67">
            <a:extLst>
              <a:ext uri="{FF2B5EF4-FFF2-40B4-BE49-F238E27FC236}">
                <a16:creationId xmlns:a16="http://schemas.microsoft.com/office/drawing/2014/main" id="{60D61B3E-E130-127B-F01E-5E1C090C0A7F}"/>
              </a:ext>
            </a:extLst>
          </p:cNvPr>
          <p:cNvGrpSpPr/>
          <p:nvPr/>
        </p:nvGrpSpPr>
        <p:grpSpPr>
          <a:xfrm>
            <a:off x="646087" y="2430375"/>
            <a:ext cx="340221" cy="340168"/>
            <a:chOff x="3270475" y="1427025"/>
            <a:chExt cx="483200" cy="483125"/>
          </a:xfrm>
          <a:solidFill>
            <a:schemeClr val="tx2">
              <a:lumMod val="95000"/>
            </a:schemeClr>
          </a:solidFill>
        </p:grpSpPr>
        <p:sp>
          <p:nvSpPr>
            <p:cNvPr id="11" name="Google Shape;8457;p67">
              <a:extLst>
                <a:ext uri="{FF2B5EF4-FFF2-40B4-BE49-F238E27FC236}">
                  <a16:creationId xmlns:a16="http://schemas.microsoft.com/office/drawing/2014/main" id="{6A34FFD7-F1BC-8A3D-1BE0-DAAFC56848CD}"/>
                </a:ext>
              </a:extLst>
            </p:cNvPr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2" name="Google Shape;8458;p67">
              <a:extLst>
                <a:ext uri="{FF2B5EF4-FFF2-40B4-BE49-F238E27FC236}">
                  <a16:creationId xmlns:a16="http://schemas.microsoft.com/office/drawing/2014/main" id="{1FBA6334-F32C-21AF-7E53-446BC9CCBA44}"/>
                </a:ext>
              </a:extLst>
            </p:cNvPr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3" name="Google Shape;8459;p67">
              <a:extLst>
                <a:ext uri="{FF2B5EF4-FFF2-40B4-BE49-F238E27FC236}">
                  <a16:creationId xmlns:a16="http://schemas.microsoft.com/office/drawing/2014/main" id="{8E0EB250-70CD-9C6E-347E-1C16CC781C37}"/>
                </a:ext>
              </a:extLst>
            </p:cNvPr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14" name="Google Shape;8466;p67">
            <a:extLst>
              <a:ext uri="{FF2B5EF4-FFF2-40B4-BE49-F238E27FC236}">
                <a16:creationId xmlns:a16="http://schemas.microsoft.com/office/drawing/2014/main" id="{3BAB6764-A3C5-6CA1-AE58-1015E79166F2}"/>
              </a:ext>
            </a:extLst>
          </p:cNvPr>
          <p:cNvGrpSpPr/>
          <p:nvPr/>
        </p:nvGrpSpPr>
        <p:grpSpPr>
          <a:xfrm>
            <a:off x="634583" y="4094367"/>
            <a:ext cx="340221" cy="340168"/>
            <a:chOff x="5648375" y="1427025"/>
            <a:chExt cx="483200" cy="483125"/>
          </a:xfrm>
        </p:grpSpPr>
        <p:sp>
          <p:nvSpPr>
            <p:cNvPr id="15" name="Google Shape;8467;p67">
              <a:extLst>
                <a:ext uri="{FF2B5EF4-FFF2-40B4-BE49-F238E27FC236}">
                  <a16:creationId xmlns:a16="http://schemas.microsoft.com/office/drawing/2014/main" id="{99733E79-5BC2-D7C6-01CA-3CAA9CB47142}"/>
                </a:ext>
              </a:extLst>
            </p:cNvPr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6" name="Google Shape;8468;p67">
              <a:extLst>
                <a:ext uri="{FF2B5EF4-FFF2-40B4-BE49-F238E27FC236}">
                  <a16:creationId xmlns:a16="http://schemas.microsoft.com/office/drawing/2014/main" id="{FDEE5E66-2D8B-76F1-4634-3CFC18F25D43}"/>
                </a:ext>
              </a:extLst>
            </p:cNvPr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17" name="Google Shape;8631;p67">
            <a:extLst>
              <a:ext uri="{FF2B5EF4-FFF2-40B4-BE49-F238E27FC236}">
                <a16:creationId xmlns:a16="http://schemas.microsoft.com/office/drawing/2014/main" id="{63ECE6AC-BDC6-0180-C4A4-04F0A9D6E78A}"/>
              </a:ext>
            </a:extLst>
          </p:cNvPr>
          <p:cNvGrpSpPr/>
          <p:nvPr/>
        </p:nvGrpSpPr>
        <p:grpSpPr>
          <a:xfrm>
            <a:off x="622064" y="3262371"/>
            <a:ext cx="367757" cy="340168"/>
            <a:chOff x="6239575" y="4416275"/>
            <a:chExt cx="489625" cy="449175"/>
          </a:xfrm>
          <a:solidFill>
            <a:schemeClr val="tx1"/>
          </a:solidFill>
        </p:grpSpPr>
        <p:sp>
          <p:nvSpPr>
            <p:cNvPr id="18" name="Google Shape;8632;p67">
              <a:extLst>
                <a:ext uri="{FF2B5EF4-FFF2-40B4-BE49-F238E27FC236}">
                  <a16:creationId xmlns:a16="http://schemas.microsoft.com/office/drawing/2014/main" id="{2AC95A66-3590-BD45-C2CA-7DE5F1879A03}"/>
                </a:ext>
              </a:extLst>
            </p:cNvPr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9" name="Google Shape;8633;p67">
              <a:extLst>
                <a:ext uri="{FF2B5EF4-FFF2-40B4-BE49-F238E27FC236}">
                  <a16:creationId xmlns:a16="http://schemas.microsoft.com/office/drawing/2014/main" id="{840DA70E-C81D-CB32-1AA2-4FF7DF59BA83}"/>
                </a:ext>
              </a:extLst>
            </p:cNvPr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20" name="Google Shape;8634;p67">
              <a:extLst>
                <a:ext uri="{FF2B5EF4-FFF2-40B4-BE49-F238E27FC236}">
                  <a16:creationId xmlns:a16="http://schemas.microsoft.com/office/drawing/2014/main" id="{E619F48A-825C-53D1-4A80-60E0B6A203BB}"/>
                </a:ext>
              </a:extLst>
            </p:cNvPr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34" name="Google Shape;9389;p70">
            <a:extLst>
              <a:ext uri="{FF2B5EF4-FFF2-40B4-BE49-F238E27FC236}">
                <a16:creationId xmlns:a16="http://schemas.microsoft.com/office/drawing/2014/main" id="{05EBEE48-4DDD-4B26-B56D-FDF9DBBE5BC3}"/>
              </a:ext>
            </a:extLst>
          </p:cNvPr>
          <p:cNvGrpSpPr/>
          <p:nvPr/>
        </p:nvGrpSpPr>
        <p:grpSpPr>
          <a:xfrm>
            <a:off x="646087" y="1611437"/>
            <a:ext cx="340222" cy="340168"/>
            <a:chOff x="-31889075" y="2658950"/>
            <a:chExt cx="302475" cy="290775"/>
          </a:xfrm>
          <a:solidFill>
            <a:schemeClr val="tx1"/>
          </a:solidFill>
        </p:grpSpPr>
        <p:sp>
          <p:nvSpPr>
            <p:cNvPr id="35" name="Google Shape;9390;p70">
              <a:extLst>
                <a:ext uri="{FF2B5EF4-FFF2-40B4-BE49-F238E27FC236}">
                  <a16:creationId xmlns:a16="http://schemas.microsoft.com/office/drawing/2014/main" id="{444ADB04-6600-413E-8B7E-353B1A893B80}"/>
                </a:ext>
              </a:extLst>
            </p:cNvPr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391;p70">
              <a:extLst>
                <a:ext uri="{FF2B5EF4-FFF2-40B4-BE49-F238E27FC236}">
                  <a16:creationId xmlns:a16="http://schemas.microsoft.com/office/drawing/2014/main" id="{8F371622-3701-4B4C-A090-8523C2F7BD1C}"/>
                </a:ext>
              </a:extLst>
            </p:cNvPr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192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Proposed Solution</a:t>
            </a:r>
            <a:endParaRPr dirty="0"/>
          </a:p>
        </p:txBody>
      </p:sp>
      <p:sp>
        <p:nvSpPr>
          <p:cNvPr id="342" name="Google Shape;342;p35"/>
          <p:cNvSpPr/>
          <p:nvPr/>
        </p:nvSpPr>
        <p:spPr>
          <a:xfrm>
            <a:off x="1024796" y="1439100"/>
            <a:ext cx="6401916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An Optimization-Based System.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1523722" y="2077725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Input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3464200" y="2042700"/>
            <a:ext cx="433106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Structured Data (Teams, Stadiums, Rules)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5" name="!!Model"/>
          <p:cNvSpPr/>
          <p:nvPr/>
        </p:nvSpPr>
        <p:spPr>
          <a:xfrm>
            <a:off x="1523722" y="2658300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Model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445833" y="2658300"/>
            <a:ext cx="4527656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Mathematical Constraints &amp; Objective Functions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1523722" y="3238875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Output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3445833" y="3266350"/>
            <a:ext cx="527183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An efficient schedule that balances efficiency and fairness.</a:t>
            </a:r>
            <a:endParaRPr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51" name="Google Shape;351;p35"/>
          <p:cNvCxnSpPr>
            <a:cxnSpLocks/>
            <a:stCxn id="342" idx="1"/>
            <a:endCxn id="343" idx="1"/>
          </p:cNvCxnSpPr>
          <p:nvPr/>
        </p:nvCxnSpPr>
        <p:spPr>
          <a:xfrm rot="10800000" flipH="1" flipV="1">
            <a:off x="1024796" y="1660349"/>
            <a:ext cx="498926" cy="638625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2" name="Google Shape;352;p35"/>
          <p:cNvCxnSpPr>
            <a:cxnSpLocks/>
            <a:stCxn id="342" idx="1"/>
            <a:endCxn id="345" idx="1"/>
          </p:cNvCxnSpPr>
          <p:nvPr/>
        </p:nvCxnSpPr>
        <p:spPr>
          <a:xfrm rot="10800000" flipH="1" flipV="1">
            <a:off x="1024796" y="1660350"/>
            <a:ext cx="498926" cy="1219200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3" name="Google Shape;353;p35"/>
          <p:cNvCxnSpPr>
            <a:cxnSpLocks/>
          </p:cNvCxnSpPr>
          <p:nvPr/>
        </p:nvCxnSpPr>
        <p:spPr>
          <a:xfrm rot="10800000" flipH="1" flipV="1">
            <a:off x="1024796" y="1671862"/>
            <a:ext cx="498926" cy="1799775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5" name="Google Shape;355;p35"/>
          <p:cNvCxnSpPr>
            <a:cxnSpLocks/>
          </p:cNvCxnSpPr>
          <p:nvPr/>
        </p:nvCxnSpPr>
        <p:spPr>
          <a:xfrm>
            <a:off x="2739082" y="2269050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6" name="Google Shape;356;p35"/>
          <p:cNvCxnSpPr>
            <a:cxnSpLocks/>
          </p:cNvCxnSpPr>
          <p:nvPr/>
        </p:nvCxnSpPr>
        <p:spPr>
          <a:xfrm>
            <a:off x="2739082" y="2879550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7" name="Google Shape;357;p35"/>
          <p:cNvCxnSpPr>
            <a:cxnSpLocks/>
          </p:cNvCxnSpPr>
          <p:nvPr/>
        </p:nvCxnSpPr>
        <p:spPr>
          <a:xfrm>
            <a:off x="2776252" y="3495034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odel">
            <a:extLst>
              <a:ext uri="{FF2B5EF4-FFF2-40B4-BE49-F238E27FC236}">
                <a16:creationId xmlns:a16="http://schemas.microsoft.com/office/drawing/2014/main" id="{AC1FC312-2BAE-C58E-111F-1C986112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68" y="133461"/>
            <a:ext cx="7704000" cy="572700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18" name="Google Shape;365;p36">
            <a:extLst>
              <a:ext uri="{FF2B5EF4-FFF2-40B4-BE49-F238E27FC236}">
                <a16:creationId xmlns:a16="http://schemas.microsoft.com/office/drawing/2014/main" id="{7E911C9D-57B1-7EC8-FF62-0A5D7C5026CD}"/>
              </a:ext>
            </a:extLst>
          </p:cNvPr>
          <p:cNvSpPr txBox="1">
            <a:spLocks/>
          </p:cNvSpPr>
          <p:nvPr/>
        </p:nvSpPr>
        <p:spPr>
          <a:xfrm>
            <a:off x="4168833" y="1197770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Stadium Sharing 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No simultaneous matches allowed for teams sharing a home venue</a:t>
            </a:r>
          </a:p>
          <a:p>
            <a:pPr marL="596900" lvl="1">
              <a:lnSpc>
                <a:spcPct val="150000"/>
              </a:lnSpc>
              <a:buClr>
                <a:schemeClr val="tx1"/>
              </a:buClr>
            </a:pPr>
            <a:endParaRPr lang="en-US" dirty="0">
              <a:solidFill>
                <a:schemeClr val="tx1"/>
              </a:solidFill>
              <a:latin typeface="DM Sans" pitchFamily="2" charset="0"/>
            </a:endParaRP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19" name="Google Shape;367;p36">
            <a:extLst>
              <a:ext uri="{FF2B5EF4-FFF2-40B4-BE49-F238E27FC236}">
                <a16:creationId xmlns:a16="http://schemas.microsoft.com/office/drawing/2014/main" id="{C5155247-C3CE-4C46-99CD-497C96B3BD87}"/>
              </a:ext>
            </a:extLst>
          </p:cNvPr>
          <p:cNvSpPr txBox="1">
            <a:spLocks/>
          </p:cNvSpPr>
          <p:nvPr/>
        </p:nvSpPr>
        <p:spPr>
          <a:xfrm>
            <a:off x="799929" y="883022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DM Sans" pitchFamily="2" charset="0"/>
              </a:rPr>
              <a:t>Objectives</a:t>
            </a:r>
          </a:p>
        </p:txBody>
      </p:sp>
      <p:sp>
        <p:nvSpPr>
          <p:cNvPr id="20" name="Google Shape;368;p36">
            <a:extLst>
              <a:ext uri="{FF2B5EF4-FFF2-40B4-BE49-F238E27FC236}">
                <a16:creationId xmlns:a16="http://schemas.microsoft.com/office/drawing/2014/main" id="{712D51C5-59FB-3C73-CEE5-ACEB5339FC9C}"/>
              </a:ext>
            </a:extLst>
          </p:cNvPr>
          <p:cNvSpPr txBox="1">
            <a:spLocks/>
          </p:cNvSpPr>
          <p:nvPr/>
        </p:nvSpPr>
        <p:spPr>
          <a:xfrm>
            <a:off x="5143373" y="883022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DM Sans" pitchFamily="2" charset="0"/>
              </a:rPr>
              <a:t>Constraints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D24BA-05FD-5269-4FF6-282C1C5A431A}"/>
              </a:ext>
            </a:extLst>
          </p:cNvPr>
          <p:cNvSpPr txBox="1"/>
          <p:nvPr/>
        </p:nvSpPr>
        <p:spPr>
          <a:xfrm>
            <a:off x="514689" y="3635942"/>
            <a:ext cx="3771794" cy="386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Minimize Travel  Fatigue (TTP)</a:t>
            </a:r>
          </a:p>
        </p:txBody>
      </p:sp>
      <p:sp>
        <p:nvSpPr>
          <p:cNvPr id="33" name="Google Shape;8465;p67">
            <a:extLst>
              <a:ext uri="{FF2B5EF4-FFF2-40B4-BE49-F238E27FC236}">
                <a16:creationId xmlns:a16="http://schemas.microsoft.com/office/drawing/2014/main" id="{0C424A50-E1F8-B937-700B-3F9AA746FA19}"/>
              </a:ext>
            </a:extLst>
          </p:cNvPr>
          <p:cNvSpPr/>
          <p:nvPr/>
        </p:nvSpPr>
        <p:spPr>
          <a:xfrm>
            <a:off x="506627" y="928329"/>
            <a:ext cx="300037" cy="296944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38" name="Google Shape;8894;p68">
            <a:extLst>
              <a:ext uri="{FF2B5EF4-FFF2-40B4-BE49-F238E27FC236}">
                <a16:creationId xmlns:a16="http://schemas.microsoft.com/office/drawing/2014/main" id="{6276CA8F-2CAA-600E-C0F6-9D9430273DF0}"/>
              </a:ext>
            </a:extLst>
          </p:cNvPr>
          <p:cNvGrpSpPr/>
          <p:nvPr/>
        </p:nvGrpSpPr>
        <p:grpSpPr>
          <a:xfrm>
            <a:off x="4795245" y="866871"/>
            <a:ext cx="354136" cy="334348"/>
            <a:chOff x="-25844850" y="2357750"/>
            <a:chExt cx="296175" cy="279625"/>
          </a:xfrm>
          <a:solidFill>
            <a:schemeClr val="tx1">
              <a:lumMod val="95000"/>
            </a:schemeClr>
          </a:solidFill>
        </p:grpSpPr>
        <p:sp>
          <p:nvSpPr>
            <p:cNvPr id="39" name="Google Shape;8895;p68">
              <a:extLst>
                <a:ext uri="{FF2B5EF4-FFF2-40B4-BE49-F238E27FC236}">
                  <a16:creationId xmlns:a16="http://schemas.microsoft.com/office/drawing/2014/main" id="{9C95C29F-BC39-A94D-69E4-D43F3ADCFD9B}"/>
                </a:ext>
              </a:extLst>
            </p:cNvPr>
            <p:cNvSpPr/>
            <p:nvPr/>
          </p:nvSpPr>
          <p:spPr>
            <a:xfrm>
              <a:off x="-25792075" y="2428625"/>
              <a:ext cx="191425" cy="208750"/>
            </a:xfrm>
            <a:custGeom>
              <a:avLst/>
              <a:gdLst/>
              <a:ahLst/>
              <a:cxnLst/>
              <a:rect l="l" t="t" r="r" b="b"/>
              <a:pathLst>
                <a:path w="7657" h="8350" extrusionOk="0">
                  <a:moveTo>
                    <a:pt x="3781" y="2773"/>
                  </a:moveTo>
                  <a:cubicBezTo>
                    <a:pt x="3970" y="2773"/>
                    <a:pt x="4128" y="2931"/>
                    <a:pt x="4128" y="3120"/>
                  </a:cubicBezTo>
                  <a:cubicBezTo>
                    <a:pt x="4128" y="3309"/>
                    <a:pt x="3970" y="3466"/>
                    <a:pt x="3781" y="3466"/>
                  </a:cubicBezTo>
                  <a:cubicBezTo>
                    <a:pt x="3592" y="3466"/>
                    <a:pt x="3435" y="3309"/>
                    <a:pt x="3435" y="3120"/>
                  </a:cubicBezTo>
                  <a:cubicBezTo>
                    <a:pt x="3435" y="2931"/>
                    <a:pt x="3592" y="2773"/>
                    <a:pt x="3781" y="2773"/>
                  </a:cubicBezTo>
                  <a:close/>
                  <a:moveTo>
                    <a:pt x="3813" y="694"/>
                  </a:moveTo>
                  <a:cubicBezTo>
                    <a:pt x="5167" y="694"/>
                    <a:pt x="6270" y="1796"/>
                    <a:pt x="6270" y="3120"/>
                  </a:cubicBezTo>
                  <a:lnTo>
                    <a:pt x="6270" y="6239"/>
                  </a:lnTo>
                  <a:lnTo>
                    <a:pt x="4191" y="6239"/>
                  </a:lnTo>
                  <a:lnTo>
                    <a:pt x="4191" y="4096"/>
                  </a:lnTo>
                  <a:cubicBezTo>
                    <a:pt x="4569" y="3939"/>
                    <a:pt x="4884" y="3592"/>
                    <a:pt x="4884" y="3120"/>
                  </a:cubicBezTo>
                  <a:cubicBezTo>
                    <a:pt x="4884" y="2521"/>
                    <a:pt x="4411" y="2111"/>
                    <a:pt x="3876" y="2111"/>
                  </a:cubicBezTo>
                  <a:cubicBezTo>
                    <a:pt x="3277" y="2111"/>
                    <a:pt x="2836" y="2584"/>
                    <a:pt x="2836" y="3120"/>
                  </a:cubicBezTo>
                  <a:cubicBezTo>
                    <a:pt x="2836" y="3561"/>
                    <a:pt x="3120" y="3939"/>
                    <a:pt x="3561" y="4096"/>
                  </a:cubicBezTo>
                  <a:lnTo>
                    <a:pt x="3561" y="6239"/>
                  </a:lnTo>
                  <a:lnTo>
                    <a:pt x="1450" y="6239"/>
                  </a:lnTo>
                  <a:lnTo>
                    <a:pt x="1450" y="3120"/>
                  </a:lnTo>
                  <a:lnTo>
                    <a:pt x="1387" y="3120"/>
                  </a:lnTo>
                  <a:cubicBezTo>
                    <a:pt x="1387" y="1796"/>
                    <a:pt x="2489" y="694"/>
                    <a:pt x="3813" y="694"/>
                  </a:cubicBezTo>
                  <a:close/>
                  <a:moveTo>
                    <a:pt x="6585" y="6932"/>
                  </a:moveTo>
                  <a:cubicBezTo>
                    <a:pt x="6774" y="6932"/>
                    <a:pt x="6932" y="7089"/>
                    <a:pt x="6932" y="7310"/>
                  </a:cubicBezTo>
                  <a:lnTo>
                    <a:pt x="6932" y="7625"/>
                  </a:lnTo>
                  <a:lnTo>
                    <a:pt x="662" y="7625"/>
                  </a:lnTo>
                  <a:lnTo>
                    <a:pt x="662" y="7310"/>
                  </a:lnTo>
                  <a:cubicBezTo>
                    <a:pt x="662" y="7089"/>
                    <a:pt x="820" y="6932"/>
                    <a:pt x="1040" y="6932"/>
                  </a:cubicBezTo>
                  <a:close/>
                  <a:moveTo>
                    <a:pt x="3813" y="1"/>
                  </a:moveTo>
                  <a:cubicBezTo>
                    <a:pt x="2080" y="1"/>
                    <a:pt x="725" y="1418"/>
                    <a:pt x="725" y="3120"/>
                  </a:cubicBezTo>
                  <a:lnTo>
                    <a:pt x="725" y="6302"/>
                  </a:lnTo>
                  <a:cubicBezTo>
                    <a:pt x="316" y="6459"/>
                    <a:pt x="1" y="6837"/>
                    <a:pt x="1" y="7310"/>
                  </a:cubicBezTo>
                  <a:lnTo>
                    <a:pt x="1" y="8003"/>
                  </a:lnTo>
                  <a:cubicBezTo>
                    <a:pt x="1" y="8192"/>
                    <a:pt x="158" y="8349"/>
                    <a:pt x="347" y="8349"/>
                  </a:cubicBezTo>
                  <a:lnTo>
                    <a:pt x="7278" y="8349"/>
                  </a:lnTo>
                  <a:cubicBezTo>
                    <a:pt x="7499" y="8349"/>
                    <a:pt x="7656" y="8192"/>
                    <a:pt x="7656" y="8003"/>
                  </a:cubicBezTo>
                  <a:lnTo>
                    <a:pt x="7656" y="7310"/>
                  </a:lnTo>
                  <a:cubicBezTo>
                    <a:pt x="7593" y="6837"/>
                    <a:pt x="7341" y="6428"/>
                    <a:pt x="6932" y="6302"/>
                  </a:cubicBezTo>
                  <a:lnTo>
                    <a:pt x="6932" y="3120"/>
                  </a:lnTo>
                  <a:cubicBezTo>
                    <a:pt x="6932" y="1387"/>
                    <a:pt x="5514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0" name="Google Shape;8896;p68">
              <a:extLst>
                <a:ext uri="{FF2B5EF4-FFF2-40B4-BE49-F238E27FC236}">
                  <a16:creationId xmlns:a16="http://schemas.microsoft.com/office/drawing/2014/main" id="{6C2B765E-E44A-99C6-7723-7AFAF5820D96}"/>
                </a:ext>
              </a:extLst>
            </p:cNvPr>
            <p:cNvSpPr/>
            <p:nvPr/>
          </p:nvSpPr>
          <p:spPr>
            <a:xfrm>
              <a:off x="-25602250" y="2497950"/>
              <a:ext cx="53575" cy="17350"/>
            </a:xfrm>
            <a:custGeom>
              <a:avLst/>
              <a:gdLst/>
              <a:ahLst/>
              <a:cxnLst/>
              <a:rect l="l" t="t" r="r" b="b"/>
              <a:pathLst>
                <a:path w="2143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796" y="693"/>
                  </a:lnTo>
                  <a:cubicBezTo>
                    <a:pt x="1985" y="693"/>
                    <a:pt x="2143" y="536"/>
                    <a:pt x="2143" y="347"/>
                  </a:cubicBez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1" name="Google Shape;8897;p68">
              <a:extLst>
                <a:ext uri="{FF2B5EF4-FFF2-40B4-BE49-F238E27FC236}">
                  <a16:creationId xmlns:a16="http://schemas.microsoft.com/office/drawing/2014/main" id="{25C8891F-CA6F-2B2B-E778-7FA7CAC927B2}"/>
                </a:ext>
              </a:extLst>
            </p:cNvPr>
            <p:cNvSpPr/>
            <p:nvPr/>
          </p:nvSpPr>
          <p:spPr>
            <a:xfrm>
              <a:off x="-25844850" y="2497950"/>
              <a:ext cx="52800" cy="17350"/>
            </a:xfrm>
            <a:custGeom>
              <a:avLst/>
              <a:gdLst/>
              <a:ahLst/>
              <a:cxnLst/>
              <a:rect l="l" t="t" r="r" b="b"/>
              <a:pathLst>
                <a:path w="2112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65" y="693"/>
                  </a:lnTo>
                  <a:cubicBezTo>
                    <a:pt x="1954" y="693"/>
                    <a:pt x="2112" y="536"/>
                    <a:pt x="2112" y="347"/>
                  </a:cubicBezTo>
                  <a:cubicBezTo>
                    <a:pt x="2080" y="158"/>
                    <a:pt x="1923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2" name="Google Shape;8898;p68">
              <a:extLst>
                <a:ext uri="{FF2B5EF4-FFF2-40B4-BE49-F238E27FC236}">
                  <a16:creationId xmlns:a16="http://schemas.microsoft.com/office/drawing/2014/main" id="{E25AD478-DB20-6BCC-81A6-A2C3FB2D3159}"/>
                </a:ext>
              </a:extLst>
            </p:cNvPr>
            <p:cNvSpPr/>
            <p:nvPr/>
          </p:nvSpPr>
          <p:spPr>
            <a:xfrm>
              <a:off x="-25706225" y="2357750"/>
              <a:ext cx="17350" cy="53575"/>
            </a:xfrm>
            <a:custGeom>
              <a:avLst/>
              <a:gdLst/>
              <a:ahLst/>
              <a:cxnLst/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85"/>
                    <a:pt x="158" y="2143"/>
                    <a:pt x="347" y="2143"/>
                  </a:cubicBezTo>
                  <a:cubicBezTo>
                    <a:pt x="536" y="2143"/>
                    <a:pt x="694" y="1985"/>
                    <a:pt x="694" y="1764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3" name="Google Shape;8899;p68">
              <a:extLst>
                <a:ext uri="{FF2B5EF4-FFF2-40B4-BE49-F238E27FC236}">
                  <a16:creationId xmlns:a16="http://schemas.microsoft.com/office/drawing/2014/main" id="{59661993-21AD-E360-40CD-6D6872E6F8F8}"/>
                </a:ext>
              </a:extLst>
            </p:cNvPr>
            <p:cNvSpPr/>
            <p:nvPr/>
          </p:nvSpPr>
          <p:spPr>
            <a:xfrm>
              <a:off x="-25804675" y="2400275"/>
              <a:ext cx="42550" cy="41775"/>
            </a:xfrm>
            <a:custGeom>
              <a:avLst/>
              <a:gdLst/>
              <a:ahLst/>
              <a:cxnLst/>
              <a:rect l="l" t="t" r="r" b="b"/>
              <a:pathLst>
                <a:path w="1702" h="1671" extrusionOk="0">
                  <a:moveTo>
                    <a:pt x="351" y="0"/>
                  </a:moveTo>
                  <a:cubicBezTo>
                    <a:pt x="260" y="0"/>
                    <a:pt x="174" y="32"/>
                    <a:pt x="127" y="95"/>
                  </a:cubicBezTo>
                  <a:cubicBezTo>
                    <a:pt x="0" y="189"/>
                    <a:pt x="0" y="442"/>
                    <a:pt x="127" y="568"/>
                  </a:cubicBezTo>
                  <a:lnTo>
                    <a:pt x="1103" y="1544"/>
                  </a:lnTo>
                  <a:cubicBezTo>
                    <a:pt x="1166" y="1607"/>
                    <a:pt x="1261" y="1670"/>
                    <a:pt x="1324" y="1670"/>
                  </a:cubicBezTo>
                  <a:cubicBezTo>
                    <a:pt x="1418" y="1670"/>
                    <a:pt x="1544" y="1607"/>
                    <a:pt x="1576" y="1544"/>
                  </a:cubicBezTo>
                  <a:cubicBezTo>
                    <a:pt x="1702" y="1418"/>
                    <a:pt x="1702" y="1198"/>
                    <a:pt x="1576" y="1072"/>
                  </a:cubicBezTo>
                  <a:lnTo>
                    <a:pt x="599" y="95"/>
                  </a:lnTo>
                  <a:cubicBezTo>
                    <a:pt x="536" y="32"/>
                    <a:pt x="442" y="0"/>
                    <a:pt x="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4" name="Google Shape;8900;p68">
              <a:extLst>
                <a:ext uri="{FF2B5EF4-FFF2-40B4-BE49-F238E27FC236}">
                  <a16:creationId xmlns:a16="http://schemas.microsoft.com/office/drawing/2014/main" id="{9DB09741-20AE-EC4A-C649-832160557183}"/>
                </a:ext>
              </a:extLst>
            </p:cNvPr>
            <p:cNvSpPr/>
            <p:nvPr/>
          </p:nvSpPr>
          <p:spPr>
            <a:xfrm>
              <a:off x="-25632175" y="2400275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1327" y="0"/>
                  </a:moveTo>
                  <a:cubicBezTo>
                    <a:pt x="1237" y="0"/>
                    <a:pt x="1150" y="32"/>
                    <a:pt x="1103" y="95"/>
                  </a:cubicBezTo>
                  <a:lnTo>
                    <a:pt x="95" y="1072"/>
                  </a:lnTo>
                  <a:cubicBezTo>
                    <a:pt x="0" y="1198"/>
                    <a:pt x="0" y="1418"/>
                    <a:pt x="95" y="1544"/>
                  </a:cubicBezTo>
                  <a:cubicBezTo>
                    <a:pt x="158" y="1607"/>
                    <a:pt x="252" y="1670"/>
                    <a:pt x="347" y="1670"/>
                  </a:cubicBezTo>
                  <a:cubicBezTo>
                    <a:pt x="410" y="1670"/>
                    <a:pt x="536" y="1607"/>
                    <a:pt x="567" y="1544"/>
                  </a:cubicBezTo>
                  <a:lnTo>
                    <a:pt x="1575" y="568"/>
                  </a:lnTo>
                  <a:cubicBezTo>
                    <a:pt x="1670" y="442"/>
                    <a:pt x="1670" y="189"/>
                    <a:pt x="1575" y="95"/>
                  </a:cubicBezTo>
                  <a:cubicBezTo>
                    <a:pt x="1512" y="32"/>
                    <a:pt x="1418" y="0"/>
                    <a:pt x="1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CEB3D9E-BD28-189C-40BC-598B3DBDB21E}"/>
              </a:ext>
            </a:extLst>
          </p:cNvPr>
          <p:cNvSpPr txBox="1"/>
          <p:nvPr/>
        </p:nvSpPr>
        <p:spPr>
          <a:xfrm>
            <a:off x="506627" y="1995359"/>
            <a:ext cx="4034489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Maximize Fairness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Enforce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simultaneous kick-offs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for the final critical rounds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Balance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rest days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between opponents to ensure equity</a:t>
            </a: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912519-9CD7-3C7B-60D7-2520A50766E7}"/>
              </a:ext>
            </a:extLst>
          </p:cNvPr>
          <p:cNvSpPr txBox="1"/>
          <p:nvPr/>
        </p:nvSpPr>
        <p:spPr>
          <a:xfrm>
            <a:off x="514689" y="1313822"/>
            <a:ext cx="4154906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Maximize Commercial Value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Important matches in prime-time weekend</a:t>
            </a:r>
          </a:p>
        </p:txBody>
      </p:sp>
      <p:sp>
        <p:nvSpPr>
          <p:cNvPr id="55" name="Google Shape;365;p36">
            <a:extLst>
              <a:ext uri="{FF2B5EF4-FFF2-40B4-BE49-F238E27FC236}">
                <a16:creationId xmlns:a16="http://schemas.microsoft.com/office/drawing/2014/main" id="{1F66A6B1-2A53-6F35-8CC0-F98CCF2BEE05}"/>
              </a:ext>
            </a:extLst>
          </p:cNvPr>
          <p:cNvSpPr txBox="1">
            <a:spLocks/>
          </p:cNvSpPr>
          <p:nvPr/>
        </p:nvSpPr>
        <p:spPr>
          <a:xfrm>
            <a:off x="4168795" y="2092326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Continental Blockers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Mandatory  ± 3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day buffer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around any CAF</a:t>
            </a:r>
          </a:p>
        </p:txBody>
      </p:sp>
      <p:sp>
        <p:nvSpPr>
          <p:cNvPr id="59" name="Google Shape;365;p36">
            <a:extLst>
              <a:ext uri="{FF2B5EF4-FFF2-40B4-BE49-F238E27FC236}">
                <a16:creationId xmlns:a16="http://schemas.microsoft.com/office/drawing/2014/main" id="{60A144D4-7122-FE5A-F1D4-6D2BE7ED9A29}"/>
              </a:ext>
            </a:extLst>
          </p:cNvPr>
          <p:cNvSpPr txBox="1">
            <a:spLocks/>
          </p:cNvSpPr>
          <p:nvPr/>
        </p:nvSpPr>
        <p:spPr>
          <a:xfrm>
            <a:off x="4173210" y="2754129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Security Matrix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High-risk matchups must be in neutral venues</a:t>
            </a:r>
          </a:p>
          <a:p>
            <a:pPr marL="596900" lvl="1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60" name="Google Shape;365;p36">
            <a:extLst>
              <a:ext uri="{FF2B5EF4-FFF2-40B4-BE49-F238E27FC236}">
                <a16:creationId xmlns:a16="http://schemas.microsoft.com/office/drawing/2014/main" id="{D23261F5-39CF-E1F9-C78D-CC4BB4FBF8AC}"/>
              </a:ext>
            </a:extLst>
          </p:cNvPr>
          <p:cNvSpPr txBox="1">
            <a:spLocks/>
          </p:cNvSpPr>
          <p:nvPr/>
        </p:nvSpPr>
        <p:spPr>
          <a:xfrm>
            <a:off x="4168795" y="3494869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League Structure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Every team plays exactly </a:t>
            </a:r>
            <a:r>
              <a:rPr lang="en-US" b="1" i="1" dirty="0">
                <a:solidFill>
                  <a:schemeClr val="tx1"/>
                </a:solidFill>
                <a:latin typeface="DM Sans" pitchFamily="2" charset="0"/>
              </a:rPr>
              <a:t>one match per Game Week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(Double Round Robin integrity)</a:t>
            </a: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9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19" grpId="0" build="p"/>
      <p:bldP spid="20" grpId="0" build="p"/>
      <p:bldP spid="21" grpId="0"/>
      <p:bldP spid="33" grpId="0" animBg="1"/>
      <p:bldP spid="46" grpId="0"/>
      <p:bldP spid="50" grpId="0"/>
      <p:bldP spid="55" grpId="0" uiExpand="1" build="p"/>
      <p:bldP spid="59" grpId="0" build="p"/>
      <p:bldP spid="6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970FA2D-FD44-7D92-8B6F-6525F182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>
            <a:extLst>
              <a:ext uri="{FF2B5EF4-FFF2-40B4-BE49-F238E27FC236}">
                <a16:creationId xmlns:a16="http://schemas.microsoft.com/office/drawing/2014/main" id="{37794F3A-5E94-46FB-BC62-199297207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725" y="1527636"/>
            <a:ext cx="4894500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331" name="Google Shape;331;p34">
            <a:extLst>
              <a:ext uri="{FF2B5EF4-FFF2-40B4-BE49-F238E27FC236}">
                <a16:creationId xmlns:a16="http://schemas.microsoft.com/office/drawing/2014/main" id="{98945EFF-B046-F0BB-4DFD-4FF7CD6830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0" name="Google Shape;330;p34">
            <a:extLst>
              <a:ext uri="{FF2B5EF4-FFF2-40B4-BE49-F238E27FC236}">
                <a16:creationId xmlns:a16="http://schemas.microsoft.com/office/drawing/2014/main" id="{EB5634CC-271C-E3EA-E6EA-F1130A7269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Background And Existing Work</a:t>
            </a:r>
          </a:p>
        </p:txBody>
      </p:sp>
      <p:grpSp>
        <p:nvGrpSpPr>
          <p:cNvPr id="332" name="Google Shape;332;p34">
            <a:extLst>
              <a:ext uri="{FF2B5EF4-FFF2-40B4-BE49-F238E27FC236}">
                <a16:creationId xmlns:a16="http://schemas.microsoft.com/office/drawing/2014/main" id="{04259A00-5ECF-353B-1552-53F59FAA14FE}"/>
              </a:ext>
            </a:extLst>
          </p:cNvPr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>
              <a:extLst>
                <a:ext uri="{FF2B5EF4-FFF2-40B4-BE49-F238E27FC236}">
                  <a16:creationId xmlns:a16="http://schemas.microsoft.com/office/drawing/2014/main" id="{39FECC3B-C3AC-249C-AE9D-810A6073CDE1}"/>
                </a:ext>
              </a:extLst>
            </p:cNvPr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>
              <a:extLst>
                <a:ext uri="{FF2B5EF4-FFF2-40B4-BE49-F238E27FC236}">
                  <a16:creationId xmlns:a16="http://schemas.microsoft.com/office/drawing/2014/main" id="{9DEF47D0-C682-72A7-BD4D-EE13C93126D1}"/>
                </a:ext>
              </a:extLst>
            </p:cNvPr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>
              <a:extLst>
                <a:ext uri="{FF2B5EF4-FFF2-40B4-BE49-F238E27FC236}">
                  <a16:creationId xmlns:a16="http://schemas.microsoft.com/office/drawing/2014/main" id="{A875D415-AFA8-1726-A916-E7CAD9BBC211}"/>
                </a:ext>
              </a:extLst>
            </p:cNvPr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>
            <a:extLst>
              <a:ext uri="{FF2B5EF4-FFF2-40B4-BE49-F238E27FC236}">
                <a16:creationId xmlns:a16="http://schemas.microsoft.com/office/drawing/2014/main" id="{9A43F66E-60EB-F7D5-4EB1-B5B8B86197F9}"/>
              </a:ext>
            </a:extLst>
          </p:cNvPr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4298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  <p:bldP spid="33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Sports Scheduling as an Optimization Problem</a:t>
            </a:r>
            <a:endParaRPr dirty="0"/>
          </a:p>
        </p:txBody>
      </p:sp>
      <p:sp>
        <p:nvSpPr>
          <p:cNvPr id="365" name="Google Shape;365;p36"/>
          <p:cNvSpPr txBox="1">
            <a:spLocks noGrp="1"/>
          </p:cNvSpPr>
          <p:nvPr>
            <p:ph type="subTitle" idx="1"/>
          </p:nvPr>
        </p:nvSpPr>
        <p:spPr>
          <a:xfrm>
            <a:off x="2911683" y="2878695"/>
            <a:ext cx="3447553" cy="1911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dirty="0"/>
              <a:t>Standard football leagues follow a </a:t>
            </a:r>
            <a:r>
              <a:rPr lang="en-US" b="1" dirty="0"/>
              <a:t>Double Round Robin</a:t>
            </a:r>
            <a:endParaRPr lang="en-US" dirty="0"/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team plays every other team </a:t>
            </a:r>
            <a:r>
              <a:rPr lang="en-US" b="1" dirty="0"/>
              <a:t>twice</a:t>
            </a:r>
            <a:r>
              <a:rPr lang="en-US" dirty="0"/>
              <a:t> (home &amp; away)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teams → </a:t>
            </a:r>
            <a:r>
              <a:rPr lang="en-US" b="1" dirty="0"/>
              <a:t>n(n−1)</a:t>
            </a:r>
            <a:r>
              <a:rPr lang="en-US" dirty="0"/>
              <a:t> total matches</a:t>
            </a:r>
          </a:p>
          <a:p>
            <a:pPr marL="596900" lvl="1" indent="0" algn="l"/>
            <a:endParaRPr lang="en-US" dirty="0"/>
          </a:p>
        </p:txBody>
      </p:sp>
      <p:sp>
        <p:nvSpPr>
          <p:cNvPr id="366" name="Google Shape;366;p36"/>
          <p:cNvSpPr txBox="1">
            <a:spLocks noGrp="1"/>
          </p:cNvSpPr>
          <p:nvPr>
            <p:ph type="subTitle" idx="2"/>
          </p:nvPr>
        </p:nvSpPr>
        <p:spPr>
          <a:xfrm>
            <a:off x="6434178" y="2889947"/>
            <a:ext cx="2784764" cy="1547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solidFill>
                  <a:schemeClr val="tx1"/>
                </a:solidFill>
              </a:rPr>
              <a:t>Egyptian Premier League has: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18 teams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306 matches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34 rounds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7" name="Google Shape;367;p36"/>
          <p:cNvSpPr txBox="1">
            <a:spLocks noGrp="1"/>
          </p:cNvSpPr>
          <p:nvPr>
            <p:ph type="subTitle" idx="3"/>
          </p:nvPr>
        </p:nvSpPr>
        <p:spPr>
          <a:xfrm>
            <a:off x="2519621" y="2537446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200" b="1" dirty="0"/>
              <a:t>NP-hard problem</a:t>
            </a:r>
            <a:endParaRPr sz="2200" dirty="0"/>
          </a:p>
        </p:txBody>
      </p:sp>
      <p:sp>
        <p:nvSpPr>
          <p:cNvPr id="368" name="Google Shape;368;p36"/>
          <p:cNvSpPr txBox="1">
            <a:spLocks noGrp="1"/>
          </p:cNvSpPr>
          <p:nvPr>
            <p:ph type="subTitle" idx="4"/>
          </p:nvPr>
        </p:nvSpPr>
        <p:spPr>
          <a:xfrm>
            <a:off x="3684051" y="2560498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DRR</a:t>
            </a:r>
            <a:r>
              <a:rPr lang="en-US" dirty="0"/>
              <a:t> format</a:t>
            </a:r>
            <a:endParaRPr dirty="0"/>
          </a:p>
        </p:txBody>
      </p:sp>
      <p:sp>
        <p:nvSpPr>
          <p:cNvPr id="369" name="Google Shape;369;p36"/>
          <p:cNvSpPr txBox="1">
            <a:spLocks noGrp="1"/>
          </p:cNvSpPr>
          <p:nvPr>
            <p:ph type="subTitle" idx="5"/>
          </p:nvPr>
        </p:nvSpPr>
        <p:spPr>
          <a:xfrm>
            <a:off x="6667410" y="2571750"/>
            <a:ext cx="2126672" cy="4377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In the EPL: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8C114-67AD-193B-A72F-37933924273A}"/>
              </a:ext>
            </a:extLst>
          </p:cNvPr>
          <p:cNvSpPr txBox="1"/>
          <p:nvPr/>
        </p:nvSpPr>
        <p:spPr>
          <a:xfrm>
            <a:off x="786907" y="1730896"/>
            <a:ext cx="793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Sports scheduling is a subfield of Operations Research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Combinatorial Optimization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0338" y="2878695"/>
            <a:ext cx="3108771" cy="135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Complexity grows exponentially with: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number of teams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number of constraints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739099-9304-A578-8F21-5FB60177D5E7}"/>
              </a:ext>
            </a:extLst>
          </p:cNvPr>
          <p:cNvCxnSpPr/>
          <p:nvPr/>
        </p:nvCxnSpPr>
        <p:spPr>
          <a:xfrm>
            <a:off x="3337931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5CA4A5-B5F2-93A9-6329-6DADFAA83C02}"/>
              </a:ext>
            </a:extLst>
          </p:cNvPr>
          <p:cNvCxnSpPr/>
          <p:nvPr/>
        </p:nvCxnSpPr>
        <p:spPr>
          <a:xfrm>
            <a:off x="6434178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743 0 L -0.22743 0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0.25 L -1.11022E-16 4.44444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3.7037E-7 L -2.77778E-6 3.7037E-7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75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6" grpId="0" build="p"/>
      <p:bldP spid="367" grpId="0" build="p"/>
      <p:bldP spid="367" grpId="1" build="p"/>
      <p:bldP spid="368" grpId="1" build="p"/>
      <p:bldP spid="368" grpId="2" build="p"/>
      <p:bldP spid="369" grpId="0" build="p"/>
      <p:bldP spid="369" grpId="1" build="p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E88A992A-9822-62F1-8DF6-B1541D18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E92CD129-9F3B-D87D-C343-048FCE302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Fairness &amp; Travel</a:t>
            </a:r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97770C85-71D2-EA70-7D83-F92D6E9AD0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51274" y="1665178"/>
            <a:ext cx="4437862" cy="1911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b="1" dirty="0"/>
              <a:t>Traveling Tournament Problem (TTP) :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Introduced to </a:t>
            </a:r>
            <a:r>
              <a:rPr lang="en-US" b="1" dirty="0"/>
              <a:t>minimize total travel distance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Especially important in geographically spread leagues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Travel fatigue directly affects performance and recovery</a:t>
            </a:r>
            <a:endParaRPr lang="en-US" b="1" dirty="0"/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A07A2F58-C3C1-CE5E-B3BD-ADA8FCBEF76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79480" y="1346981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/>
              <a:t>Patterns &amp; Breaks</a:t>
            </a:r>
            <a:endParaRPr sz="2000" b="1" dirty="0"/>
          </a:p>
        </p:txBody>
      </p:sp>
      <p:sp>
        <p:nvSpPr>
          <p:cNvPr id="368" name="Google Shape;368;p36">
            <a:extLst>
              <a:ext uri="{FF2B5EF4-FFF2-40B4-BE49-F238E27FC236}">
                <a16:creationId xmlns:a16="http://schemas.microsoft.com/office/drawing/2014/main" id="{97AE67B4-8469-39CB-EA7D-54BE632C32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423642" y="1346981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/>
              <a:t>Travel &amp; TTP</a:t>
            </a:r>
            <a:endParaRPr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032A7-FD91-F211-8515-DA89936D543E}"/>
              </a:ext>
            </a:extLst>
          </p:cNvPr>
          <p:cNvSpPr txBox="1"/>
          <p:nvPr/>
        </p:nvSpPr>
        <p:spPr>
          <a:xfrm>
            <a:off x="879480" y="1689232"/>
            <a:ext cx="3771794" cy="199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Pattern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 is a sequence of Home (H) and Away (A) matches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Break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 = H–H or A–A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Away breaks = unfair &amp; exhausting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Perfect alternation (H–A–H–A) for all teams is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mathematically impossible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endParaRPr lang="en-US" dirty="0">
              <a:solidFill>
                <a:schemeClr val="tx1"/>
              </a:solidFill>
              <a:latin typeface="DM Sans" pitchFamily="2" charset="0"/>
              <a:cs typeface="Diwani Simple Striped" panose="02010400000000000000" pitchFamily="2" charset="-78"/>
            </a:endParaRPr>
          </a:p>
        </p:txBody>
      </p:sp>
      <p:grpSp>
        <p:nvGrpSpPr>
          <p:cNvPr id="15" name="Google Shape;8613;p67">
            <a:extLst>
              <a:ext uri="{FF2B5EF4-FFF2-40B4-BE49-F238E27FC236}">
                <a16:creationId xmlns:a16="http://schemas.microsoft.com/office/drawing/2014/main" id="{D57AA411-39C1-7609-EA71-8B5C706AA8A8}"/>
              </a:ext>
            </a:extLst>
          </p:cNvPr>
          <p:cNvGrpSpPr/>
          <p:nvPr/>
        </p:nvGrpSpPr>
        <p:grpSpPr>
          <a:xfrm>
            <a:off x="5131805" y="1346981"/>
            <a:ext cx="291837" cy="327679"/>
            <a:chOff x="2079300" y="4399325"/>
            <a:chExt cx="489850" cy="483100"/>
          </a:xfrm>
          <a:solidFill>
            <a:schemeClr val="tx1"/>
          </a:solidFill>
        </p:grpSpPr>
        <p:sp>
          <p:nvSpPr>
            <p:cNvPr id="16" name="Google Shape;8614;p67">
              <a:extLst>
                <a:ext uri="{FF2B5EF4-FFF2-40B4-BE49-F238E27FC236}">
                  <a16:creationId xmlns:a16="http://schemas.microsoft.com/office/drawing/2014/main" id="{213C9F4A-FE7B-FE10-2BDC-D5CDE5759191}"/>
                </a:ext>
              </a:extLst>
            </p:cNvPr>
            <p:cNvSpPr/>
            <p:nvPr/>
          </p:nvSpPr>
          <p:spPr>
            <a:xfrm>
              <a:off x="2079300" y="4399325"/>
              <a:ext cx="489850" cy="483100"/>
            </a:xfrm>
            <a:custGeom>
              <a:avLst/>
              <a:gdLst/>
              <a:ahLst/>
              <a:cxnLst/>
              <a:rect l="l" t="t" r="r" b="b"/>
              <a:pathLst>
                <a:path w="19594" h="19324" extrusionOk="0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8615;p67">
              <a:extLst>
                <a:ext uri="{FF2B5EF4-FFF2-40B4-BE49-F238E27FC236}">
                  <a16:creationId xmlns:a16="http://schemas.microsoft.com/office/drawing/2014/main" id="{97E7CD92-237F-7FB0-6A09-82EC39B4A250}"/>
                </a:ext>
              </a:extLst>
            </p:cNvPr>
            <p:cNvSpPr/>
            <p:nvPr/>
          </p:nvSpPr>
          <p:spPr>
            <a:xfrm>
              <a:off x="2348725" y="4522375"/>
              <a:ext cx="94375" cy="88150"/>
            </a:xfrm>
            <a:custGeom>
              <a:avLst/>
              <a:gdLst/>
              <a:ahLst/>
              <a:cxnLst/>
              <a:rect l="l" t="t" r="r" b="b"/>
              <a:pathLst>
                <a:path w="3775" h="3526" extrusionOk="0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8385;p67">
            <a:extLst>
              <a:ext uri="{FF2B5EF4-FFF2-40B4-BE49-F238E27FC236}">
                <a16:creationId xmlns:a16="http://schemas.microsoft.com/office/drawing/2014/main" id="{8CA7A05D-8C4E-9E9D-1CB9-F52C71C5C242}"/>
              </a:ext>
            </a:extLst>
          </p:cNvPr>
          <p:cNvGrpSpPr/>
          <p:nvPr/>
        </p:nvGrpSpPr>
        <p:grpSpPr>
          <a:xfrm>
            <a:off x="557335" y="1349064"/>
            <a:ext cx="322146" cy="316114"/>
            <a:chOff x="3857225" y="238125"/>
            <a:chExt cx="500575" cy="483125"/>
          </a:xfrm>
          <a:solidFill>
            <a:schemeClr val="tx1"/>
          </a:solidFill>
        </p:grpSpPr>
        <p:sp>
          <p:nvSpPr>
            <p:cNvPr id="19" name="Google Shape;8386;p67">
              <a:extLst>
                <a:ext uri="{FF2B5EF4-FFF2-40B4-BE49-F238E27FC236}">
                  <a16:creationId xmlns:a16="http://schemas.microsoft.com/office/drawing/2014/main" id="{1934B1AC-7282-3930-D28D-FB23F0A48B38}"/>
                </a:ext>
              </a:extLst>
            </p:cNvPr>
            <p:cNvSpPr/>
            <p:nvPr/>
          </p:nvSpPr>
          <p:spPr>
            <a:xfrm>
              <a:off x="3857225" y="238125"/>
              <a:ext cx="500575" cy="483125"/>
            </a:xfrm>
            <a:custGeom>
              <a:avLst/>
              <a:gdLst/>
              <a:ahLst/>
              <a:cxnLst/>
              <a:rect l="l" t="t" r="r" b="b"/>
              <a:pathLst>
                <a:path w="20023" h="19325" extrusionOk="0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8387;p67">
              <a:extLst>
                <a:ext uri="{FF2B5EF4-FFF2-40B4-BE49-F238E27FC236}">
                  <a16:creationId xmlns:a16="http://schemas.microsoft.com/office/drawing/2014/main" id="{AD4A878D-8603-F795-021B-784F85154075}"/>
                </a:ext>
              </a:extLst>
            </p:cNvPr>
            <p:cNvSpPr/>
            <p:nvPr/>
          </p:nvSpPr>
          <p:spPr>
            <a:xfrm>
              <a:off x="4208775" y="588000"/>
              <a:ext cx="71125" cy="68350"/>
            </a:xfrm>
            <a:custGeom>
              <a:avLst/>
              <a:gdLst/>
              <a:ahLst/>
              <a:cxnLst/>
              <a:rect l="l" t="t" r="r" b="b"/>
              <a:pathLst>
                <a:path w="2845" h="2734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388;p67">
              <a:extLst>
                <a:ext uri="{FF2B5EF4-FFF2-40B4-BE49-F238E27FC236}">
                  <a16:creationId xmlns:a16="http://schemas.microsoft.com/office/drawing/2014/main" id="{194A7191-2B19-C5A4-9F49-C44988118326}"/>
                </a:ext>
              </a:extLst>
            </p:cNvPr>
            <p:cNvSpPr/>
            <p:nvPr/>
          </p:nvSpPr>
          <p:spPr>
            <a:xfrm>
              <a:off x="4228400" y="527925"/>
              <a:ext cx="91050" cy="48400"/>
            </a:xfrm>
            <a:custGeom>
              <a:avLst/>
              <a:gdLst/>
              <a:ahLst/>
              <a:cxnLst/>
              <a:rect l="l" t="t" r="r" b="b"/>
              <a:pathLst>
                <a:path w="3642" h="1936" extrusionOk="0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8389;p67">
              <a:extLst>
                <a:ext uri="{FF2B5EF4-FFF2-40B4-BE49-F238E27FC236}">
                  <a16:creationId xmlns:a16="http://schemas.microsoft.com/office/drawing/2014/main" id="{047A730C-1FFC-8B93-63CE-478945CED863}"/>
                </a:ext>
              </a:extLst>
            </p:cNvPr>
            <p:cNvSpPr/>
            <p:nvPr/>
          </p:nvSpPr>
          <p:spPr>
            <a:xfrm>
              <a:off x="4148300" y="608000"/>
              <a:ext cx="52050" cy="88600"/>
            </a:xfrm>
            <a:custGeom>
              <a:avLst/>
              <a:gdLst/>
              <a:ahLst/>
              <a:cxnLst/>
              <a:rect l="l" t="t" r="r" b="b"/>
              <a:pathLst>
                <a:path w="2082" h="3544" extrusionOk="0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8390;p67">
              <a:extLst>
                <a:ext uri="{FF2B5EF4-FFF2-40B4-BE49-F238E27FC236}">
                  <a16:creationId xmlns:a16="http://schemas.microsoft.com/office/drawing/2014/main" id="{7BEC2A65-FF88-336C-4A9D-DF7F4051D46E}"/>
                </a:ext>
              </a:extLst>
            </p:cNvPr>
            <p:cNvSpPr/>
            <p:nvPr/>
          </p:nvSpPr>
          <p:spPr>
            <a:xfrm>
              <a:off x="3928725" y="307900"/>
              <a:ext cx="71200" cy="68375"/>
            </a:xfrm>
            <a:custGeom>
              <a:avLst/>
              <a:gdLst/>
              <a:ahLst/>
              <a:cxnLst/>
              <a:rect l="l" t="t" r="r" b="b"/>
              <a:pathLst>
                <a:path w="2848" h="2735" extrusionOk="0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8391;p67">
              <a:extLst>
                <a:ext uri="{FF2B5EF4-FFF2-40B4-BE49-F238E27FC236}">
                  <a16:creationId xmlns:a16="http://schemas.microsoft.com/office/drawing/2014/main" id="{042E0535-A18B-5E63-55EB-81FD8C17B4A0}"/>
                </a:ext>
              </a:extLst>
            </p:cNvPr>
            <p:cNvSpPr/>
            <p:nvPr/>
          </p:nvSpPr>
          <p:spPr>
            <a:xfrm>
              <a:off x="4008200" y="267675"/>
              <a:ext cx="51875" cy="88450"/>
            </a:xfrm>
            <a:custGeom>
              <a:avLst/>
              <a:gdLst/>
              <a:ahLst/>
              <a:cxnLst/>
              <a:rect l="l" t="t" r="r" b="b"/>
              <a:pathLst>
                <a:path w="2075" h="3538" extrusionOk="0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8392;p67">
              <a:extLst>
                <a:ext uri="{FF2B5EF4-FFF2-40B4-BE49-F238E27FC236}">
                  <a16:creationId xmlns:a16="http://schemas.microsoft.com/office/drawing/2014/main" id="{86C34E3E-6F8B-A8F1-1F89-7A4408A2DA56}"/>
                </a:ext>
              </a:extLst>
            </p:cNvPr>
            <p:cNvSpPr/>
            <p:nvPr/>
          </p:nvSpPr>
          <p:spPr>
            <a:xfrm>
              <a:off x="3888100" y="387825"/>
              <a:ext cx="91675" cy="48300"/>
            </a:xfrm>
            <a:custGeom>
              <a:avLst/>
              <a:gdLst/>
              <a:ahLst/>
              <a:cxnLst/>
              <a:rect l="l" t="t" r="r" b="b"/>
              <a:pathLst>
                <a:path w="3667" h="1932" extrusionOk="0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53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37000" decel="5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7" grpId="0" build="p"/>
      <p:bldP spid="368" grpId="0" build="p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1"/>
          <p:cNvSpPr txBox="1">
            <a:spLocks noGrp="1"/>
          </p:cNvSpPr>
          <p:nvPr>
            <p:ph type="title"/>
          </p:nvPr>
        </p:nvSpPr>
        <p:spPr>
          <a:xfrm>
            <a:off x="720000" y="1222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Chile Case Study</a:t>
            </a:r>
          </a:p>
        </p:txBody>
      </p:sp>
      <p:sp>
        <p:nvSpPr>
          <p:cNvPr id="459" name="Google Shape;459;p41"/>
          <p:cNvSpPr txBox="1">
            <a:spLocks noGrp="1"/>
          </p:cNvSpPr>
          <p:nvPr>
            <p:ph type="subTitle" idx="4294967295"/>
          </p:nvPr>
        </p:nvSpPr>
        <p:spPr>
          <a:xfrm>
            <a:off x="4791843" y="1761977"/>
            <a:ext cx="3859212" cy="428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-US" sz="2400" dirty="0"/>
              <a:t> Increase in attendance.</a:t>
            </a:r>
            <a:endParaRPr sz="22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0" name="Google Shape;460;p41"/>
          <p:cNvSpPr txBox="1">
            <a:spLocks noGrp="1"/>
          </p:cNvSpPr>
          <p:nvPr>
            <p:ph type="subTitle" idx="4294967295"/>
          </p:nvPr>
        </p:nvSpPr>
        <p:spPr>
          <a:xfrm>
            <a:off x="4791843" y="2800962"/>
            <a:ext cx="4176712" cy="428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-US" sz="2400" dirty="0"/>
              <a:t> Increase in ticket revenue.</a:t>
            </a:r>
            <a:endParaRPr sz="22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1" name="Google Shape;461;p41"/>
          <p:cNvSpPr txBox="1">
            <a:spLocks noGrp="1"/>
          </p:cNvSpPr>
          <p:nvPr>
            <p:ph type="subTitle" idx="4294967295"/>
          </p:nvPr>
        </p:nvSpPr>
        <p:spPr>
          <a:xfrm>
            <a:off x="4650919" y="3846891"/>
            <a:ext cx="4586287" cy="8366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None/>
            </a:pPr>
            <a:r>
              <a:rPr lang="en-US" sz="2200" dirty="0"/>
              <a:t>Reduced travel costs and fairer distribution.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892" y="730246"/>
            <a:ext cx="625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charset="0"/>
              </a:rPr>
              <a:t>In 2005, the Chilean First Division switched from manual/random draws to ILP Optimization and </a:t>
            </a:r>
            <a:r>
              <a:rPr lang="en-US" sz="1600" dirty="0">
                <a:solidFill>
                  <a:schemeClr val="tx1"/>
                </a:solidFill>
                <a:latin typeface="DM Sans" panose="020B0604020202020204" charset="0"/>
              </a:rPr>
              <a:t>here’s</a:t>
            </a:r>
            <a:r>
              <a:rPr lang="en-US" dirty="0">
                <a:solidFill>
                  <a:schemeClr val="tx1"/>
                </a:solidFill>
                <a:latin typeface="DM Sans" panose="020B0604020202020204" charset="0"/>
              </a:rPr>
              <a:t> the results:</a:t>
            </a:r>
          </a:p>
        </p:txBody>
      </p:sp>
      <p:sp>
        <p:nvSpPr>
          <p:cNvPr id="21" name="Google Shape;8494;p67"/>
          <p:cNvSpPr/>
          <p:nvPr/>
        </p:nvSpPr>
        <p:spPr>
          <a:xfrm>
            <a:off x="4320485" y="2800962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22" name="Google Shape;8494;p67"/>
          <p:cNvSpPr/>
          <p:nvPr/>
        </p:nvSpPr>
        <p:spPr>
          <a:xfrm>
            <a:off x="4320485" y="1714906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28" name="Google Shape;9025;p69"/>
          <p:cNvSpPr/>
          <p:nvPr/>
        </p:nvSpPr>
        <p:spPr>
          <a:xfrm>
            <a:off x="4281903" y="3918153"/>
            <a:ext cx="369016" cy="364563"/>
          </a:xfrm>
          <a:custGeom>
            <a:avLst/>
            <a:gdLst/>
            <a:ahLst/>
            <a:cxnLst/>
            <a:rect l="l" t="t" r="r" b="b"/>
            <a:pathLst>
              <a:path w="12761" h="12607" extrusionOk="0">
                <a:moveTo>
                  <a:pt x="1860" y="2084"/>
                </a:moveTo>
                <a:lnTo>
                  <a:pt x="7373" y="2997"/>
                </a:lnTo>
                <a:lnTo>
                  <a:pt x="5861" y="4509"/>
                </a:lnTo>
                <a:lnTo>
                  <a:pt x="1261" y="2682"/>
                </a:lnTo>
                <a:lnTo>
                  <a:pt x="1860" y="2084"/>
                </a:lnTo>
                <a:close/>
                <a:moveTo>
                  <a:pt x="11229" y="836"/>
                </a:moveTo>
                <a:cubicBezTo>
                  <a:pt x="11412" y="836"/>
                  <a:pt x="11578" y="881"/>
                  <a:pt x="11689" y="981"/>
                </a:cubicBezTo>
                <a:cubicBezTo>
                  <a:pt x="11847" y="1107"/>
                  <a:pt x="11878" y="1359"/>
                  <a:pt x="11847" y="1611"/>
                </a:cubicBezTo>
                <a:cubicBezTo>
                  <a:pt x="11815" y="1894"/>
                  <a:pt x="11658" y="2210"/>
                  <a:pt x="11500" y="2367"/>
                </a:cubicBezTo>
                <a:lnTo>
                  <a:pt x="7405" y="6463"/>
                </a:lnTo>
                <a:lnTo>
                  <a:pt x="5168" y="8700"/>
                </a:lnTo>
                <a:cubicBezTo>
                  <a:pt x="5073" y="8794"/>
                  <a:pt x="5010" y="8952"/>
                  <a:pt x="5042" y="9078"/>
                </a:cubicBezTo>
                <a:lnTo>
                  <a:pt x="5262" y="10306"/>
                </a:lnTo>
                <a:lnTo>
                  <a:pt x="4223" y="11377"/>
                </a:lnTo>
                <a:lnTo>
                  <a:pt x="3782" y="9204"/>
                </a:lnTo>
                <a:cubicBezTo>
                  <a:pt x="3750" y="9046"/>
                  <a:pt x="3624" y="8952"/>
                  <a:pt x="3466" y="8889"/>
                </a:cubicBezTo>
                <a:lnTo>
                  <a:pt x="1293" y="8479"/>
                </a:lnTo>
                <a:lnTo>
                  <a:pt x="2364" y="7408"/>
                </a:lnTo>
                <a:lnTo>
                  <a:pt x="3624" y="7628"/>
                </a:lnTo>
                <a:cubicBezTo>
                  <a:pt x="3659" y="7646"/>
                  <a:pt x="3697" y="7654"/>
                  <a:pt x="3734" y="7654"/>
                </a:cubicBezTo>
                <a:cubicBezTo>
                  <a:pt x="3831" y="7654"/>
                  <a:pt x="3925" y="7602"/>
                  <a:pt x="3971" y="7534"/>
                </a:cubicBezTo>
                <a:lnTo>
                  <a:pt x="6207" y="5266"/>
                </a:lnTo>
                <a:lnTo>
                  <a:pt x="10272" y="1233"/>
                </a:lnTo>
                <a:cubicBezTo>
                  <a:pt x="10496" y="988"/>
                  <a:pt x="10892" y="836"/>
                  <a:pt x="11229" y="836"/>
                </a:cubicBezTo>
                <a:close/>
                <a:moveTo>
                  <a:pt x="9641" y="5360"/>
                </a:moveTo>
                <a:lnTo>
                  <a:pt x="10587" y="10873"/>
                </a:lnTo>
                <a:lnTo>
                  <a:pt x="9988" y="11472"/>
                </a:lnTo>
                <a:lnTo>
                  <a:pt x="8161" y="6872"/>
                </a:lnTo>
                <a:lnTo>
                  <a:pt x="9641" y="5360"/>
                </a:lnTo>
                <a:close/>
                <a:moveTo>
                  <a:pt x="11241" y="1"/>
                </a:moveTo>
                <a:cubicBezTo>
                  <a:pt x="10688" y="1"/>
                  <a:pt x="10104" y="248"/>
                  <a:pt x="9736" y="634"/>
                </a:cubicBezTo>
                <a:lnTo>
                  <a:pt x="8066" y="2304"/>
                </a:lnTo>
                <a:lnTo>
                  <a:pt x="1765" y="1233"/>
                </a:lnTo>
                <a:cubicBezTo>
                  <a:pt x="1742" y="1227"/>
                  <a:pt x="1718" y="1225"/>
                  <a:pt x="1693" y="1225"/>
                </a:cubicBezTo>
                <a:cubicBezTo>
                  <a:pt x="1585" y="1225"/>
                  <a:pt x="1470" y="1276"/>
                  <a:pt x="1419" y="1327"/>
                </a:cubicBezTo>
                <a:lnTo>
                  <a:pt x="221" y="2525"/>
                </a:lnTo>
                <a:cubicBezTo>
                  <a:pt x="158" y="2588"/>
                  <a:pt x="64" y="2745"/>
                  <a:pt x="127" y="2903"/>
                </a:cubicBezTo>
                <a:cubicBezTo>
                  <a:pt x="158" y="3029"/>
                  <a:pt x="221" y="3155"/>
                  <a:pt x="348" y="3218"/>
                </a:cubicBezTo>
                <a:lnTo>
                  <a:pt x="5199" y="5171"/>
                </a:lnTo>
                <a:lnTo>
                  <a:pt x="3561" y="6809"/>
                </a:lnTo>
                <a:lnTo>
                  <a:pt x="2301" y="6589"/>
                </a:lnTo>
                <a:cubicBezTo>
                  <a:pt x="2267" y="6572"/>
                  <a:pt x="2231" y="6564"/>
                  <a:pt x="2195" y="6564"/>
                </a:cubicBezTo>
                <a:cubicBezTo>
                  <a:pt x="2095" y="6564"/>
                  <a:pt x="1992" y="6622"/>
                  <a:pt x="1923" y="6715"/>
                </a:cubicBezTo>
                <a:lnTo>
                  <a:pt x="158" y="8479"/>
                </a:lnTo>
                <a:cubicBezTo>
                  <a:pt x="32" y="8605"/>
                  <a:pt x="1" y="8731"/>
                  <a:pt x="32" y="8857"/>
                </a:cubicBezTo>
                <a:cubicBezTo>
                  <a:pt x="95" y="9015"/>
                  <a:pt x="190" y="9109"/>
                  <a:pt x="348" y="9141"/>
                </a:cubicBezTo>
                <a:lnTo>
                  <a:pt x="2994" y="9645"/>
                </a:lnTo>
                <a:lnTo>
                  <a:pt x="3498" y="12291"/>
                </a:lnTo>
                <a:cubicBezTo>
                  <a:pt x="3561" y="12449"/>
                  <a:pt x="3656" y="12575"/>
                  <a:pt x="3782" y="12606"/>
                </a:cubicBezTo>
                <a:lnTo>
                  <a:pt x="3908" y="12606"/>
                </a:lnTo>
                <a:cubicBezTo>
                  <a:pt x="4034" y="12606"/>
                  <a:pt x="4097" y="12575"/>
                  <a:pt x="4191" y="12480"/>
                </a:cubicBezTo>
                <a:lnTo>
                  <a:pt x="5955" y="10716"/>
                </a:lnTo>
                <a:cubicBezTo>
                  <a:pt x="6018" y="10653"/>
                  <a:pt x="6113" y="10464"/>
                  <a:pt x="6081" y="10369"/>
                </a:cubicBezTo>
                <a:lnTo>
                  <a:pt x="5829" y="9109"/>
                </a:lnTo>
                <a:lnTo>
                  <a:pt x="7499" y="7439"/>
                </a:lnTo>
                <a:lnTo>
                  <a:pt x="9421" y="12291"/>
                </a:lnTo>
                <a:cubicBezTo>
                  <a:pt x="9452" y="12417"/>
                  <a:pt x="9578" y="12543"/>
                  <a:pt x="9736" y="12543"/>
                </a:cubicBezTo>
                <a:lnTo>
                  <a:pt x="9799" y="12543"/>
                </a:lnTo>
                <a:cubicBezTo>
                  <a:pt x="9925" y="12543"/>
                  <a:pt x="9988" y="12480"/>
                  <a:pt x="10083" y="12417"/>
                </a:cubicBezTo>
                <a:lnTo>
                  <a:pt x="11248" y="11220"/>
                </a:lnTo>
                <a:cubicBezTo>
                  <a:pt x="11343" y="11157"/>
                  <a:pt x="11374" y="10999"/>
                  <a:pt x="11374" y="10873"/>
                </a:cubicBezTo>
                <a:lnTo>
                  <a:pt x="10303" y="4572"/>
                </a:lnTo>
                <a:lnTo>
                  <a:pt x="11973" y="2903"/>
                </a:lnTo>
                <a:cubicBezTo>
                  <a:pt x="12288" y="2588"/>
                  <a:pt x="12477" y="2178"/>
                  <a:pt x="12571" y="1705"/>
                </a:cubicBezTo>
                <a:cubicBezTo>
                  <a:pt x="12760" y="1201"/>
                  <a:pt x="12603" y="729"/>
                  <a:pt x="12288" y="414"/>
                </a:cubicBezTo>
                <a:cubicBezTo>
                  <a:pt x="12013" y="126"/>
                  <a:pt x="11635" y="1"/>
                  <a:pt x="112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463;p41">
            <a:extLst>
              <a:ext uri="{FF2B5EF4-FFF2-40B4-BE49-F238E27FC236}">
                <a16:creationId xmlns:a16="http://schemas.microsoft.com/office/drawing/2014/main" id="{5672FF64-510C-B3AF-8A69-896BDBA38283}"/>
              </a:ext>
            </a:extLst>
          </p:cNvPr>
          <p:cNvSpPr txBox="1">
            <a:spLocks/>
          </p:cNvSpPr>
          <p:nvPr/>
        </p:nvSpPr>
        <p:spPr>
          <a:xfrm>
            <a:off x="3145710" y="15397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" sz="2200"/>
              <a:t>36%</a:t>
            </a:r>
            <a:endParaRPr lang="en" sz="2200" dirty="0"/>
          </a:p>
        </p:txBody>
      </p:sp>
      <p:sp>
        <p:nvSpPr>
          <p:cNvPr id="12" name="Google Shape;464;p41">
            <a:extLst>
              <a:ext uri="{FF2B5EF4-FFF2-40B4-BE49-F238E27FC236}">
                <a16:creationId xmlns:a16="http://schemas.microsoft.com/office/drawing/2014/main" id="{6AC0DCF6-4C5B-4B33-D7F2-F0A162C30BE2}"/>
              </a:ext>
            </a:extLst>
          </p:cNvPr>
          <p:cNvSpPr/>
          <p:nvPr/>
        </p:nvSpPr>
        <p:spPr>
          <a:xfrm>
            <a:off x="913301" y="15397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465;p41">
            <a:extLst>
              <a:ext uri="{FF2B5EF4-FFF2-40B4-BE49-F238E27FC236}">
                <a16:creationId xmlns:a16="http://schemas.microsoft.com/office/drawing/2014/main" id="{BA9EA9CC-36E5-FB42-16E4-8C83D21FD9CA}"/>
              </a:ext>
            </a:extLst>
          </p:cNvPr>
          <p:cNvSpPr txBox="1">
            <a:spLocks/>
          </p:cNvSpPr>
          <p:nvPr/>
        </p:nvSpPr>
        <p:spPr>
          <a:xfrm>
            <a:off x="3145710" y="26683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2200"/>
              <a:t>2x</a:t>
            </a:r>
            <a:endParaRPr lang="en-US" sz="2200" dirty="0"/>
          </a:p>
        </p:txBody>
      </p:sp>
      <p:sp>
        <p:nvSpPr>
          <p:cNvPr id="14" name="Google Shape;466;p41">
            <a:extLst>
              <a:ext uri="{FF2B5EF4-FFF2-40B4-BE49-F238E27FC236}">
                <a16:creationId xmlns:a16="http://schemas.microsoft.com/office/drawing/2014/main" id="{204186B1-73E8-444B-D333-FE338672675F}"/>
              </a:ext>
            </a:extLst>
          </p:cNvPr>
          <p:cNvSpPr/>
          <p:nvPr/>
        </p:nvSpPr>
        <p:spPr>
          <a:xfrm>
            <a:off x="913301" y="26683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Google Shape;467;p41">
            <a:extLst>
              <a:ext uri="{FF2B5EF4-FFF2-40B4-BE49-F238E27FC236}">
                <a16:creationId xmlns:a16="http://schemas.microsoft.com/office/drawing/2014/main" id="{94035BD7-C460-3BAC-66F9-FED136BC939B}"/>
              </a:ext>
            </a:extLst>
          </p:cNvPr>
          <p:cNvSpPr/>
          <p:nvPr/>
        </p:nvSpPr>
        <p:spPr>
          <a:xfrm>
            <a:off x="913326" y="2668377"/>
            <a:ext cx="2091464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468;p41">
            <a:extLst>
              <a:ext uri="{FF2B5EF4-FFF2-40B4-BE49-F238E27FC236}">
                <a16:creationId xmlns:a16="http://schemas.microsoft.com/office/drawing/2014/main" id="{265720D1-6C9D-BE1D-9E69-5276360531C0}"/>
              </a:ext>
            </a:extLst>
          </p:cNvPr>
          <p:cNvSpPr txBox="1">
            <a:spLocks/>
          </p:cNvSpPr>
          <p:nvPr/>
        </p:nvSpPr>
        <p:spPr>
          <a:xfrm>
            <a:off x="3145710" y="37969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" sz="2200"/>
              <a:t>45%</a:t>
            </a:r>
            <a:endParaRPr lang="en" sz="2200" dirty="0"/>
          </a:p>
        </p:txBody>
      </p:sp>
      <p:sp>
        <p:nvSpPr>
          <p:cNvPr id="17" name="Google Shape;469;p41">
            <a:extLst>
              <a:ext uri="{FF2B5EF4-FFF2-40B4-BE49-F238E27FC236}">
                <a16:creationId xmlns:a16="http://schemas.microsoft.com/office/drawing/2014/main" id="{B22A7BB4-54C7-7943-2B07-C409B1F9D715}"/>
              </a:ext>
            </a:extLst>
          </p:cNvPr>
          <p:cNvSpPr/>
          <p:nvPr/>
        </p:nvSpPr>
        <p:spPr>
          <a:xfrm>
            <a:off x="913301" y="37969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Google Shape;470;p41">
            <a:extLst>
              <a:ext uri="{FF2B5EF4-FFF2-40B4-BE49-F238E27FC236}">
                <a16:creationId xmlns:a16="http://schemas.microsoft.com/office/drawing/2014/main" id="{1C424AC2-CEE7-579B-7858-EA0FE3759B37}"/>
              </a:ext>
            </a:extLst>
          </p:cNvPr>
          <p:cNvSpPr/>
          <p:nvPr/>
        </p:nvSpPr>
        <p:spPr>
          <a:xfrm>
            <a:off x="913326" y="3796977"/>
            <a:ext cx="1022638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Google Shape;471;p41">
            <a:extLst>
              <a:ext uri="{FF2B5EF4-FFF2-40B4-BE49-F238E27FC236}">
                <a16:creationId xmlns:a16="http://schemas.microsoft.com/office/drawing/2014/main" id="{D3294635-FCB2-D038-2A70-132506DC046A}"/>
              </a:ext>
            </a:extLst>
          </p:cNvPr>
          <p:cNvSpPr/>
          <p:nvPr/>
        </p:nvSpPr>
        <p:spPr>
          <a:xfrm>
            <a:off x="913326" y="1539777"/>
            <a:ext cx="732316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0" build="p"/>
      <p:bldP spid="461" grpId="0" build="p"/>
      <p:bldP spid="21" grpId="0" animBg="1"/>
      <p:bldP spid="22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>
            <a:spLocks noGrp="1"/>
          </p:cNvSpPr>
          <p:nvPr>
            <p:ph type="title"/>
          </p:nvPr>
        </p:nvSpPr>
        <p:spPr>
          <a:xfrm>
            <a:off x="328919" y="5936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Egyptian Gap</a:t>
            </a:r>
          </a:p>
        </p:txBody>
      </p:sp>
      <p:sp>
        <p:nvSpPr>
          <p:cNvPr id="342" name="Google Shape;342;p35"/>
          <p:cNvSpPr/>
          <p:nvPr/>
        </p:nvSpPr>
        <p:spPr>
          <a:xfrm>
            <a:off x="2429368" y="1302411"/>
            <a:ext cx="415431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Why can't we just copy?</a:t>
            </a:r>
          </a:p>
        </p:txBody>
      </p:sp>
      <p:sp>
        <p:nvSpPr>
          <p:cNvPr id="343" name="Google Shape;343;p35"/>
          <p:cNvSpPr/>
          <p:nvPr/>
        </p:nvSpPr>
        <p:spPr>
          <a:xfrm>
            <a:off x="87357" y="2339507"/>
            <a:ext cx="272115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 Security Approvals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159859" y="2733331"/>
            <a:ext cx="264865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Specific match-ups are banned in specific cities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3232294" y="2484312"/>
            <a:ext cx="2721151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Shared Resources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232294" y="2867143"/>
            <a:ext cx="2573776" cy="83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Multiple teams share "Cairo International" and "Borg Al-Arab," creating bottlenecks</a:t>
            </a:r>
          </a:p>
          <a:p>
            <a:pPr lvl="0"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6295089" y="2339507"/>
            <a:ext cx="2653423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CAF Conflict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6295089" y="2733331"/>
            <a:ext cx="2380559" cy="524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Al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Ahly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&amp; Zamalek schedules are fluid, breaking standard mathematical patterns.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7CDB699-762F-A6F8-D9EC-54ED2B4B6F2A}"/>
              </a:ext>
            </a:extLst>
          </p:cNvPr>
          <p:cNvCxnSpPr>
            <a:cxnSpLocks/>
            <a:stCxn id="342" idx="2"/>
            <a:endCxn id="343" idx="0"/>
          </p:cNvCxnSpPr>
          <p:nvPr/>
        </p:nvCxnSpPr>
        <p:spPr>
          <a:xfrm rot="5400000">
            <a:off x="2679931" y="512914"/>
            <a:ext cx="594596" cy="3058591"/>
          </a:xfrm>
          <a:prstGeom prst="bentConnector3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524A420-87B7-83E6-72E6-099792FD800E}"/>
              </a:ext>
            </a:extLst>
          </p:cNvPr>
          <p:cNvCxnSpPr>
            <a:cxnSpLocks/>
            <a:stCxn id="342" idx="2"/>
            <a:endCxn id="347" idx="0"/>
          </p:cNvCxnSpPr>
          <p:nvPr/>
        </p:nvCxnSpPr>
        <p:spPr>
          <a:xfrm rot="16200000" flipH="1">
            <a:off x="5766864" y="484570"/>
            <a:ext cx="594596" cy="31152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6" name="Google Shape;4456;p46">
            <a:extLst>
              <a:ext uri="{FF2B5EF4-FFF2-40B4-BE49-F238E27FC236}">
                <a16:creationId xmlns:a16="http://schemas.microsoft.com/office/drawing/2014/main" id="{31084F08-4D3A-483E-BD40-0055565203CE}"/>
              </a:ext>
            </a:extLst>
          </p:cNvPr>
          <p:cNvGrpSpPr/>
          <p:nvPr/>
        </p:nvGrpSpPr>
        <p:grpSpPr>
          <a:xfrm>
            <a:off x="4303437" y="2162859"/>
            <a:ext cx="406172" cy="321452"/>
            <a:chOff x="5328475" y="2592950"/>
            <a:chExt cx="435200" cy="344425"/>
          </a:xfrm>
        </p:grpSpPr>
        <p:sp>
          <p:nvSpPr>
            <p:cNvPr id="27" name="Google Shape;4457;p46">
              <a:extLst>
                <a:ext uri="{FF2B5EF4-FFF2-40B4-BE49-F238E27FC236}">
                  <a16:creationId xmlns:a16="http://schemas.microsoft.com/office/drawing/2014/main" id="{93D39677-A4B8-41F4-8A6F-DF7C715F34A5}"/>
                </a:ext>
              </a:extLst>
            </p:cNvPr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 extrusionOk="0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458;p46">
              <a:extLst>
                <a:ext uri="{FF2B5EF4-FFF2-40B4-BE49-F238E27FC236}">
                  <a16:creationId xmlns:a16="http://schemas.microsoft.com/office/drawing/2014/main" id="{66B2B66B-4996-4679-A576-E4ED2F61829B}"/>
                </a:ext>
              </a:extLst>
            </p:cNvPr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 extrusionOk="0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459;p46">
              <a:extLst>
                <a:ext uri="{FF2B5EF4-FFF2-40B4-BE49-F238E27FC236}">
                  <a16:creationId xmlns:a16="http://schemas.microsoft.com/office/drawing/2014/main" id="{236DCF48-20F1-4BF8-9B63-C859852FBBDB}"/>
                </a:ext>
              </a:extLst>
            </p:cNvPr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460;p46">
              <a:extLst>
                <a:ext uri="{FF2B5EF4-FFF2-40B4-BE49-F238E27FC236}">
                  <a16:creationId xmlns:a16="http://schemas.microsoft.com/office/drawing/2014/main" id="{4AAD7F05-45D2-4A95-82B5-043E1163DE68}"/>
                </a:ext>
              </a:extLst>
            </p:cNvPr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 extrusionOk="0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461;p46">
              <a:extLst>
                <a:ext uri="{FF2B5EF4-FFF2-40B4-BE49-F238E27FC236}">
                  <a16:creationId xmlns:a16="http://schemas.microsoft.com/office/drawing/2014/main" id="{2DA262CB-D3BF-41CB-997A-D0EA17F2191F}"/>
                </a:ext>
              </a:extLst>
            </p:cNvPr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 extrusionOk="0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462;p46">
              <a:extLst>
                <a:ext uri="{FF2B5EF4-FFF2-40B4-BE49-F238E27FC236}">
                  <a16:creationId xmlns:a16="http://schemas.microsoft.com/office/drawing/2014/main" id="{4FF53A9A-07AC-41FD-85DA-2A8AB66B7AF2}"/>
                </a:ext>
              </a:extLst>
            </p:cNvPr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463;p46">
              <a:extLst>
                <a:ext uri="{FF2B5EF4-FFF2-40B4-BE49-F238E27FC236}">
                  <a16:creationId xmlns:a16="http://schemas.microsoft.com/office/drawing/2014/main" id="{F43FF02C-B17D-46F1-85D2-5A5EE11E4B5C}"/>
                </a:ext>
              </a:extLst>
            </p:cNvPr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 extrusionOk="0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464;p46">
              <a:extLst>
                <a:ext uri="{FF2B5EF4-FFF2-40B4-BE49-F238E27FC236}">
                  <a16:creationId xmlns:a16="http://schemas.microsoft.com/office/drawing/2014/main" id="{B8004434-951E-4A28-B8A9-D5FF2901556D}"/>
                </a:ext>
              </a:extLst>
            </p:cNvPr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 extrusionOk="0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465;p46">
              <a:extLst>
                <a:ext uri="{FF2B5EF4-FFF2-40B4-BE49-F238E27FC236}">
                  <a16:creationId xmlns:a16="http://schemas.microsoft.com/office/drawing/2014/main" id="{C6BBD7BE-3E7D-4085-8404-7F15FC6E056B}"/>
                </a:ext>
              </a:extLst>
            </p:cNvPr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 extrusionOk="0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374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9DCCDACA-9F45-29AF-9A9D-211D0BB4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>
            <a:extLst>
              <a:ext uri="{FF2B5EF4-FFF2-40B4-BE49-F238E27FC236}">
                <a16:creationId xmlns:a16="http://schemas.microsoft.com/office/drawing/2014/main" id="{3A8DBDAA-EF3F-77C5-95D6-25BA7DBD9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724" y="1527636"/>
            <a:ext cx="5731347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DATA</a:t>
            </a:r>
          </a:p>
        </p:txBody>
      </p:sp>
      <p:sp>
        <p:nvSpPr>
          <p:cNvPr id="331" name="Google Shape;331;p34">
            <a:extLst>
              <a:ext uri="{FF2B5EF4-FFF2-40B4-BE49-F238E27FC236}">
                <a16:creationId xmlns:a16="http://schemas.microsoft.com/office/drawing/2014/main" id="{E5F0C864-6F26-AF8D-3218-9F9A061321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0" name="Google Shape;330;p34">
            <a:extLst>
              <a:ext uri="{FF2B5EF4-FFF2-40B4-BE49-F238E27FC236}">
                <a16:creationId xmlns:a16="http://schemas.microsoft.com/office/drawing/2014/main" id="{65A307B7-399F-074E-1E8B-D795A2F05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Data And Preprocessing</a:t>
            </a:r>
          </a:p>
        </p:txBody>
      </p:sp>
      <p:grpSp>
        <p:nvGrpSpPr>
          <p:cNvPr id="332" name="Google Shape;332;p34">
            <a:extLst>
              <a:ext uri="{FF2B5EF4-FFF2-40B4-BE49-F238E27FC236}">
                <a16:creationId xmlns:a16="http://schemas.microsoft.com/office/drawing/2014/main" id="{9CC5F000-0F9A-AE73-AD54-2D980AB43765}"/>
              </a:ext>
            </a:extLst>
          </p:cNvPr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>
              <a:extLst>
                <a:ext uri="{FF2B5EF4-FFF2-40B4-BE49-F238E27FC236}">
                  <a16:creationId xmlns:a16="http://schemas.microsoft.com/office/drawing/2014/main" id="{8E15E6C8-8E7A-7CA0-DCA1-0E3E7A28D8E9}"/>
                </a:ext>
              </a:extLst>
            </p:cNvPr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>
              <a:extLst>
                <a:ext uri="{FF2B5EF4-FFF2-40B4-BE49-F238E27FC236}">
                  <a16:creationId xmlns:a16="http://schemas.microsoft.com/office/drawing/2014/main" id="{C71DC892-A64E-06DB-AC3A-B1714BFF19FE}"/>
                </a:ext>
              </a:extLst>
            </p:cNvPr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>
              <a:extLst>
                <a:ext uri="{FF2B5EF4-FFF2-40B4-BE49-F238E27FC236}">
                  <a16:creationId xmlns:a16="http://schemas.microsoft.com/office/drawing/2014/main" id="{B6F26EB9-4813-7ABC-9FE0-51AB86C1C196}"/>
                </a:ext>
              </a:extLst>
            </p:cNvPr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>
            <a:extLst>
              <a:ext uri="{FF2B5EF4-FFF2-40B4-BE49-F238E27FC236}">
                <a16:creationId xmlns:a16="http://schemas.microsoft.com/office/drawing/2014/main" id="{25F75A02-0DF6-BA51-D7EF-D5B716669FD7}"/>
              </a:ext>
            </a:extLst>
          </p:cNvPr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5873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ABDF6C5-A4FD-506B-9678-FE5D9C39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17670B-6F68-6BCD-B32B-49CF16003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017725"/>
            <a:ext cx="80506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Sources:</a:t>
            </a:r>
            <a:r>
              <a:rPr lang="en-US" sz="1800" dirty="0"/>
              <a:t> Automated Web Scraping (Python) from “</a:t>
            </a:r>
            <a:r>
              <a:rPr lang="en-US" sz="1800" i="1" dirty="0" err="1"/>
              <a:t>Yallakora</a:t>
            </a:r>
            <a:r>
              <a:rPr lang="en-US" sz="1800" i="1" dirty="0"/>
              <a:t>”</a:t>
            </a:r>
            <a:r>
              <a:rPr lang="en-US" sz="1800" dirty="0"/>
              <a:t> &amp; “</a:t>
            </a:r>
            <a:r>
              <a:rPr lang="en-US" sz="1800" i="1" dirty="0" err="1"/>
              <a:t>Transfermarkt</a:t>
            </a:r>
            <a:r>
              <a:rPr lang="en-US" sz="1800" i="1" dirty="0"/>
              <a:t>”, </a:t>
            </a:r>
            <a:r>
              <a:rPr lang="en-US" sz="1800" dirty="0"/>
              <a:t>with additional data manually collected from articles and Wikipedia.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Why?</a:t>
            </a:r>
            <a:r>
              <a:rPr lang="en-US" sz="1800" dirty="0"/>
              <a:t> To ensure real-time accuracy and consistency with official records.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Integration:</a:t>
            </a:r>
            <a:r>
              <a:rPr lang="en-US" sz="1800" dirty="0"/>
              <a:t> Exported data into spreadsheets for data processing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Historical Benchmarking:</a:t>
            </a:r>
            <a:r>
              <a:rPr lang="en-US" sz="1800" dirty="0"/>
              <a:t> Collected past season data to measure improvements and efficiency.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76102112-74AE-84C0-BC35-2FFC730E9F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Collection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012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 txBox="1">
            <a:spLocks noGrp="1"/>
          </p:cNvSpPr>
          <p:nvPr>
            <p:ph type="title"/>
          </p:nvPr>
        </p:nvSpPr>
        <p:spPr>
          <a:xfrm>
            <a:off x="246451" y="432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Architecture</a:t>
            </a:r>
            <a:endParaRPr dirty="0"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1"/>
          </p:nvPr>
        </p:nvSpPr>
        <p:spPr>
          <a:xfrm>
            <a:off x="304942" y="196262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Administrative details &amp; Home venues</a:t>
            </a:r>
            <a:endParaRPr dirty="0"/>
          </a:p>
        </p:txBody>
      </p:sp>
      <p:sp>
        <p:nvSpPr>
          <p:cNvPr id="415" name="Google Shape;415;p38"/>
          <p:cNvSpPr txBox="1">
            <a:spLocks noGrp="1"/>
          </p:cNvSpPr>
          <p:nvPr>
            <p:ph type="subTitle" idx="2"/>
          </p:nvPr>
        </p:nvSpPr>
        <p:spPr>
          <a:xfrm>
            <a:off x="2991688" y="19338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Locations, Capacities &amp; Floodlight availability</a:t>
            </a:r>
            <a:endParaRPr dirty="0"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3"/>
          </p:nvPr>
        </p:nvSpPr>
        <p:spPr>
          <a:xfrm>
            <a:off x="534357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rigid list of Forbidden Matchups &amp; Forced Venues</a:t>
            </a:r>
            <a:endParaRPr dirty="0"/>
          </a:p>
        </p:txBody>
      </p:sp>
      <p:sp>
        <p:nvSpPr>
          <p:cNvPr id="420" name="Google Shape;420;p38"/>
          <p:cNvSpPr txBox="1">
            <a:spLocks noGrp="1"/>
          </p:cNvSpPr>
          <p:nvPr>
            <p:ph type="subTitle" idx="4"/>
          </p:nvPr>
        </p:nvSpPr>
        <p:spPr>
          <a:xfrm>
            <a:off x="3433789" y="3631457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CAF Schedules &amp; Travel Buffers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FIFA Days</a:t>
            </a:r>
            <a:endParaRPr dirty="0"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5"/>
          </p:nvPr>
        </p:nvSpPr>
        <p:spPr>
          <a:xfrm>
            <a:off x="5689060" y="19761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Every available "Slot" (Date + Time)</a:t>
            </a:r>
            <a:endParaRPr dirty="0"/>
          </a:p>
        </p:txBody>
      </p:sp>
      <p:sp>
        <p:nvSpPr>
          <p:cNvPr id="421" name="Google Shape;421;p38"/>
          <p:cNvSpPr txBox="1">
            <a:spLocks noGrp="1"/>
          </p:cNvSpPr>
          <p:nvPr>
            <p:ph type="subTitle" idx="6"/>
          </p:nvPr>
        </p:nvSpPr>
        <p:spPr>
          <a:xfrm>
            <a:off x="6073514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KM distance between every 2 nodes on a network (for travel costs)</a:t>
            </a:r>
            <a:endParaRPr dirty="0"/>
          </a:p>
        </p:txBody>
      </p:sp>
      <p:sp>
        <p:nvSpPr>
          <p:cNvPr id="422" name="Google Shape;422;p38"/>
          <p:cNvSpPr txBox="1">
            <a:spLocks noGrp="1"/>
          </p:cNvSpPr>
          <p:nvPr>
            <p:ph type="subTitle" idx="7"/>
          </p:nvPr>
        </p:nvSpPr>
        <p:spPr>
          <a:xfrm>
            <a:off x="534357" y="1623225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Teams</a:t>
            </a:r>
            <a:endParaRPr dirty="0"/>
          </a:p>
        </p:txBody>
      </p:sp>
      <p:sp>
        <p:nvSpPr>
          <p:cNvPr id="423" name="Google Shape;423;p38"/>
          <p:cNvSpPr txBox="1">
            <a:spLocks noGrp="1"/>
          </p:cNvSpPr>
          <p:nvPr>
            <p:ph type="subTitle" idx="8"/>
          </p:nvPr>
        </p:nvSpPr>
        <p:spPr>
          <a:xfrm>
            <a:off x="3433789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Stadiums</a:t>
            </a:r>
            <a:endParaRPr dirty="0"/>
          </a:p>
        </p:txBody>
      </p:sp>
      <p:sp>
        <p:nvSpPr>
          <p:cNvPr id="424" name="Google Shape;424;p38"/>
          <p:cNvSpPr txBox="1">
            <a:spLocks noGrp="1"/>
          </p:cNvSpPr>
          <p:nvPr>
            <p:ph type="subTitle" idx="9"/>
          </p:nvPr>
        </p:nvSpPr>
        <p:spPr>
          <a:xfrm>
            <a:off x="534356" y="3007025"/>
            <a:ext cx="251319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Security Matrix</a:t>
            </a:r>
            <a:endParaRPr dirty="0"/>
          </a:p>
        </p:txBody>
      </p:sp>
      <p:sp>
        <p:nvSpPr>
          <p:cNvPr id="425" name="Google Shape;425;p38"/>
          <p:cNvSpPr txBox="1">
            <a:spLocks noGrp="1"/>
          </p:cNvSpPr>
          <p:nvPr>
            <p:ph type="subTitle" idx="13"/>
          </p:nvPr>
        </p:nvSpPr>
        <p:spPr>
          <a:xfrm>
            <a:off x="3433789" y="3364468"/>
            <a:ext cx="201916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Continental Blockers</a:t>
            </a:r>
            <a:endParaRPr dirty="0"/>
          </a:p>
        </p:txBody>
      </p:sp>
      <p:sp>
        <p:nvSpPr>
          <p:cNvPr id="426" name="Google Shape;426;p38"/>
          <p:cNvSpPr txBox="1">
            <a:spLocks noGrp="1"/>
          </p:cNvSpPr>
          <p:nvPr>
            <p:ph type="subTitle" idx="14"/>
          </p:nvPr>
        </p:nvSpPr>
        <p:spPr>
          <a:xfrm>
            <a:off x="6073513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Calendar</a:t>
            </a:r>
            <a:endParaRPr dirty="0"/>
          </a:p>
        </p:txBody>
      </p:sp>
      <p:sp>
        <p:nvSpPr>
          <p:cNvPr id="427" name="Google Shape;427;p38"/>
          <p:cNvSpPr txBox="1">
            <a:spLocks noGrp="1"/>
          </p:cNvSpPr>
          <p:nvPr>
            <p:ph type="subTitle" idx="15"/>
          </p:nvPr>
        </p:nvSpPr>
        <p:spPr>
          <a:xfrm>
            <a:off x="6073513" y="3024050"/>
            <a:ext cx="265511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Distance Matrix</a:t>
            </a:r>
            <a:endParaRPr dirty="0"/>
          </a:p>
        </p:txBody>
      </p:sp>
      <p:grpSp>
        <p:nvGrpSpPr>
          <p:cNvPr id="2" name="Google Shape;4456;p46">
            <a:extLst>
              <a:ext uri="{FF2B5EF4-FFF2-40B4-BE49-F238E27FC236}">
                <a16:creationId xmlns:a16="http://schemas.microsoft.com/office/drawing/2014/main" id="{1FE87179-CA38-070E-6054-1FBCF0821248}"/>
              </a:ext>
            </a:extLst>
          </p:cNvPr>
          <p:cNvGrpSpPr/>
          <p:nvPr/>
        </p:nvGrpSpPr>
        <p:grpSpPr>
          <a:xfrm>
            <a:off x="187203" y="1623225"/>
            <a:ext cx="347153" cy="275615"/>
            <a:chOff x="5328475" y="2592950"/>
            <a:chExt cx="435200" cy="344425"/>
          </a:xfrm>
        </p:grpSpPr>
        <p:sp>
          <p:nvSpPr>
            <p:cNvPr id="3" name="Google Shape;4457;p46">
              <a:extLst>
                <a:ext uri="{FF2B5EF4-FFF2-40B4-BE49-F238E27FC236}">
                  <a16:creationId xmlns:a16="http://schemas.microsoft.com/office/drawing/2014/main" id="{367E5785-DC27-7B1C-9E9D-F6E3CACC9360}"/>
                </a:ext>
              </a:extLst>
            </p:cNvPr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 extrusionOk="0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458;p46">
              <a:extLst>
                <a:ext uri="{FF2B5EF4-FFF2-40B4-BE49-F238E27FC236}">
                  <a16:creationId xmlns:a16="http://schemas.microsoft.com/office/drawing/2014/main" id="{E7CB1FC0-CDEC-292E-EF92-B258BD2180E5}"/>
                </a:ext>
              </a:extLst>
            </p:cNvPr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 extrusionOk="0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459;p46">
              <a:extLst>
                <a:ext uri="{FF2B5EF4-FFF2-40B4-BE49-F238E27FC236}">
                  <a16:creationId xmlns:a16="http://schemas.microsoft.com/office/drawing/2014/main" id="{EB716184-0F8B-8936-DA47-EEB038F16D91}"/>
                </a:ext>
              </a:extLst>
            </p:cNvPr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460;p46">
              <a:extLst>
                <a:ext uri="{FF2B5EF4-FFF2-40B4-BE49-F238E27FC236}">
                  <a16:creationId xmlns:a16="http://schemas.microsoft.com/office/drawing/2014/main" id="{16C3D951-26D8-E6E1-33AB-39D76C55FFDE}"/>
                </a:ext>
              </a:extLst>
            </p:cNvPr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 extrusionOk="0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461;p46">
              <a:extLst>
                <a:ext uri="{FF2B5EF4-FFF2-40B4-BE49-F238E27FC236}">
                  <a16:creationId xmlns:a16="http://schemas.microsoft.com/office/drawing/2014/main" id="{46E0AF0B-C377-2D79-D1C6-9AC071B24016}"/>
                </a:ext>
              </a:extLst>
            </p:cNvPr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 extrusionOk="0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462;p46">
              <a:extLst>
                <a:ext uri="{FF2B5EF4-FFF2-40B4-BE49-F238E27FC236}">
                  <a16:creationId xmlns:a16="http://schemas.microsoft.com/office/drawing/2014/main" id="{AB22D7BA-BFB7-D7B4-F41F-2F0F0C3F85FE}"/>
                </a:ext>
              </a:extLst>
            </p:cNvPr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463;p46">
              <a:extLst>
                <a:ext uri="{FF2B5EF4-FFF2-40B4-BE49-F238E27FC236}">
                  <a16:creationId xmlns:a16="http://schemas.microsoft.com/office/drawing/2014/main" id="{E26CF097-B888-5139-9A05-4829B13E7AE1}"/>
                </a:ext>
              </a:extLst>
            </p:cNvPr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 extrusionOk="0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464;p46">
              <a:extLst>
                <a:ext uri="{FF2B5EF4-FFF2-40B4-BE49-F238E27FC236}">
                  <a16:creationId xmlns:a16="http://schemas.microsoft.com/office/drawing/2014/main" id="{495B49AF-C2CA-41AA-5ADC-08F4720033A7}"/>
                </a:ext>
              </a:extLst>
            </p:cNvPr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 extrusionOk="0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465;p46">
              <a:extLst>
                <a:ext uri="{FF2B5EF4-FFF2-40B4-BE49-F238E27FC236}">
                  <a16:creationId xmlns:a16="http://schemas.microsoft.com/office/drawing/2014/main" id="{9C2AE427-7664-0BE9-0486-246084718F5E}"/>
                </a:ext>
              </a:extLst>
            </p:cNvPr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 extrusionOk="0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" name="Google Shape;4416;p46">
            <a:extLst>
              <a:ext uri="{FF2B5EF4-FFF2-40B4-BE49-F238E27FC236}">
                <a16:creationId xmlns:a16="http://schemas.microsoft.com/office/drawing/2014/main" id="{3475FE7C-CE75-DEC1-7401-2257E53D35C7}"/>
              </a:ext>
            </a:extLst>
          </p:cNvPr>
          <p:cNvGrpSpPr/>
          <p:nvPr/>
        </p:nvGrpSpPr>
        <p:grpSpPr>
          <a:xfrm>
            <a:off x="3061825" y="1584924"/>
            <a:ext cx="363300" cy="308386"/>
            <a:chOff x="7190925" y="3893700"/>
            <a:chExt cx="434000" cy="330425"/>
          </a:xfrm>
        </p:grpSpPr>
        <p:sp>
          <p:nvSpPr>
            <p:cNvPr id="13" name="Google Shape;4417;p46">
              <a:extLst>
                <a:ext uri="{FF2B5EF4-FFF2-40B4-BE49-F238E27FC236}">
                  <a16:creationId xmlns:a16="http://schemas.microsoft.com/office/drawing/2014/main" id="{062EE5B2-6D94-00F5-8D27-640ED1EC69D9}"/>
                </a:ext>
              </a:extLst>
            </p:cNvPr>
            <p:cNvSpPr/>
            <p:nvPr/>
          </p:nvSpPr>
          <p:spPr>
            <a:xfrm>
              <a:off x="7192100" y="3893700"/>
              <a:ext cx="432525" cy="151825"/>
            </a:xfrm>
            <a:custGeom>
              <a:avLst/>
              <a:gdLst/>
              <a:ahLst/>
              <a:cxnLst/>
              <a:rect l="l" t="t" r="r" b="b"/>
              <a:pathLst>
                <a:path w="17301" h="6073" extrusionOk="0">
                  <a:moveTo>
                    <a:pt x="8371" y="1"/>
                  </a:moveTo>
                  <a:cubicBezTo>
                    <a:pt x="8073" y="1"/>
                    <a:pt x="7835" y="239"/>
                    <a:pt x="7835" y="536"/>
                  </a:cubicBezTo>
                  <a:lnTo>
                    <a:pt x="7835" y="3156"/>
                  </a:lnTo>
                  <a:lnTo>
                    <a:pt x="7835" y="3168"/>
                  </a:lnTo>
                  <a:cubicBezTo>
                    <a:pt x="6287" y="3144"/>
                    <a:pt x="4739" y="3013"/>
                    <a:pt x="3215" y="2787"/>
                  </a:cubicBezTo>
                  <a:cubicBezTo>
                    <a:pt x="3144" y="2775"/>
                    <a:pt x="3084" y="2763"/>
                    <a:pt x="3013" y="2763"/>
                  </a:cubicBezTo>
                  <a:lnTo>
                    <a:pt x="3013" y="2739"/>
                  </a:lnTo>
                  <a:lnTo>
                    <a:pt x="3013" y="1632"/>
                  </a:lnTo>
                  <a:lnTo>
                    <a:pt x="3894" y="1632"/>
                  </a:lnTo>
                  <a:cubicBezTo>
                    <a:pt x="3898" y="1632"/>
                    <a:pt x="3902" y="1632"/>
                    <a:pt x="3906" y="1632"/>
                  </a:cubicBezTo>
                  <a:cubicBezTo>
                    <a:pt x="4620" y="1632"/>
                    <a:pt x="4628" y="548"/>
                    <a:pt x="3906" y="548"/>
                  </a:cubicBezTo>
                  <a:lnTo>
                    <a:pt x="2477" y="548"/>
                  </a:lnTo>
                  <a:cubicBezTo>
                    <a:pt x="2179" y="548"/>
                    <a:pt x="1941" y="787"/>
                    <a:pt x="1941" y="1084"/>
                  </a:cubicBezTo>
                  <a:lnTo>
                    <a:pt x="1941" y="2751"/>
                  </a:lnTo>
                  <a:cubicBezTo>
                    <a:pt x="1941" y="2787"/>
                    <a:pt x="1953" y="2834"/>
                    <a:pt x="1953" y="2870"/>
                  </a:cubicBezTo>
                  <a:cubicBezTo>
                    <a:pt x="1477" y="3025"/>
                    <a:pt x="1036" y="3299"/>
                    <a:pt x="691" y="3680"/>
                  </a:cubicBezTo>
                  <a:cubicBezTo>
                    <a:pt x="358" y="4025"/>
                    <a:pt x="120" y="4466"/>
                    <a:pt x="1" y="4930"/>
                  </a:cubicBezTo>
                  <a:cubicBezTo>
                    <a:pt x="60" y="4930"/>
                    <a:pt x="132" y="4942"/>
                    <a:pt x="179" y="4966"/>
                  </a:cubicBezTo>
                  <a:cubicBezTo>
                    <a:pt x="2430" y="5680"/>
                    <a:pt x="5430" y="6073"/>
                    <a:pt x="8633" y="6073"/>
                  </a:cubicBezTo>
                  <a:cubicBezTo>
                    <a:pt x="11835" y="6073"/>
                    <a:pt x="14860" y="5680"/>
                    <a:pt x="17122" y="4954"/>
                  </a:cubicBezTo>
                  <a:cubicBezTo>
                    <a:pt x="17157" y="4936"/>
                    <a:pt x="17204" y="4925"/>
                    <a:pt x="17251" y="4925"/>
                  </a:cubicBezTo>
                  <a:cubicBezTo>
                    <a:pt x="17268" y="4925"/>
                    <a:pt x="17284" y="4927"/>
                    <a:pt x="17300" y="4930"/>
                  </a:cubicBezTo>
                  <a:cubicBezTo>
                    <a:pt x="17169" y="4454"/>
                    <a:pt x="16931" y="4025"/>
                    <a:pt x="16598" y="3680"/>
                  </a:cubicBezTo>
                  <a:cubicBezTo>
                    <a:pt x="16157" y="3192"/>
                    <a:pt x="15562" y="2882"/>
                    <a:pt x="14919" y="2787"/>
                  </a:cubicBezTo>
                  <a:cubicBezTo>
                    <a:pt x="14919" y="2775"/>
                    <a:pt x="14919" y="2763"/>
                    <a:pt x="14919" y="2751"/>
                  </a:cubicBezTo>
                  <a:lnTo>
                    <a:pt x="14919" y="1632"/>
                  </a:lnTo>
                  <a:lnTo>
                    <a:pt x="15836" y="1632"/>
                  </a:lnTo>
                  <a:cubicBezTo>
                    <a:pt x="16550" y="1632"/>
                    <a:pt x="16550" y="548"/>
                    <a:pt x="15836" y="548"/>
                  </a:cubicBezTo>
                  <a:lnTo>
                    <a:pt x="14360" y="548"/>
                  </a:lnTo>
                  <a:cubicBezTo>
                    <a:pt x="14062" y="548"/>
                    <a:pt x="13824" y="787"/>
                    <a:pt x="13824" y="1084"/>
                  </a:cubicBezTo>
                  <a:lnTo>
                    <a:pt x="13824" y="2763"/>
                  </a:lnTo>
                  <a:cubicBezTo>
                    <a:pt x="13824" y="2787"/>
                    <a:pt x="13824" y="2811"/>
                    <a:pt x="13824" y="2822"/>
                  </a:cubicBezTo>
                  <a:cubicBezTo>
                    <a:pt x="12193" y="3061"/>
                    <a:pt x="10538" y="3192"/>
                    <a:pt x="8895" y="3192"/>
                  </a:cubicBezTo>
                  <a:lnTo>
                    <a:pt x="8895" y="3168"/>
                  </a:lnTo>
                  <a:lnTo>
                    <a:pt x="8895" y="1084"/>
                  </a:lnTo>
                  <a:lnTo>
                    <a:pt x="9788" y="1084"/>
                  </a:lnTo>
                  <a:cubicBezTo>
                    <a:pt x="10478" y="1060"/>
                    <a:pt x="10490" y="48"/>
                    <a:pt x="97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418;p46">
              <a:extLst>
                <a:ext uri="{FF2B5EF4-FFF2-40B4-BE49-F238E27FC236}">
                  <a16:creationId xmlns:a16="http://schemas.microsoft.com/office/drawing/2014/main" id="{973B97EE-FDE6-384E-16E4-F1E613EECA2F}"/>
                </a:ext>
              </a:extLst>
            </p:cNvPr>
            <p:cNvSpPr/>
            <p:nvPr/>
          </p:nvSpPr>
          <p:spPr>
            <a:xfrm>
              <a:off x="7370700" y="4169625"/>
              <a:ext cx="23525" cy="54500"/>
            </a:xfrm>
            <a:custGeom>
              <a:avLst/>
              <a:gdLst/>
              <a:ahLst/>
              <a:cxnLst/>
              <a:rect l="l" t="t" r="r" b="b"/>
              <a:pathLst>
                <a:path w="941" h="2180" extrusionOk="0">
                  <a:moveTo>
                    <a:pt x="0" y="1"/>
                  </a:moveTo>
                  <a:lnTo>
                    <a:pt x="0" y="2180"/>
                  </a:lnTo>
                  <a:lnTo>
                    <a:pt x="941" y="2180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419;p46">
              <a:extLst>
                <a:ext uri="{FF2B5EF4-FFF2-40B4-BE49-F238E27FC236}">
                  <a16:creationId xmlns:a16="http://schemas.microsoft.com/office/drawing/2014/main" id="{FF247BAE-3518-22CF-0A2B-B97A696CF066}"/>
                </a:ext>
              </a:extLst>
            </p:cNvPr>
            <p:cNvSpPr/>
            <p:nvPr/>
          </p:nvSpPr>
          <p:spPr>
            <a:xfrm>
              <a:off x="7421600" y="4169625"/>
              <a:ext cx="23825" cy="54500"/>
            </a:xfrm>
            <a:custGeom>
              <a:avLst/>
              <a:gdLst/>
              <a:ahLst/>
              <a:cxnLst/>
              <a:rect l="l" t="t" r="r" b="b"/>
              <a:pathLst>
                <a:path w="953" h="2180" extrusionOk="0">
                  <a:moveTo>
                    <a:pt x="0" y="1"/>
                  </a:moveTo>
                  <a:lnTo>
                    <a:pt x="0" y="2180"/>
                  </a:lnTo>
                  <a:lnTo>
                    <a:pt x="953" y="2180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420;p46">
              <a:extLst>
                <a:ext uri="{FF2B5EF4-FFF2-40B4-BE49-F238E27FC236}">
                  <a16:creationId xmlns:a16="http://schemas.microsoft.com/office/drawing/2014/main" id="{595DA3B7-FF5C-9096-3BE0-A88C0A23D3E8}"/>
                </a:ext>
              </a:extLst>
            </p:cNvPr>
            <p:cNvSpPr/>
            <p:nvPr/>
          </p:nvSpPr>
          <p:spPr>
            <a:xfrm>
              <a:off x="7222475" y="4189275"/>
              <a:ext cx="121750" cy="34850"/>
            </a:xfrm>
            <a:custGeom>
              <a:avLst/>
              <a:gdLst/>
              <a:ahLst/>
              <a:cxnLst/>
              <a:rect l="l" t="t" r="r" b="b"/>
              <a:pathLst>
                <a:path w="4870" h="1394" extrusionOk="0">
                  <a:moveTo>
                    <a:pt x="0" y="1"/>
                  </a:moveTo>
                  <a:lnTo>
                    <a:pt x="214" y="965"/>
                  </a:lnTo>
                  <a:cubicBezTo>
                    <a:pt x="262" y="1203"/>
                    <a:pt x="488" y="1382"/>
                    <a:pt x="738" y="1394"/>
                  </a:cubicBezTo>
                  <a:lnTo>
                    <a:pt x="4834" y="1394"/>
                  </a:lnTo>
                  <a:lnTo>
                    <a:pt x="48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421;p46">
              <a:extLst>
                <a:ext uri="{FF2B5EF4-FFF2-40B4-BE49-F238E27FC236}">
                  <a16:creationId xmlns:a16="http://schemas.microsoft.com/office/drawing/2014/main" id="{E3FE130E-2769-E11F-C7DF-137A9BE39908}"/>
                </a:ext>
              </a:extLst>
            </p:cNvPr>
            <p:cNvSpPr/>
            <p:nvPr/>
          </p:nvSpPr>
          <p:spPr>
            <a:xfrm>
              <a:off x="7471600" y="4189275"/>
              <a:ext cx="122650" cy="34850"/>
            </a:xfrm>
            <a:custGeom>
              <a:avLst/>
              <a:gdLst/>
              <a:ahLst/>
              <a:cxnLst/>
              <a:rect l="l" t="t" r="r" b="b"/>
              <a:pathLst>
                <a:path w="4906" h="1394" extrusionOk="0">
                  <a:moveTo>
                    <a:pt x="1" y="1"/>
                  </a:moveTo>
                  <a:lnTo>
                    <a:pt x="1" y="1394"/>
                  </a:lnTo>
                  <a:lnTo>
                    <a:pt x="4168" y="1394"/>
                  </a:lnTo>
                  <a:cubicBezTo>
                    <a:pt x="4418" y="1394"/>
                    <a:pt x="4644" y="1215"/>
                    <a:pt x="4692" y="965"/>
                  </a:cubicBezTo>
                  <a:lnTo>
                    <a:pt x="49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422;p46">
              <a:extLst>
                <a:ext uri="{FF2B5EF4-FFF2-40B4-BE49-F238E27FC236}">
                  <a16:creationId xmlns:a16="http://schemas.microsoft.com/office/drawing/2014/main" id="{62F9A3C8-A1B4-76A9-7C17-765435EAAFBF}"/>
                </a:ext>
              </a:extLst>
            </p:cNvPr>
            <p:cNvSpPr/>
            <p:nvPr/>
          </p:nvSpPr>
          <p:spPr>
            <a:xfrm>
              <a:off x="7190925" y="4040450"/>
              <a:ext cx="434000" cy="122350"/>
            </a:xfrm>
            <a:custGeom>
              <a:avLst/>
              <a:gdLst/>
              <a:ahLst/>
              <a:cxnLst/>
              <a:rect l="l" t="t" r="r" b="b"/>
              <a:pathLst>
                <a:path w="17360" h="4894" extrusionOk="0">
                  <a:moveTo>
                    <a:pt x="17359" y="0"/>
                  </a:moveTo>
                  <a:lnTo>
                    <a:pt x="17359" y="0"/>
                  </a:lnTo>
                  <a:cubicBezTo>
                    <a:pt x="15026" y="751"/>
                    <a:pt x="11942" y="1167"/>
                    <a:pt x="8668" y="1167"/>
                  </a:cubicBezTo>
                  <a:cubicBezTo>
                    <a:pt x="5405" y="1167"/>
                    <a:pt x="2334" y="751"/>
                    <a:pt x="0" y="12"/>
                  </a:cubicBezTo>
                  <a:lnTo>
                    <a:pt x="0" y="12"/>
                  </a:lnTo>
                  <a:cubicBezTo>
                    <a:pt x="12" y="96"/>
                    <a:pt x="24" y="191"/>
                    <a:pt x="48" y="286"/>
                  </a:cubicBezTo>
                  <a:lnTo>
                    <a:pt x="1048" y="4894"/>
                  </a:lnTo>
                  <a:lnTo>
                    <a:pt x="6132" y="4894"/>
                  </a:lnTo>
                  <a:lnTo>
                    <a:pt x="6132" y="4620"/>
                  </a:lnTo>
                  <a:cubicBezTo>
                    <a:pt x="6132" y="4322"/>
                    <a:pt x="6370" y="4084"/>
                    <a:pt x="6668" y="4084"/>
                  </a:cubicBezTo>
                  <a:lnTo>
                    <a:pt x="10692" y="4084"/>
                  </a:lnTo>
                  <a:cubicBezTo>
                    <a:pt x="10989" y="4084"/>
                    <a:pt x="11228" y="4322"/>
                    <a:pt x="11228" y="4620"/>
                  </a:cubicBezTo>
                  <a:lnTo>
                    <a:pt x="11228" y="4894"/>
                  </a:lnTo>
                  <a:lnTo>
                    <a:pt x="16312" y="4894"/>
                  </a:lnTo>
                  <a:lnTo>
                    <a:pt x="17312" y="286"/>
                  </a:lnTo>
                  <a:cubicBezTo>
                    <a:pt x="17336" y="191"/>
                    <a:pt x="17347" y="96"/>
                    <a:pt x="173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8653;p67">
            <a:extLst>
              <a:ext uri="{FF2B5EF4-FFF2-40B4-BE49-F238E27FC236}">
                <a16:creationId xmlns:a16="http://schemas.microsoft.com/office/drawing/2014/main" id="{9B4EE625-6C5B-6620-3437-69CEFB2F2386}"/>
              </a:ext>
            </a:extLst>
          </p:cNvPr>
          <p:cNvGrpSpPr/>
          <p:nvPr/>
        </p:nvGrpSpPr>
        <p:grpSpPr>
          <a:xfrm>
            <a:off x="193594" y="3007025"/>
            <a:ext cx="308234" cy="308234"/>
            <a:chOff x="2081650" y="4993750"/>
            <a:chExt cx="483125" cy="483125"/>
          </a:xfrm>
          <a:solidFill>
            <a:schemeClr val="tx1"/>
          </a:solidFill>
        </p:grpSpPr>
        <p:sp>
          <p:nvSpPr>
            <p:cNvPr id="20" name="Google Shape;8654;p67">
              <a:extLst>
                <a:ext uri="{FF2B5EF4-FFF2-40B4-BE49-F238E27FC236}">
                  <a16:creationId xmlns:a16="http://schemas.microsoft.com/office/drawing/2014/main" id="{C5521C77-79B2-E0A6-CD2D-9430E8DB6BE8}"/>
                </a:ext>
              </a:extLst>
            </p:cNvPr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655;p67">
              <a:extLst>
                <a:ext uri="{FF2B5EF4-FFF2-40B4-BE49-F238E27FC236}">
                  <a16:creationId xmlns:a16="http://schemas.microsoft.com/office/drawing/2014/main" id="{500AA9FF-50DC-C17E-981C-CB640A8D3AE9}"/>
                </a:ext>
              </a:extLst>
            </p:cNvPr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36" name="Google Shape;4625;p46">
            <a:extLst>
              <a:ext uri="{FF2B5EF4-FFF2-40B4-BE49-F238E27FC236}">
                <a16:creationId xmlns:a16="http://schemas.microsoft.com/office/drawing/2014/main" id="{EF08D0DD-B63D-5F19-5476-72D2C12F368F}"/>
              </a:ext>
            </a:extLst>
          </p:cNvPr>
          <p:cNvGrpSpPr/>
          <p:nvPr/>
        </p:nvGrpSpPr>
        <p:grpSpPr>
          <a:xfrm>
            <a:off x="3154656" y="2994166"/>
            <a:ext cx="284927" cy="329946"/>
            <a:chOff x="1259525" y="3852925"/>
            <a:chExt cx="336075" cy="435500"/>
          </a:xfrm>
        </p:grpSpPr>
        <p:sp>
          <p:nvSpPr>
            <p:cNvPr id="37" name="Google Shape;4626;p46">
              <a:extLst>
                <a:ext uri="{FF2B5EF4-FFF2-40B4-BE49-F238E27FC236}">
                  <a16:creationId xmlns:a16="http://schemas.microsoft.com/office/drawing/2014/main" id="{3D1AD717-4640-FB4E-A75B-54AB5F257EC9}"/>
                </a:ext>
              </a:extLst>
            </p:cNvPr>
            <p:cNvSpPr/>
            <p:nvPr/>
          </p:nvSpPr>
          <p:spPr>
            <a:xfrm>
              <a:off x="1302075" y="4048200"/>
              <a:ext cx="251250" cy="240225"/>
            </a:xfrm>
            <a:custGeom>
              <a:avLst/>
              <a:gdLst/>
              <a:ahLst/>
              <a:cxnLst/>
              <a:rect l="l" t="t" r="r" b="b"/>
              <a:pathLst>
                <a:path w="10050" h="9609" extrusionOk="0">
                  <a:moveTo>
                    <a:pt x="5715" y="6596"/>
                  </a:moveTo>
                  <a:cubicBezTo>
                    <a:pt x="5966" y="6596"/>
                    <a:pt x="6169" y="6782"/>
                    <a:pt x="6204" y="7037"/>
                  </a:cubicBezTo>
                  <a:cubicBezTo>
                    <a:pt x="6240" y="7334"/>
                    <a:pt x="6002" y="7608"/>
                    <a:pt x="5704" y="7608"/>
                  </a:cubicBezTo>
                  <a:lnTo>
                    <a:pt x="4370" y="7608"/>
                  </a:lnTo>
                  <a:cubicBezTo>
                    <a:pt x="4108" y="7608"/>
                    <a:pt x="3894" y="7418"/>
                    <a:pt x="3858" y="7156"/>
                  </a:cubicBezTo>
                  <a:cubicBezTo>
                    <a:pt x="3823" y="6864"/>
                    <a:pt x="4051" y="6596"/>
                    <a:pt x="4340" y="6596"/>
                  </a:cubicBezTo>
                  <a:cubicBezTo>
                    <a:pt x="4346" y="6596"/>
                    <a:pt x="4352" y="6596"/>
                    <a:pt x="4358" y="6596"/>
                  </a:cubicBezTo>
                  <a:lnTo>
                    <a:pt x="5692" y="6596"/>
                  </a:lnTo>
                  <a:cubicBezTo>
                    <a:pt x="5700" y="6596"/>
                    <a:pt x="5707" y="6596"/>
                    <a:pt x="5715" y="6596"/>
                  </a:cubicBezTo>
                  <a:close/>
                  <a:moveTo>
                    <a:pt x="1299" y="0"/>
                  </a:moveTo>
                  <a:cubicBezTo>
                    <a:pt x="1727" y="857"/>
                    <a:pt x="2573" y="1429"/>
                    <a:pt x="3525" y="1548"/>
                  </a:cubicBezTo>
                  <a:lnTo>
                    <a:pt x="3525" y="4620"/>
                  </a:lnTo>
                  <a:lnTo>
                    <a:pt x="1489" y="4620"/>
                  </a:lnTo>
                  <a:cubicBezTo>
                    <a:pt x="1215" y="4620"/>
                    <a:pt x="989" y="4846"/>
                    <a:pt x="989" y="5120"/>
                  </a:cubicBezTo>
                  <a:lnTo>
                    <a:pt x="989" y="8584"/>
                  </a:lnTo>
                  <a:lnTo>
                    <a:pt x="596" y="8584"/>
                  </a:lnTo>
                  <a:cubicBezTo>
                    <a:pt x="477" y="8584"/>
                    <a:pt x="358" y="8644"/>
                    <a:pt x="287" y="8751"/>
                  </a:cubicBezTo>
                  <a:cubicBezTo>
                    <a:pt x="1" y="9084"/>
                    <a:pt x="239" y="9608"/>
                    <a:pt x="679" y="9608"/>
                  </a:cubicBezTo>
                  <a:lnTo>
                    <a:pt x="9454" y="9608"/>
                  </a:lnTo>
                  <a:cubicBezTo>
                    <a:pt x="9573" y="9608"/>
                    <a:pt x="9692" y="9549"/>
                    <a:pt x="9764" y="9454"/>
                  </a:cubicBezTo>
                  <a:cubicBezTo>
                    <a:pt x="10050" y="9108"/>
                    <a:pt x="9812" y="8596"/>
                    <a:pt x="9371" y="8584"/>
                  </a:cubicBezTo>
                  <a:lnTo>
                    <a:pt x="9073" y="8584"/>
                  </a:lnTo>
                  <a:lnTo>
                    <a:pt x="9073" y="5120"/>
                  </a:lnTo>
                  <a:cubicBezTo>
                    <a:pt x="9073" y="4846"/>
                    <a:pt x="8847" y="4620"/>
                    <a:pt x="8561" y="4620"/>
                  </a:cubicBezTo>
                  <a:lnTo>
                    <a:pt x="6525" y="4620"/>
                  </a:lnTo>
                  <a:lnTo>
                    <a:pt x="6525" y="1536"/>
                  </a:lnTo>
                  <a:cubicBezTo>
                    <a:pt x="7478" y="1429"/>
                    <a:pt x="8311" y="857"/>
                    <a:pt x="87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627;p46">
              <a:extLst>
                <a:ext uri="{FF2B5EF4-FFF2-40B4-BE49-F238E27FC236}">
                  <a16:creationId xmlns:a16="http://schemas.microsoft.com/office/drawing/2014/main" id="{956CF1EA-6DB3-3FBE-9B43-AC0B3C3FB499}"/>
                </a:ext>
              </a:extLst>
            </p:cNvPr>
            <p:cNvSpPr/>
            <p:nvPr/>
          </p:nvSpPr>
          <p:spPr>
            <a:xfrm>
              <a:off x="1259525" y="3852925"/>
              <a:ext cx="336075" cy="169700"/>
            </a:xfrm>
            <a:custGeom>
              <a:avLst/>
              <a:gdLst/>
              <a:ahLst/>
              <a:cxnLst/>
              <a:rect l="l" t="t" r="r" b="b"/>
              <a:pathLst>
                <a:path w="13443" h="6788" extrusionOk="0">
                  <a:moveTo>
                    <a:pt x="2060" y="1048"/>
                  </a:moveTo>
                  <a:cubicBezTo>
                    <a:pt x="2417" y="1048"/>
                    <a:pt x="2715" y="1346"/>
                    <a:pt x="2715" y="1715"/>
                  </a:cubicBezTo>
                  <a:lnTo>
                    <a:pt x="2715" y="5692"/>
                  </a:lnTo>
                  <a:cubicBezTo>
                    <a:pt x="1691" y="5263"/>
                    <a:pt x="1024" y="4263"/>
                    <a:pt x="1024" y="3156"/>
                  </a:cubicBezTo>
                  <a:lnTo>
                    <a:pt x="1024" y="1715"/>
                  </a:lnTo>
                  <a:cubicBezTo>
                    <a:pt x="1024" y="1346"/>
                    <a:pt x="1322" y="1048"/>
                    <a:pt x="1679" y="1048"/>
                  </a:cubicBezTo>
                  <a:close/>
                  <a:moveTo>
                    <a:pt x="11799" y="1048"/>
                  </a:moveTo>
                  <a:cubicBezTo>
                    <a:pt x="12168" y="1048"/>
                    <a:pt x="12466" y="1346"/>
                    <a:pt x="12466" y="1715"/>
                  </a:cubicBezTo>
                  <a:lnTo>
                    <a:pt x="12466" y="3156"/>
                  </a:lnTo>
                  <a:cubicBezTo>
                    <a:pt x="12466" y="4263"/>
                    <a:pt x="11787" y="5263"/>
                    <a:pt x="10763" y="5692"/>
                  </a:cubicBezTo>
                  <a:lnTo>
                    <a:pt x="10763" y="1715"/>
                  </a:lnTo>
                  <a:cubicBezTo>
                    <a:pt x="10775" y="1346"/>
                    <a:pt x="11073" y="1048"/>
                    <a:pt x="11442" y="1048"/>
                  </a:cubicBezTo>
                  <a:close/>
                  <a:moveTo>
                    <a:pt x="1657" y="0"/>
                  </a:moveTo>
                  <a:cubicBezTo>
                    <a:pt x="739" y="0"/>
                    <a:pt x="0" y="758"/>
                    <a:pt x="0" y="1679"/>
                  </a:cubicBezTo>
                  <a:lnTo>
                    <a:pt x="0" y="3132"/>
                  </a:lnTo>
                  <a:cubicBezTo>
                    <a:pt x="0" y="4811"/>
                    <a:pt x="1107" y="6287"/>
                    <a:pt x="2715" y="6775"/>
                  </a:cubicBezTo>
                  <a:cubicBezTo>
                    <a:pt x="2715" y="6775"/>
                    <a:pt x="2715" y="6787"/>
                    <a:pt x="2715" y="6787"/>
                  </a:cubicBezTo>
                  <a:lnTo>
                    <a:pt x="10740" y="6787"/>
                  </a:lnTo>
                  <a:cubicBezTo>
                    <a:pt x="10740" y="6787"/>
                    <a:pt x="10740" y="6775"/>
                    <a:pt x="10740" y="6775"/>
                  </a:cubicBezTo>
                  <a:cubicBezTo>
                    <a:pt x="12347" y="6287"/>
                    <a:pt x="13442" y="4811"/>
                    <a:pt x="13442" y="3132"/>
                  </a:cubicBezTo>
                  <a:lnTo>
                    <a:pt x="13442" y="1679"/>
                  </a:lnTo>
                  <a:cubicBezTo>
                    <a:pt x="13442" y="751"/>
                    <a:pt x="12704" y="1"/>
                    <a:pt x="11775" y="1"/>
                  </a:cubicBezTo>
                  <a:lnTo>
                    <a:pt x="11430" y="1"/>
                  </a:lnTo>
                  <a:cubicBezTo>
                    <a:pt x="10692" y="1"/>
                    <a:pt x="10049" y="477"/>
                    <a:pt x="9823" y="1191"/>
                  </a:cubicBezTo>
                  <a:lnTo>
                    <a:pt x="3643" y="1191"/>
                  </a:lnTo>
                  <a:cubicBezTo>
                    <a:pt x="3429" y="477"/>
                    <a:pt x="2774" y="1"/>
                    <a:pt x="2036" y="1"/>
                  </a:cubicBezTo>
                  <a:lnTo>
                    <a:pt x="1679" y="1"/>
                  </a:lnTo>
                  <a:cubicBezTo>
                    <a:pt x="1672" y="0"/>
                    <a:pt x="1665" y="0"/>
                    <a:pt x="1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9288;p69">
            <a:extLst>
              <a:ext uri="{FF2B5EF4-FFF2-40B4-BE49-F238E27FC236}">
                <a16:creationId xmlns:a16="http://schemas.microsoft.com/office/drawing/2014/main" id="{CD95345F-1876-852D-ECE8-B749F996C714}"/>
              </a:ext>
            </a:extLst>
          </p:cNvPr>
          <p:cNvGrpSpPr/>
          <p:nvPr/>
        </p:nvGrpSpPr>
        <p:grpSpPr>
          <a:xfrm>
            <a:off x="5779553" y="1632508"/>
            <a:ext cx="349457" cy="349457"/>
            <a:chOff x="3963575" y="2317575"/>
            <a:chExt cx="296175" cy="296175"/>
          </a:xfrm>
          <a:solidFill>
            <a:schemeClr val="tx1"/>
          </a:solidFill>
        </p:grpSpPr>
        <p:sp>
          <p:nvSpPr>
            <p:cNvPr id="40" name="Google Shape;9289;p69">
              <a:extLst>
                <a:ext uri="{FF2B5EF4-FFF2-40B4-BE49-F238E27FC236}">
                  <a16:creationId xmlns:a16="http://schemas.microsoft.com/office/drawing/2014/main" id="{8BC51037-43F4-0D67-9979-BE658DF50FB9}"/>
                </a:ext>
              </a:extLst>
            </p:cNvPr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290;p69">
              <a:extLst>
                <a:ext uri="{FF2B5EF4-FFF2-40B4-BE49-F238E27FC236}">
                  <a16:creationId xmlns:a16="http://schemas.microsoft.com/office/drawing/2014/main" id="{4B8CD91D-2C5C-9C8A-819C-974B98DC003F}"/>
                </a:ext>
              </a:extLst>
            </p:cNvPr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291;p69">
              <a:extLst>
                <a:ext uri="{FF2B5EF4-FFF2-40B4-BE49-F238E27FC236}">
                  <a16:creationId xmlns:a16="http://schemas.microsoft.com/office/drawing/2014/main" id="{9F55B51E-1A50-57E6-A202-12A52C9440BB}"/>
                </a:ext>
              </a:extLst>
            </p:cNvPr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292;p69">
              <a:extLst>
                <a:ext uri="{FF2B5EF4-FFF2-40B4-BE49-F238E27FC236}">
                  <a16:creationId xmlns:a16="http://schemas.microsoft.com/office/drawing/2014/main" id="{B1980457-CCB2-1443-F653-CB2CD6D66D61}"/>
                </a:ext>
              </a:extLst>
            </p:cNvPr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293;p69">
              <a:extLst>
                <a:ext uri="{FF2B5EF4-FFF2-40B4-BE49-F238E27FC236}">
                  <a16:creationId xmlns:a16="http://schemas.microsoft.com/office/drawing/2014/main" id="{CE149156-AC92-B22A-7AAF-5BBC0C7F6A84}"/>
                </a:ext>
              </a:extLst>
            </p:cNvPr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294;p69">
              <a:extLst>
                <a:ext uri="{FF2B5EF4-FFF2-40B4-BE49-F238E27FC236}">
                  <a16:creationId xmlns:a16="http://schemas.microsoft.com/office/drawing/2014/main" id="{541E6A72-63CA-78D4-D006-AA3A86ED2574}"/>
                </a:ext>
              </a:extLst>
            </p:cNvPr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95;p69">
              <a:extLst>
                <a:ext uri="{FF2B5EF4-FFF2-40B4-BE49-F238E27FC236}">
                  <a16:creationId xmlns:a16="http://schemas.microsoft.com/office/drawing/2014/main" id="{9D9B6404-6D9A-02A2-8D58-B3395769018D}"/>
                </a:ext>
              </a:extLst>
            </p:cNvPr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296;p69">
              <a:extLst>
                <a:ext uri="{FF2B5EF4-FFF2-40B4-BE49-F238E27FC236}">
                  <a16:creationId xmlns:a16="http://schemas.microsoft.com/office/drawing/2014/main" id="{97A72428-2637-2B00-67C9-6B2DA1508C6A}"/>
                </a:ext>
              </a:extLst>
            </p:cNvPr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297;p69">
              <a:extLst>
                <a:ext uri="{FF2B5EF4-FFF2-40B4-BE49-F238E27FC236}">
                  <a16:creationId xmlns:a16="http://schemas.microsoft.com/office/drawing/2014/main" id="{FA4A90E2-BF12-8DD1-7207-5E85318FCAA2}"/>
                </a:ext>
              </a:extLst>
            </p:cNvPr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298;p69">
              <a:extLst>
                <a:ext uri="{FF2B5EF4-FFF2-40B4-BE49-F238E27FC236}">
                  <a16:creationId xmlns:a16="http://schemas.microsoft.com/office/drawing/2014/main" id="{C262BA1D-5A7A-CBCF-5B72-7B1E1346752A}"/>
                </a:ext>
              </a:extLst>
            </p:cNvPr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299;p69">
              <a:extLst>
                <a:ext uri="{FF2B5EF4-FFF2-40B4-BE49-F238E27FC236}">
                  <a16:creationId xmlns:a16="http://schemas.microsoft.com/office/drawing/2014/main" id="{9BC3C60C-D3E0-E129-4CCE-734805920899}"/>
                </a:ext>
              </a:extLst>
            </p:cNvPr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300;p69">
              <a:extLst>
                <a:ext uri="{FF2B5EF4-FFF2-40B4-BE49-F238E27FC236}">
                  <a16:creationId xmlns:a16="http://schemas.microsoft.com/office/drawing/2014/main" id="{C78306B5-C139-2F95-6274-758DB519C22B}"/>
                </a:ext>
              </a:extLst>
            </p:cNvPr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301;p69">
              <a:extLst>
                <a:ext uri="{FF2B5EF4-FFF2-40B4-BE49-F238E27FC236}">
                  <a16:creationId xmlns:a16="http://schemas.microsoft.com/office/drawing/2014/main" id="{09B026DB-C301-D31F-C609-DF9EC82FDE2D}"/>
                </a:ext>
              </a:extLst>
            </p:cNvPr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302;p69">
              <a:extLst>
                <a:ext uri="{FF2B5EF4-FFF2-40B4-BE49-F238E27FC236}">
                  <a16:creationId xmlns:a16="http://schemas.microsoft.com/office/drawing/2014/main" id="{8650E308-A217-C558-6F5D-7341D138D89C}"/>
                </a:ext>
              </a:extLst>
            </p:cNvPr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303;p69">
              <a:extLst>
                <a:ext uri="{FF2B5EF4-FFF2-40B4-BE49-F238E27FC236}">
                  <a16:creationId xmlns:a16="http://schemas.microsoft.com/office/drawing/2014/main" id="{71EA6EC3-B78A-B145-DB9C-72E3C6DAA191}"/>
                </a:ext>
              </a:extLst>
            </p:cNvPr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304;p69">
              <a:extLst>
                <a:ext uri="{FF2B5EF4-FFF2-40B4-BE49-F238E27FC236}">
                  <a16:creationId xmlns:a16="http://schemas.microsoft.com/office/drawing/2014/main" id="{6EBAF738-B71B-D6E4-5AB0-63AC6AC0F64A}"/>
                </a:ext>
              </a:extLst>
            </p:cNvPr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8479;p67">
            <a:extLst>
              <a:ext uri="{FF2B5EF4-FFF2-40B4-BE49-F238E27FC236}">
                <a16:creationId xmlns:a16="http://schemas.microsoft.com/office/drawing/2014/main" id="{C20A12E0-F7CD-B737-ED1F-E04AD21F0B07}"/>
              </a:ext>
            </a:extLst>
          </p:cNvPr>
          <p:cNvGrpSpPr/>
          <p:nvPr/>
        </p:nvGrpSpPr>
        <p:grpSpPr>
          <a:xfrm>
            <a:off x="5769186" y="3011644"/>
            <a:ext cx="340168" cy="298978"/>
            <a:chOff x="2081650" y="2050750"/>
            <a:chExt cx="483125" cy="424625"/>
          </a:xfrm>
          <a:solidFill>
            <a:schemeClr val="tx1"/>
          </a:solidFill>
        </p:grpSpPr>
        <p:sp>
          <p:nvSpPr>
            <p:cNvPr id="57" name="Google Shape;8480;p67">
              <a:extLst>
                <a:ext uri="{FF2B5EF4-FFF2-40B4-BE49-F238E27FC236}">
                  <a16:creationId xmlns:a16="http://schemas.microsoft.com/office/drawing/2014/main" id="{945DE129-7E73-3603-3580-27077420D917}"/>
                </a:ext>
              </a:extLst>
            </p:cNvPr>
            <p:cNvSpPr/>
            <p:nvPr/>
          </p:nvSpPr>
          <p:spPr>
            <a:xfrm>
              <a:off x="2081650" y="205075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" name="Google Shape;8481;p67">
              <a:extLst>
                <a:ext uri="{FF2B5EF4-FFF2-40B4-BE49-F238E27FC236}">
                  <a16:creationId xmlns:a16="http://schemas.microsoft.com/office/drawing/2014/main" id="{A83249AF-FC3E-DDD6-5239-868BBB408920}"/>
                </a:ext>
              </a:extLst>
            </p:cNvPr>
            <p:cNvSpPr/>
            <p:nvPr/>
          </p:nvSpPr>
          <p:spPr>
            <a:xfrm>
              <a:off x="2136375" y="2292025"/>
              <a:ext cx="36400" cy="41975"/>
            </a:xfrm>
            <a:custGeom>
              <a:avLst/>
              <a:gdLst/>
              <a:ahLst/>
              <a:cxnLst/>
              <a:rect l="l" t="t" r="r" b="b"/>
              <a:pathLst>
                <a:path w="1456" h="1679" extrusionOk="0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" name="Google Shape;8482;p67">
              <a:extLst>
                <a:ext uri="{FF2B5EF4-FFF2-40B4-BE49-F238E27FC236}">
                  <a16:creationId xmlns:a16="http://schemas.microsoft.com/office/drawing/2014/main" id="{F7A3BA4D-6818-3770-F1E3-BC4CB910840F}"/>
                </a:ext>
              </a:extLst>
            </p:cNvPr>
            <p:cNvSpPr/>
            <p:nvPr/>
          </p:nvSpPr>
          <p:spPr>
            <a:xfrm>
              <a:off x="2296850" y="2220800"/>
              <a:ext cx="46075" cy="51650"/>
            </a:xfrm>
            <a:custGeom>
              <a:avLst/>
              <a:gdLst/>
              <a:ahLst/>
              <a:cxnLst/>
              <a:rect l="l" t="t" r="r" b="b"/>
              <a:pathLst>
                <a:path w="1843" h="2066" extrusionOk="0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" name="Google Shape;8483;p67">
              <a:extLst>
                <a:ext uri="{FF2B5EF4-FFF2-40B4-BE49-F238E27FC236}">
                  <a16:creationId xmlns:a16="http://schemas.microsoft.com/office/drawing/2014/main" id="{C4E12572-918F-7B16-C482-F35662928BCE}"/>
                </a:ext>
              </a:extLst>
            </p:cNvPr>
            <p:cNvSpPr/>
            <p:nvPr/>
          </p:nvSpPr>
          <p:spPr>
            <a:xfrm>
              <a:off x="2158650" y="2216775"/>
              <a:ext cx="47275" cy="51425"/>
            </a:xfrm>
            <a:custGeom>
              <a:avLst/>
              <a:gdLst/>
              <a:ahLst/>
              <a:cxnLst/>
              <a:rect l="l" t="t" r="r" b="b"/>
              <a:pathLst>
                <a:path w="1891" h="2057" extrusionOk="0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" name="Google Shape;8484;p67">
              <a:extLst>
                <a:ext uri="{FF2B5EF4-FFF2-40B4-BE49-F238E27FC236}">
                  <a16:creationId xmlns:a16="http://schemas.microsoft.com/office/drawing/2014/main" id="{E8CB1B68-A634-CE5B-675D-58A755DCBC04}"/>
                </a:ext>
              </a:extLst>
            </p:cNvPr>
            <p:cNvSpPr/>
            <p:nvPr/>
          </p:nvSpPr>
          <p:spPr>
            <a:xfrm>
              <a:off x="2426475" y="2255725"/>
              <a:ext cx="55875" cy="46900"/>
            </a:xfrm>
            <a:custGeom>
              <a:avLst/>
              <a:gdLst/>
              <a:ahLst/>
              <a:cxnLst/>
              <a:rect l="l" t="t" r="r" b="b"/>
              <a:pathLst>
                <a:path w="2235" h="1876" extrusionOk="0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" name="Google Shape;8485;p67">
              <a:extLst>
                <a:ext uri="{FF2B5EF4-FFF2-40B4-BE49-F238E27FC236}">
                  <a16:creationId xmlns:a16="http://schemas.microsoft.com/office/drawing/2014/main" id="{3A3E4BC4-F8AE-5B99-1CB7-6D9920D66AFF}"/>
                </a:ext>
              </a:extLst>
            </p:cNvPr>
            <p:cNvSpPr/>
            <p:nvPr/>
          </p:nvSpPr>
          <p:spPr>
            <a:xfrm>
              <a:off x="2473050" y="2192325"/>
              <a:ext cx="37000" cy="41500"/>
            </a:xfrm>
            <a:custGeom>
              <a:avLst/>
              <a:gdLst/>
              <a:ahLst/>
              <a:cxnLst/>
              <a:rect l="l" t="t" r="r" b="b"/>
              <a:pathLst>
                <a:path w="1480" h="1660" extrusionOk="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 build="p"/>
      <p:bldP spid="415" grpId="0" build="p"/>
      <p:bldP spid="419" grpId="0" build="p"/>
      <p:bldP spid="420" grpId="0" build="p"/>
      <p:bldP spid="416" grpId="0" build="p"/>
      <p:bldP spid="421" grpId="0" build="p"/>
      <p:bldP spid="422" grpId="0" build="p"/>
      <p:bldP spid="423" grpId="0" build="p"/>
      <p:bldP spid="424" grpId="0" build="p"/>
      <p:bldP spid="425" grpId="0" build="p"/>
      <p:bldP spid="426" grpId="0" build="p"/>
      <p:bldP spid="42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>
          <a:extLst>
            <a:ext uri="{FF2B5EF4-FFF2-40B4-BE49-F238E27FC236}">
              <a16:creationId xmlns:a16="http://schemas.microsoft.com/office/drawing/2014/main" id="{DFEA3604-590D-3E4F-B879-6E8D44FD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>
            <a:extLst>
              <a:ext uri="{FF2B5EF4-FFF2-40B4-BE49-F238E27FC236}">
                <a16:creationId xmlns:a16="http://schemas.microsoft.com/office/drawing/2014/main" id="{EAA16358-841C-A9C2-88A0-A89CC620B6DF}"/>
              </a:ext>
            </a:extLst>
          </p:cNvPr>
          <p:cNvSpPr txBox="1"/>
          <p:nvPr/>
        </p:nvSpPr>
        <p:spPr>
          <a:xfrm>
            <a:off x="3430489" y="1579557"/>
            <a:ext cx="2228100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Unification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4" name="Google Shape;624;p51">
            <a:extLst>
              <a:ext uri="{FF2B5EF4-FFF2-40B4-BE49-F238E27FC236}">
                <a16:creationId xmlns:a16="http://schemas.microsoft.com/office/drawing/2014/main" id="{A59B3F91-1616-E6BC-68D8-9B41F7630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76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625" name="Google Shape;625;p51">
            <a:extLst>
              <a:ext uri="{FF2B5EF4-FFF2-40B4-BE49-F238E27FC236}">
                <a16:creationId xmlns:a16="http://schemas.microsoft.com/office/drawing/2014/main" id="{93FFBF3A-5E71-305C-88D8-2258162D0F19}"/>
              </a:ext>
            </a:extLst>
          </p:cNvPr>
          <p:cNvSpPr txBox="1"/>
          <p:nvPr/>
        </p:nvSpPr>
        <p:spPr>
          <a:xfrm>
            <a:off x="458602" y="2210885"/>
            <a:ext cx="19407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6" name="Google Shape;626;p51">
            <a:extLst>
              <a:ext uri="{FF2B5EF4-FFF2-40B4-BE49-F238E27FC236}">
                <a16:creationId xmlns:a16="http://schemas.microsoft.com/office/drawing/2014/main" id="{74B9A0AB-0EC5-C968-FE07-EA4BE951688B}"/>
              </a:ext>
            </a:extLst>
          </p:cNvPr>
          <p:cNvSpPr txBox="1"/>
          <p:nvPr/>
        </p:nvSpPr>
        <p:spPr>
          <a:xfrm>
            <a:off x="458584" y="220070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Converted inconsistent date formats from different websites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All dates are now in a standard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MM/DD/YYYY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format for system compatibility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627" name="Google Shape;627;p51">
            <a:extLst>
              <a:ext uri="{FF2B5EF4-FFF2-40B4-BE49-F238E27FC236}">
                <a16:creationId xmlns:a16="http://schemas.microsoft.com/office/drawing/2014/main" id="{2A4D6621-B029-A523-3DAE-B2E0D2E55884}"/>
              </a:ext>
            </a:extLst>
          </p:cNvPr>
          <p:cNvSpPr txBox="1"/>
          <p:nvPr/>
        </p:nvSpPr>
        <p:spPr>
          <a:xfrm>
            <a:off x="458584" y="1584314"/>
            <a:ext cx="2385500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Standardization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30" name="Google Shape;630;p51">
            <a:extLst>
              <a:ext uri="{FF2B5EF4-FFF2-40B4-BE49-F238E27FC236}">
                <a16:creationId xmlns:a16="http://schemas.microsoft.com/office/drawing/2014/main" id="{F332A582-BF43-98CC-D296-EA5A4E924C1B}"/>
              </a:ext>
            </a:extLst>
          </p:cNvPr>
          <p:cNvSpPr txBox="1"/>
          <p:nvPr/>
        </p:nvSpPr>
        <p:spPr>
          <a:xfrm>
            <a:off x="6161766" y="1579557"/>
            <a:ext cx="2070699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Linking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" name="Google Shape;955;p61">
            <a:extLst>
              <a:ext uri="{FF2B5EF4-FFF2-40B4-BE49-F238E27FC236}">
                <a16:creationId xmlns:a16="http://schemas.microsoft.com/office/drawing/2014/main" id="{FFEA3DE2-78FF-4497-3205-AF83751CE2AE}"/>
              </a:ext>
            </a:extLst>
          </p:cNvPr>
          <p:cNvGrpSpPr/>
          <p:nvPr/>
        </p:nvGrpSpPr>
        <p:grpSpPr>
          <a:xfrm>
            <a:off x="2628034" y="1673438"/>
            <a:ext cx="261400" cy="317236"/>
            <a:chOff x="4960900" y="2433225"/>
            <a:chExt cx="48525" cy="60050"/>
          </a:xfrm>
          <a:solidFill>
            <a:schemeClr val="tx1"/>
          </a:solidFill>
        </p:grpSpPr>
        <p:sp>
          <p:nvSpPr>
            <p:cNvPr id="6" name="Google Shape;956;p61">
              <a:extLst>
                <a:ext uri="{FF2B5EF4-FFF2-40B4-BE49-F238E27FC236}">
                  <a16:creationId xmlns:a16="http://schemas.microsoft.com/office/drawing/2014/main" id="{E6A15318-1710-ECC8-AF49-7EEC41069000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57;p61">
              <a:extLst>
                <a:ext uri="{FF2B5EF4-FFF2-40B4-BE49-F238E27FC236}">
                  <a16:creationId xmlns:a16="http://schemas.microsoft.com/office/drawing/2014/main" id="{0162231D-83A4-DC49-6629-02CEE9078201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955;p61">
            <a:extLst>
              <a:ext uri="{FF2B5EF4-FFF2-40B4-BE49-F238E27FC236}">
                <a16:creationId xmlns:a16="http://schemas.microsoft.com/office/drawing/2014/main" id="{40CD76F2-4642-2FBB-0113-6EA685125DC0}"/>
              </a:ext>
            </a:extLst>
          </p:cNvPr>
          <p:cNvGrpSpPr/>
          <p:nvPr/>
        </p:nvGrpSpPr>
        <p:grpSpPr>
          <a:xfrm>
            <a:off x="5397189" y="1666489"/>
            <a:ext cx="261400" cy="317236"/>
            <a:chOff x="4960900" y="2433225"/>
            <a:chExt cx="48525" cy="60050"/>
          </a:xfrm>
          <a:solidFill>
            <a:schemeClr val="tx1"/>
          </a:solidFill>
        </p:grpSpPr>
        <p:sp>
          <p:nvSpPr>
            <p:cNvPr id="9" name="Google Shape;956;p61">
              <a:extLst>
                <a:ext uri="{FF2B5EF4-FFF2-40B4-BE49-F238E27FC236}">
                  <a16:creationId xmlns:a16="http://schemas.microsoft.com/office/drawing/2014/main" id="{6D1FE3C4-00E1-E0D3-FC22-783EE595BCA2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57;p61">
              <a:extLst>
                <a:ext uri="{FF2B5EF4-FFF2-40B4-BE49-F238E27FC236}">
                  <a16:creationId xmlns:a16="http://schemas.microsoft.com/office/drawing/2014/main" id="{27478DF8-A779-0153-D9B8-74710F794CD8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626;p51">
            <a:extLst>
              <a:ext uri="{FF2B5EF4-FFF2-40B4-BE49-F238E27FC236}">
                <a16:creationId xmlns:a16="http://schemas.microsoft.com/office/drawing/2014/main" id="{469FFC86-0D3B-3B22-CA5D-C064B885F729}"/>
              </a:ext>
            </a:extLst>
          </p:cNvPr>
          <p:cNvSpPr txBox="1"/>
          <p:nvPr/>
        </p:nvSpPr>
        <p:spPr>
          <a:xfrm>
            <a:off x="3309041" y="208293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Fixed inconsistent team names 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Every team has a unique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Team ID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(e.g., "AHL") that works across all files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626;p51">
            <a:extLst>
              <a:ext uri="{FF2B5EF4-FFF2-40B4-BE49-F238E27FC236}">
                <a16:creationId xmlns:a16="http://schemas.microsoft.com/office/drawing/2014/main" id="{3D7247FE-64B3-6D87-6F6F-5332424D9048}"/>
              </a:ext>
            </a:extLst>
          </p:cNvPr>
          <p:cNvSpPr txBox="1"/>
          <p:nvPr/>
        </p:nvSpPr>
        <p:spPr>
          <a:xfrm>
            <a:off x="5932224" y="208293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Connected the separate Excel sheets using the new IDs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Transformed "flat" files into a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Connected Schema.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84236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3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5E-6 -2.83951E-6 L 0.05712 -2.83951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7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6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1.7284E-6 L 0.05157 1.728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6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0" animBg="1"/>
      <p:bldP spid="623" grpId="1" animBg="1"/>
      <p:bldP spid="626" grpId="0"/>
      <p:bldP spid="627" grpId="0" animBg="1"/>
      <p:bldP spid="630" grpId="0" animBg="1"/>
      <p:bldP spid="630" grpId="1" animBg="1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F3ABC6E-6852-14E8-9C5D-46E8D73A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1351E482-10DB-04A7-CF05-C55B37FD0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Modeling</a:t>
            </a:r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B6FDECD2-0072-853B-82B9-7E3B01512E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9480" y="1251813"/>
            <a:ext cx="369252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/>
              <a:t>Infrastructure Model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1E889-EE78-B1CC-8DC2-573D278C4715}"/>
              </a:ext>
            </a:extLst>
          </p:cNvPr>
          <p:cNvSpPr txBox="1"/>
          <p:nvPr/>
        </p:nvSpPr>
        <p:spPr>
          <a:xfrm>
            <a:off x="879480" y="1689232"/>
            <a:ext cx="3771794" cy="2648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Purpose: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Connects every team to their specific home venue.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How it Works: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Uses a "Many-to-One" link because multiple teams can share one stadium.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Travel Calculation: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Links stadiums to a Distance Matrix to automatically calculate travel costs.</a:t>
            </a:r>
            <a:endParaRPr lang="en-US" dirty="0">
              <a:solidFill>
                <a:schemeClr val="tx1"/>
              </a:solidFill>
              <a:latin typeface="DM Sans" pitchFamily="2" charset="0"/>
              <a:cs typeface="Diwani Simple Striped" panose="02010400000000000000" pitchFamily="2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E2A083-FD09-4AD9-A3F6-351BE5ACB183}"/>
              </a:ext>
            </a:extLst>
          </p:cNvPr>
          <p:cNvGrpSpPr/>
          <p:nvPr/>
        </p:nvGrpSpPr>
        <p:grpSpPr>
          <a:xfrm>
            <a:off x="4749191" y="1230596"/>
            <a:ext cx="1332074" cy="1170045"/>
            <a:chOff x="5800165" y="1707786"/>
            <a:chExt cx="1013011" cy="12468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1E4277-1504-4D90-B474-4938B603F346}"/>
                </a:ext>
              </a:extLst>
            </p:cNvPr>
            <p:cNvSpPr/>
            <p:nvPr/>
          </p:nvSpPr>
          <p:spPr>
            <a:xfrm>
              <a:off x="5800165" y="1707786"/>
              <a:ext cx="1013011" cy="3282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Stadiums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78D60C-5AAD-4879-8175-7A516CD8CAF3}"/>
                </a:ext>
              </a:extLst>
            </p:cNvPr>
            <p:cNvSpPr/>
            <p:nvPr/>
          </p:nvSpPr>
          <p:spPr>
            <a:xfrm>
              <a:off x="5800165" y="2021305"/>
              <a:ext cx="1013011" cy="933346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Stadium_Name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City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Is_Floodlit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098FCB-45BE-4A39-AA1B-97895CC18FB4}"/>
              </a:ext>
            </a:extLst>
          </p:cNvPr>
          <p:cNvGrpSpPr/>
          <p:nvPr/>
        </p:nvGrpSpPr>
        <p:grpSpPr>
          <a:xfrm>
            <a:off x="7551843" y="2919106"/>
            <a:ext cx="1425354" cy="1105444"/>
            <a:chOff x="5800165" y="1830028"/>
            <a:chExt cx="1013011" cy="117910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202221-8CCD-4684-A643-3FEBC534997A}"/>
                </a:ext>
              </a:extLst>
            </p:cNvPr>
            <p:cNvSpPr/>
            <p:nvPr/>
          </p:nvSpPr>
          <p:spPr>
            <a:xfrm>
              <a:off x="5800165" y="1830028"/>
              <a:ext cx="1013011" cy="230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Sec_Matrix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3989AC9-9DFB-4C86-9181-0D0A0A901BF8}"/>
                </a:ext>
              </a:extLst>
            </p:cNvPr>
            <p:cNvSpPr/>
            <p:nvPr/>
          </p:nvSpPr>
          <p:spPr>
            <a:xfrm>
              <a:off x="5800165" y="2081796"/>
              <a:ext cx="1013011" cy="927339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Home_Team_ID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Away_Team_ID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Banned_venue1_ID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Banned_venue2_ID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Forced_venue_ID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A5C8CD-E6F4-4119-86B4-0994B3A20701}"/>
              </a:ext>
            </a:extLst>
          </p:cNvPr>
          <p:cNvGrpSpPr/>
          <p:nvPr/>
        </p:nvGrpSpPr>
        <p:grpSpPr>
          <a:xfrm>
            <a:off x="4978090" y="3327881"/>
            <a:ext cx="1465430" cy="1185445"/>
            <a:chOff x="5800165" y="1512117"/>
            <a:chExt cx="1013012" cy="215751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C5D0E39-7F8E-495E-8772-B262A11803DE}"/>
                </a:ext>
              </a:extLst>
            </p:cNvPr>
            <p:cNvSpPr/>
            <p:nvPr/>
          </p:nvSpPr>
          <p:spPr>
            <a:xfrm>
              <a:off x="5800166" y="1512117"/>
              <a:ext cx="1013011" cy="523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Dist_Matrix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1D9D9F-8D8F-4A1D-A4EF-73BC032CA1A0}"/>
                </a:ext>
              </a:extLst>
            </p:cNvPr>
            <p:cNvSpPr/>
            <p:nvPr/>
          </p:nvSpPr>
          <p:spPr>
            <a:xfrm>
              <a:off x="5800165" y="2021305"/>
              <a:ext cx="1013011" cy="1648327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Origin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30_June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Alx_Stadium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Al_Salam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Arab_CONT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45B66-A4DC-430D-B6A5-518E737B4B60}"/>
              </a:ext>
            </a:extLst>
          </p:cNvPr>
          <p:cNvGrpSpPr/>
          <p:nvPr/>
        </p:nvGrpSpPr>
        <p:grpSpPr>
          <a:xfrm>
            <a:off x="6605274" y="333493"/>
            <a:ext cx="1423714" cy="1842215"/>
            <a:chOff x="5697178" y="1864332"/>
            <a:chExt cx="1116000" cy="94082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47CF7C0-49A9-4371-903A-FB95F684C05F}"/>
                </a:ext>
              </a:extLst>
            </p:cNvPr>
            <p:cNvSpPr/>
            <p:nvPr/>
          </p:nvSpPr>
          <p:spPr>
            <a:xfrm>
              <a:off x="5697178" y="1864332"/>
              <a:ext cx="1116000" cy="1569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Team_Details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88F67E5-12BD-43A8-92A2-1759959BB574}"/>
                </a:ext>
              </a:extLst>
            </p:cNvPr>
            <p:cNvSpPr/>
            <p:nvPr/>
          </p:nvSpPr>
          <p:spPr>
            <a:xfrm>
              <a:off x="5697178" y="2021306"/>
              <a:ext cx="1115998" cy="783846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Home_Stadium_ID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Alt_Stadium_ID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Tier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Cont_Flag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40AE51A0-5F22-300F-E0D1-32E21354C006}"/>
              </a:ext>
            </a:extLst>
          </p:cNvPr>
          <p:cNvCxnSpPr>
            <a:cxnSpLocks/>
          </p:cNvCxnSpPr>
          <p:nvPr/>
        </p:nvCxnSpPr>
        <p:spPr>
          <a:xfrm flipV="1">
            <a:off x="6081268" y="1472615"/>
            <a:ext cx="550057" cy="12646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11B09FD-70B7-B517-49EA-CE66D8C616EB}"/>
              </a:ext>
            </a:extLst>
          </p:cNvPr>
          <p:cNvCxnSpPr>
            <a:stCxn id="48" idx="3"/>
            <a:endCxn id="42" idx="1"/>
          </p:cNvCxnSpPr>
          <p:nvPr/>
        </p:nvCxnSpPr>
        <p:spPr>
          <a:xfrm flipH="1">
            <a:off x="7551843" y="1408286"/>
            <a:ext cx="477142" cy="2181562"/>
          </a:xfrm>
          <a:prstGeom prst="bentConnector5">
            <a:avLst>
              <a:gd name="adj1" fmla="val -47910"/>
              <a:gd name="adj2" fmla="val 57626"/>
              <a:gd name="adj3" fmla="val 1479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FD51FC9-5273-54E7-75B1-AFA3D09373AD}"/>
              </a:ext>
            </a:extLst>
          </p:cNvPr>
          <p:cNvCxnSpPr>
            <a:stCxn id="44" idx="0"/>
            <a:endCxn id="10" idx="2"/>
          </p:cNvCxnSpPr>
          <p:nvPr/>
        </p:nvCxnSpPr>
        <p:spPr>
          <a:xfrm rot="16200000" flipV="1">
            <a:off x="5099397" y="2716472"/>
            <a:ext cx="927240" cy="29557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E7F63FB-1965-70CA-5424-79382749FEC0}"/>
              </a:ext>
            </a:extLst>
          </p:cNvPr>
          <p:cNvSpPr txBox="1"/>
          <p:nvPr/>
        </p:nvSpPr>
        <p:spPr>
          <a:xfrm>
            <a:off x="5423202" y="2369346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348AF-D88C-82BA-A20E-1B1019BA1AA2}"/>
              </a:ext>
            </a:extLst>
          </p:cNvPr>
          <p:cNvSpPr txBox="1"/>
          <p:nvPr/>
        </p:nvSpPr>
        <p:spPr>
          <a:xfrm>
            <a:off x="5710804" y="3155145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212BD6-70E4-76D0-0609-E6C5C2519518}"/>
              </a:ext>
            </a:extLst>
          </p:cNvPr>
          <p:cNvSpPr txBox="1"/>
          <p:nvPr/>
        </p:nvSpPr>
        <p:spPr>
          <a:xfrm>
            <a:off x="6081265" y="1428124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02AE6-7DAB-B8DF-56BD-2418F5A6A2DD}"/>
              </a:ext>
            </a:extLst>
          </p:cNvPr>
          <p:cNvSpPr txBox="1"/>
          <p:nvPr/>
        </p:nvSpPr>
        <p:spPr>
          <a:xfrm>
            <a:off x="6517745" y="1342648"/>
            <a:ext cx="752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35C8-1E4B-885F-F401-E811B0C09507}"/>
              </a:ext>
            </a:extLst>
          </p:cNvPr>
          <p:cNvSpPr txBox="1"/>
          <p:nvPr/>
        </p:nvSpPr>
        <p:spPr>
          <a:xfrm>
            <a:off x="8063575" y="1230596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7AE75-5751-0D16-8232-EE2172FD35C0}"/>
              </a:ext>
            </a:extLst>
          </p:cNvPr>
          <p:cNvSpPr txBox="1"/>
          <p:nvPr/>
        </p:nvSpPr>
        <p:spPr>
          <a:xfrm>
            <a:off x="7452782" y="3433330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70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" grpId="0" build="p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F3ABC6E-6852-14E8-9C5D-46E8D73A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1351E482-10DB-04A7-CF05-C55B37FD0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Modeling</a:t>
            </a:r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599533C4-C353-D261-84AD-D4BF3D441A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39390" y="1670400"/>
            <a:ext cx="4711390" cy="3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Purpose: </a:t>
            </a:r>
            <a:r>
              <a:rPr lang="en-US" sz="1500" dirty="0"/>
              <a:t>A "Star Schema" centered around the main Calendar.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How it Works: </a:t>
            </a:r>
            <a:r>
              <a:rPr lang="en-US" sz="1500" dirty="0"/>
              <a:t>Connects the master calendar to FIFA and CAF lists</a:t>
            </a:r>
            <a:r>
              <a:rPr lang="en-US" sz="1500" b="1" dirty="0"/>
              <a:t>.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Blocking: </a:t>
            </a:r>
            <a:r>
              <a:rPr lang="en-US" sz="1500" dirty="0"/>
              <a:t>Automatically "blocks" league matches during international or continental dates.</a:t>
            </a:r>
          </a:p>
        </p:txBody>
      </p:sp>
      <p:sp>
        <p:nvSpPr>
          <p:cNvPr id="368" name="Google Shape;368;p36">
            <a:extLst>
              <a:ext uri="{FF2B5EF4-FFF2-40B4-BE49-F238E27FC236}">
                <a16:creationId xmlns:a16="http://schemas.microsoft.com/office/drawing/2014/main" id="{869CEB3F-4E06-34D5-5121-E0BC46FC454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1873" y="1334727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Temporal Model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455FB2-32A9-825E-E0E1-B2B4BD18D932}"/>
              </a:ext>
            </a:extLst>
          </p:cNvPr>
          <p:cNvGrpSpPr/>
          <p:nvPr/>
        </p:nvGrpSpPr>
        <p:grpSpPr>
          <a:xfrm>
            <a:off x="6897679" y="1749000"/>
            <a:ext cx="2017369" cy="1238283"/>
            <a:chOff x="5800165" y="1707786"/>
            <a:chExt cx="1013011" cy="131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8DA0852-9D5A-57DC-3FA8-888E4A21A3E9}"/>
                </a:ext>
              </a:extLst>
            </p:cNvPr>
            <p:cNvSpPr/>
            <p:nvPr/>
          </p:nvSpPr>
          <p:spPr>
            <a:xfrm>
              <a:off x="5800165" y="1707786"/>
              <a:ext cx="1013011" cy="3282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expanded_calender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D704BB-B6D2-A4F7-DE40-6C30B9FC6885}"/>
                </a:ext>
              </a:extLst>
            </p:cNvPr>
            <p:cNvSpPr/>
            <p:nvPr/>
          </p:nvSpPr>
          <p:spPr>
            <a:xfrm>
              <a:off x="5800165" y="2021304"/>
              <a:ext cx="1013011" cy="1006065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Day_ID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Date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Date time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Week_num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918C3C9-C171-AF5D-D46D-18ED22C28229}"/>
              </a:ext>
            </a:extLst>
          </p:cNvPr>
          <p:cNvGrpSpPr/>
          <p:nvPr/>
        </p:nvGrpSpPr>
        <p:grpSpPr>
          <a:xfrm>
            <a:off x="4477380" y="2984744"/>
            <a:ext cx="1935799" cy="1428549"/>
            <a:chOff x="5800165" y="1830028"/>
            <a:chExt cx="1013011" cy="11791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E7E9FB-CA41-0A39-3C27-CADAB4CB20FB}"/>
                </a:ext>
              </a:extLst>
            </p:cNvPr>
            <p:cNvSpPr/>
            <p:nvPr/>
          </p:nvSpPr>
          <p:spPr>
            <a:xfrm>
              <a:off x="5800165" y="1830028"/>
              <a:ext cx="1013011" cy="230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unique_CAF_dates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C652C8-F1F6-67C0-9766-BBA59246FAD0}"/>
                </a:ext>
              </a:extLst>
            </p:cNvPr>
            <p:cNvSpPr/>
            <p:nvPr/>
          </p:nvSpPr>
          <p:spPr>
            <a:xfrm>
              <a:off x="5800165" y="2081796"/>
              <a:ext cx="1013011" cy="927339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date_id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competition_name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caf_date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Round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location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FA4860-4C9F-535B-1DE3-C603A4823B71}"/>
              </a:ext>
            </a:extLst>
          </p:cNvPr>
          <p:cNvGrpSpPr/>
          <p:nvPr/>
        </p:nvGrpSpPr>
        <p:grpSpPr>
          <a:xfrm>
            <a:off x="4986484" y="642279"/>
            <a:ext cx="1332074" cy="802203"/>
            <a:chOff x="5800165" y="1512117"/>
            <a:chExt cx="1013012" cy="14588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647B1A-568B-0358-C54E-9A26C4680CD8}"/>
                </a:ext>
              </a:extLst>
            </p:cNvPr>
            <p:cNvSpPr/>
            <p:nvPr/>
          </p:nvSpPr>
          <p:spPr>
            <a:xfrm>
              <a:off x="5800166" y="1512117"/>
              <a:ext cx="1013011" cy="523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FIFA_DAYS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6AB1DF-4F47-FD2B-512D-DE49F6F5DF93}"/>
                </a:ext>
              </a:extLst>
            </p:cNvPr>
            <p:cNvSpPr/>
            <p:nvPr/>
          </p:nvSpPr>
          <p:spPr>
            <a:xfrm>
              <a:off x="5800165" y="2021305"/>
              <a:ext cx="1013011" cy="949662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Round Name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Date </a:t>
              </a:r>
            </a:p>
          </p:txBody>
        </p:sp>
      </p:grp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46A03E9-790D-0086-BE79-BA4FAE8B3920}"/>
              </a:ext>
            </a:extLst>
          </p:cNvPr>
          <p:cNvCxnSpPr>
            <a:cxnSpLocks/>
          </p:cNvCxnSpPr>
          <p:nvPr/>
        </p:nvCxnSpPr>
        <p:spPr>
          <a:xfrm>
            <a:off x="6318558" y="1311927"/>
            <a:ext cx="579121" cy="105715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F663BBF-EE38-C578-3005-49EF4E851811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rot="10800000" flipV="1">
            <a:off x="6413179" y="2515242"/>
            <a:ext cx="484500" cy="13362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533AEC-4085-AFB2-AC8A-3A113643EA15}"/>
              </a:ext>
            </a:extLst>
          </p:cNvPr>
          <p:cNvSpPr txBox="1"/>
          <p:nvPr/>
        </p:nvSpPr>
        <p:spPr>
          <a:xfrm>
            <a:off x="6413178" y="1119283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2F1EC-867E-CEF3-B155-8286DC81B593}"/>
              </a:ext>
            </a:extLst>
          </p:cNvPr>
          <p:cNvSpPr txBox="1"/>
          <p:nvPr/>
        </p:nvSpPr>
        <p:spPr>
          <a:xfrm>
            <a:off x="6798619" y="2226719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E6321A-4799-83F6-A2C6-154FDA9EB854}"/>
              </a:ext>
            </a:extLst>
          </p:cNvPr>
          <p:cNvSpPr txBox="1"/>
          <p:nvPr/>
        </p:nvSpPr>
        <p:spPr>
          <a:xfrm>
            <a:off x="6798619" y="2386423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7FC0E6-834B-31B8-212D-35315393C7E9}"/>
              </a:ext>
            </a:extLst>
          </p:cNvPr>
          <p:cNvSpPr txBox="1"/>
          <p:nvPr/>
        </p:nvSpPr>
        <p:spPr>
          <a:xfrm>
            <a:off x="6462708" y="3643894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6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" grpId="0" build="p"/>
      <p:bldP spid="25" grpId="0"/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C544517-3135-620A-B04E-EEF60FD0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869361-CF64-117A-9FF0-C211664AB8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173595"/>
            <a:ext cx="80506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Clearly defined scheduling inefficiencies in the Egyptian League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Identified operational, security, and continental constraints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Built a structured, connected data framework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Prepared validated datasets for optimization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Next Phase: Formulating the Integer Linear Programming model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Translating constraints into equations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Generating an efficient, fair, and feasible schedule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8D313EF3-9C7D-67D6-4260-159DA8A2D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 Of Phase 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609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6268C87-CBD2-E48E-BBEE-2108CA5C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422328E0-39E0-E94E-33E2-2A67E6782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References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41EDEC-0304-80B9-5928-6F85AD383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14850"/>
              </p:ext>
            </p:extLst>
          </p:nvPr>
        </p:nvGraphicFramePr>
        <p:xfrm>
          <a:off x="720000" y="1152527"/>
          <a:ext cx="7836702" cy="2244876"/>
        </p:xfrm>
        <a:graphic>
          <a:graphicData uri="http://schemas.openxmlformats.org/drawingml/2006/table">
            <a:tbl>
              <a:tblPr firstRow="1" firstCol="1" bandRow="1"/>
              <a:tblGrid>
                <a:gridCol w="239005">
                  <a:extLst>
                    <a:ext uri="{9D8B030D-6E8A-4147-A177-3AD203B41FA5}">
                      <a16:colId xmlns:a16="http://schemas.microsoft.com/office/drawing/2014/main" val="4294718165"/>
                    </a:ext>
                  </a:extLst>
                </a:gridCol>
                <a:gridCol w="7597697">
                  <a:extLst>
                    <a:ext uri="{9D8B030D-6E8A-4147-A177-3AD203B41FA5}">
                      <a16:colId xmlns:a16="http://schemas.microsoft.com/office/drawing/2014/main" val="1349942756"/>
                    </a:ext>
                  </a:extLst>
                </a:gridCol>
              </a:tblGrid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[1]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R. V. Rasmussen and M. A. Trick, "Round robin scheduling – a survey,"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European Journal of Operational Research,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2008.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997458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[2]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D. Van Bulck, D. Goossens and F. </a:t>
                      </a:r>
                      <a:r>
                        <a:rPr lang="en-US" sz="1000" b="1" dirty="0" err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Spieksma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"Integer programming models for round robin tournaments,"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European Journal of Operational Research,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2023.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10830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[3]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P. Staats, "Generic Scheduling of Sports Tournaments," Utrecht University, Utrecht, 2009.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45337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[4]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D. R. Goossens and F. C. R. </a:t>
                      </a:r>
                      <a:r>
                        <a:rPr lang="en-US" sz="1000" b="1" dirty="0" err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Spieksma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"Soccer schedules in Europe: an overview,"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Journal of Scheduling,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vol. 15, no. 5, pp. 641-651, 2012.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26760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[5]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K. Easton, G. Nemhauser and M. Trick, "The traveling tournament problem description and benchmarks," </a:t>
                      </a:r>
                      <a:r>
                        <a:rPr lang="en-US" sz="1000" b="1" i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Principles and Practice of Constraint Programming, </a:t>
                      </a:r>
                      <a:r>
                        <a:rPr lang="en-US" sz="1000" b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pp. 580-584, 2001.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665921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[6]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G. Durán, M. Guajardo and J. Wolf-Yadlin, "Scheduling the Chilean soccer league by integer programming,"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Interfaces,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vol. 37, no. 6, pp. 539-552, 2007.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291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4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</a:t>
            </a:r>
            <a:endParaRPr dirty="0"/>
          </a:p>
        </p:txBody>
      </p:sp>
      <p:graphicFrame>
        <p:nvGraphicFramePr>
          <p:cNvPr id="289" name="Google Shape;289;p30"/>
          <p:cNvGraphicFramePr/>
          <p:nvPr>
            <p:extLst>
              <p:ext uri="{D42A27DB-BD31-4B8C-83A1-F6EECF244321}">
                <p14:modId xmlns:p14="http://schemas.microsoft.com/office/powerpoint/2010/main" val="2788796308"/>
              </p:ext>
            </p:extLst>
          </p:nvPr>
        </p:nvGraphicFramePr>
        <p:xfrm>
          <a:off x="720000" y="131002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{3D0EB4C6-B8E4-40DF-850D-9352D601E4A8}</a:tableStyleId>
              </a:tblPr>
              <a:tblGrid>
                <a:gridCol w="375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Rawan Ehab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20220133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Mohamed Osama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20220477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Ibrahim Medhat 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20221003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Ghassan Tarek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20220239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Abdelrahman Ashraf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20220189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1" name="Google Shape;291;p30"/>
          <p:cNvSpPr txBox="1"/>
          <p:nvPr/>
        </p:nvSpPr>
        <p:spPr>
          <a:xfrm>
            <a:off x="2566413" y="3771475"/>
            <a:ext cx="4011174" cy="96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 Supervision of</a:t>
            </a:r>
            <a:b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Dr. Sally Kassem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Eng. Rawaa Hesham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C37E9C-5B32-AD67-8D19-3AEB9A0D2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665" y="3660338"/>
            <a:ext cx="1240366" cy="1134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0EBCD-1725-717A-BEA6-29FECC292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3660338"/>
            <a:ext cx="730794" cy="1038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>
            <a:spLocks noGrp="1"/>
          </p:cNvSpPr>
          <p:nvPr>
            <p:ph type="ctrTitle"/>
          </p:nvPr>
        </p:nvSpPr>
        <p:spPr>
          <a:xfrm>
            <a:off x="2052825" y="6724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Aft>
                <a:spcPts val="200"/>
              </a:spcAft>
            </a:pPr>
            <a:r>
              <a:rPr lang="en-US" dirty="0">
                <a:solidFill>
                  <a:schemeClr val="tx1"/>
                </a:solidFill>
              </a:rPr>
              <a:t>Thank You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2510700" y="2388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689;p55">
            <a:extLst>
              <a:ext uri="{FF2B5EF4-FFF2-40B4-BE49-F238E27FC236}">
                <a16:creationId xmlns:a16="http://schemas.microsoft.com/office/drawing/2014/main" id="{6FBFCD4E-F247-4D7F-BBD5-2DA6CC1F3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25" y="3757035"/>
            <a:ext cx="1782250" cy="1282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088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door Soccer Club by Slidesgo">
  <a:themeElements>
    <a:clrScheme name="Simple Light">
      <a:dk1>
        <a:srgbClr val="FFFFFF"/>
      </a:dk1>
      <a:lt1>
        <a:srgbClr val="007637"/>
      </a:lt1>
      <a:dk2>
        <a:srgbClr val="00B056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27ba3f-bf6b-4e36-982f-401b240078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EF0F6A95660A4A8A96CF00B1CF5037" ma:contentTypeVersion="8" ma:contentTypeDescription="Create a new document." ma:contentTypeScope="" ma:versionID="07112cf381e643d660836564ada6a4e4">
  <xsd:schema xmlns:xsd="http://www.w3.org/2001/XMLSchema" xmlns:xs="http://www.w3.org/2001/XMLSchema" xmlns:p="http://schemas.microsoft.com/office/2006/metadata/properties" xmlns:ns3="9427ba3f-bf6b-4e36-982f-401b240078b5" xmlns:ns4="ed82aeb9-b910-4c50-992f-22dbdd50696f" targetNamespace="http://schemas.microsoft.com/office/2006/metadata/properties" ma:root="true" ma:fieldsID="f4d5d8ac3f0c1f50cdcd6f42d32044d8" ns3:_="" ns4:_="">
    <xsd:import namespace="9427ba3f-bf6b-4e36-982f-401b240078b5"/>
    <xsd:import namespace="ed82aeb9-b910-4c50-992f-22dbdd5069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7ba3f-bf6b-4e36-982f-401b24007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2aeb9-b910-4c50-992f-22dbdd5069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2E6D98-677C-41B8-8A0A-E214B4F1B9ED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9427ba3f-bf6b-4e36-982f-401b240078b5"/>
    <ds:schemaRef ds:uri="http://schemas.microsoft.com/office/2006/documentManagement/types"/>
    <ds:schemaRef ds:uri="ed82aeb9-b910-4c50-992f-22dbdd50696f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7686E73-217C-4C92-91A5-4D2E68FA71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7ba3f-bf6b-4e36-982f-401b240078b5"/>
    <ds:schemaRef ds:uri="ed82aeb9-b910-4c50-992f-22dbdd506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09E11F-D857-4267-A6D9-2945B8F426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1395</TotalTime>
  <Words>1393</Words>
  <Application>Microsoft Office PowerPoint</Application>
  <PresentationFormat>On-screen Show (16:9)</PresentationFormat>
  <Paragraphs>237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Montserrat</vt:lpstr>
      <vt:lpstr>Montserrat ExtraBold</vt:lpstr>
      <vt:lpstr>Arial</vt:lpstr>
      <vt:lpstr>Wingdings</vt:lpstr>
      <vt:lpstr>DM Sans</vt:lpstr>
      <vt:lpstr>Lato</vt:lpstr>
      <vt:lpstr>Indoor Soccer Club by Slidesgo</vt:lpstr>
      <vt:lpstr>Optimizing the Egyptian Premier League Schedule</vt:lpstr>
      <vt:lpstr>Introduction</vt:lpstr>
      <vt:lpstr>The origin of the story </vt:lpstr>
      <vt:lpstr>The Aggravator (COVID-19)</vt:lpstr>
      <vt:lpstr>Visualizing the Disparity</vt:lpstr>
      <vt:lpstr>2024/2025 Exceptional Format</vt:lpstr>
      <vt:lpstr>Our Goal</vt:lpstr>
      <vt:lpstr>The Proposed Solution</vt:lpstr>
      <vt:lpstr>Model</vt:lpstr>
      <vt:lpstr>Background</vt:lpstr>
      <vt:lpstr>Sports Scheduling as an Optimization Problem</vt:lpstr>
      <vt:lpstr>Fairness &amp; Travel</vt:lpstr>
      <vt:lpstr>Chile Case Study</vt:lpstr>
      <vt:lpstr>The Egyptian Gap</vt:lpstr>
      <vt:lpstr>PROJECT DATA</vt:lpstr>
      <vt:lpstr>Data Collection</vt:lpstr>
      <vt:lpstr>Data Architecture</vt:lpstr>
      <vt:lpstr>Data Preprocessing</vt:lpstr>
      <vt:lpstr>Data Modeling</vt:lpstr>
      <vt:lpstr>Data Modeling</vt:lpstr>
      <vt:lpstr>Conclusion Of Phase I</vt:lpstr>
      <vt:lpstr>References</vt:lpstr>
      <vt:lpstr>Presented by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the Egyptian Premier League Schedule</dc:title>
  <dc:creator>rawan</dc:creator>
  <cp:lastModifiedBy>Ghassan Elgendy</cp:lastModifiedBy>
  <cp:revision>56</cp:revision>
  <dcterms:modified xsi:type="dcterms:W3CDTF">2026-02-11T20:07:45Z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0x01010058EF0F6A95660A4A8A96CF00B1CF5037</vt:lpwstr>
  </property>
</Properties>
</file>