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9"/>
  </p:notesMasterIdLst>
  <p:sldIdLst>
    <p:sldId id="256" r:id="rId5"/>
    <p:sldId id="261" r:id="rId6"/>
    <p:sldId id="259" r:id="rId7"/>
    <p:sldId id="315" r:id="rId8"/>
    <p:sldId id="317" r:id="rId9"/>
    <p:sldId id="316" r:id="rId10"/>
    <p:sldId id="302" r:id="rId11"/>
    <p:sldId id="262" r:id="rId12"/>
    <p:sldId id="319" r:id="rId13"/>
    <p:sldId id="303" r:id="rId14"/>
    <p:sldId id="263" r:id="rId15"/>
    <p:sldId id="305" r:id="rId16"/>
    <p:sldId id="268" r:id="rId17"/>
    <p:sldId id="304" r:id="rId18"/>
    <p:sldId id="306" r:id="rId19"/>
    <p:sldId id="307" r:id="rId20"/>
    <p:sldId id="265" r:id="rId21"/>
    <p:sldId id="310" r:id="rId22"/>
    <p:sldId id="309" r:id="rId23"/>
    <p:sldId id="313" r:id="rId24"/>
    <p:sldId id="311" r:id="rId25"/>
    <p:sldId id="318" r:id="rId26"/>
    <p:sldId id="257" r:id="rId27"/>
    <p:sldId id="314" r:id="rId28"/>
  </p:sldIdLst>
  <p:sldSz cx="9144000" cy="5143500" type="screen16x9"/>
  <p:notesSz cx="6858000" cy="9144000"/>
  <p:embeddedFontLst>
    <p:embeddedFont>
      <p:font typeface="DM Sans" panose="020B0604020202020204" charset="0"/>
      <p:regular r:id="rId30"/>
      <p:bold r:id="rId31"/>
      <p:italic r:id="rId32"/>
      <p:boldItalic r:id="rId33"/>
    </p:embeddedFont>
    <p:embeddedFont>
      <p:font typeface="Lato" panose="020F0502020204030203" pitchFamily="34" charset="0"/>
      <p:regular r:id="rId34"/>
      <p:bold r:id="rId35"/>
      <p:italic r:id="rId36"/>
      <p:boldItalic r:id="rId37"/>
    </p:embeddedFont>
    <p:embeddedFont>
      <p:font typeface="Montserrat" panose="00000500000000000000" pitchFamily="2" charset="0"/>
      <p:regular r:id="rId38"/>
      <p:bold r:id="rId39"/>
      <p:italic r:id="rId40"/>
      <p:boldItalic r:id="rId41"/>
    </p:embeddedFont>
    <p:embeddedFont>
      <p:font typeface="Montserrat ExtraBold" panose="00000900000000000000" pitchFamily="2" charset="0"/>
      <p:bold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2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042" y="72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0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font" Target="fonts/font5.fntdata"/><Relationship Id="rId42" Type="http://schemas.openxmlformats.org/officeDocument/2006/relationships/font" Target="fonts/font13.fntdata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41" Type="http://schemas.openxmlformats.org/officeDocument/2006/relationships/font" Target="fonts/font12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7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2.fntdata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font" Target="fonts/font1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477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2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80103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6837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747235F-1F6F-292F-B075-4D17AE6F4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B06ACC7B-CCC5-9974-CB49-DD5F65896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EAB6CDA7-16E4-336B-9CAA-5CDC5817E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890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9154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2956" y="866657"/>
            <a:ext cx="8302269" cy="3831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For years, league scheduling relied on manual planning, quietly accumulating issues that became impossible to ignore during Egypt’s emergency hosting of AFCON 2019.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of the story 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19200" y="-469281"/>
            <a:ext cx="8050620" cy="48474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Disruption: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COVID-19 disrupted global sport, resulting in further delays.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accumulation pushed season start dates as far back as December, creating a time deficit that was never recovered.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</p:spTree>
    <p:extLst>
      <p:ext uri="{BB962C8B-B14F-4D97-AF65-F5344CB8AC3E}">
        <p14:creationId xmlns:p14="http://schemas.microsoft.com/office/powerpoint/2010/main" val="4177559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chemeClr val="tx1"/>
                </a:solidFill>
                <a:effectLst/>
                <a:latin typeface="DM Sans" panose="020B0604020202020204" charset="0"/>
              </a:rPr>
              <a:t>This chart illustrates the 2020/2021 problem’s peak, comparing the disparity in matches played by five teams at the same point in the season.</a:t>
            </a:r>
            <a:endParaRPr lang="en-US" sz="1600" b="1" dirty="0">
              <a:solidFill>
                <a:schemeClr val="tx1"/>
              </a:solidFill>
              <a:latin typeface="DM Sans" panose="020B060402020202020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18D982-FE51-46EA-A7E3-255BCADF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01" y="1224870"/>
            <a:ext cx="4993900" cy="2693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538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916500" y="398457"/>
            <a:ext cx="749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2024/2025 Exceptional Format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04750-94B4-47C2-87E9-581FB9B6F9EC}"/>
              </a:ext>
            </a:extLst>
          </p:cNvPr>
          <p:cNvSpPr txBox="1"/>
          <p:nvPr/>
        </p:nvSpPr>
        <p:spPr>
          <a:xfrm>
            <a:off x="617035" y="1152293"/>
            <a:ext cx="8779726" cy="2490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compete in a single round-robin format (17 matches per team), with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Top 9: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Compete for the league title and continental qualification.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Bottom 9: </a:t>
            </a:r>
            <a:r>
              <a:rPr lang="en-US" altLang="en-US" sz="1600" dirty="0">
                <a:solidFill>
                  <a:schemeClr val="tx1"/>
                </a:solidFill>
                <a:latin typeface="DM Sans" pitchFamily="2" charset="0"/>
              </a:rPr>
              <a:t>Compete to avoid relegation.</a:t>
            </a: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569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6401916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Input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!!Model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Model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Output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efficient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</p:cNvCxnSpPr>
          <p:nvPr/>
        </p:nvCxnSpPr>
        <p:spPr>
          <a:xfrm rot="10800000" flipH="1" flipV="1">
            <a:off x="1024796" y="1671862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76252" y="3495034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Model">
            <a:extLst>
              <a:ext uri="{FF2B5EF4-FFF2-40B4-BE49-F238E27FC236}">
                <a16:creationId xmlns:a16="http://schemas.microsoft.com/office/drawing/2014/main" id="{AC1FC312-2BAE-C58E-111F-1C9861127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68" y="133461"/>
            <a:ext cx="7704000" cy="572700"/>
          </a:xfrm>
        </p:spPr>
        <p:txBody>
          <a:bodyPr/>
          <a:lstStyle/>
          <a:p>
            <a:r>
              <a:rPr lang="en-US" dirty="0"/>
              <a:t>Model</a:t>
            </a:r>
          </a:p>
        </p:txBody>
      </p:sp>
      <p:sp>
        <p:nvSpPr>
          <p:cNvPr id="18" name="Google Shape;365;p36">
            <a:extLst>
              <a:ext uri="{FF2B5EF4-FFF2-40B4-BE49-F238E27FC236}">
                <a16:creationId xmlns:a16="http://schemas.microsoft.com/office/drawing/2014/main" id="{7E911C9D-57B1-7EC8-FF62-0A5D7C5026CD}"/>
              </a:ext>
            </a:extLst>
          </p:cNvPr>
          <p:cNvSpPr txBox="1">
            <a:spLocks/>
          </p:cNvSpPr>
          <p:nvPr/>
        </p:nvSpPr>
        <p:spPr>
          <a:xfrm>
            <a:off x="4168833" y="1197770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Stadium Sharing 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No simultaneous matches allowed for teams sharing a home venue</a:t>
            </a:r>
          </a:p>
          <a:p>
            <a:pPr marL="596900" lvl="1">
              <a:lnSpc>
                <a:spcPct val="150000"/>
              </a:lnSpc>
              <a:buClr>
                <a:schemeClr val="tx1"/>
              </a:buClr>
            </a:pPr>
            <a:endParaRPr lang="en-US" dirty="0">
              <a:solidFill>
                <a:schemeClr val="tx1"/>
              </a:solidFill>
              <a:latin typeface="DM Sans" pitchFamily="2" charset="0"/>
            </a:endParaRP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19" name="Google Shape;367;p36">
            <a:extLst>
              <a:ext uri="{FF2B5EF4-FFF2-40B4-BE49-F238E27FC236}">
                <a16:creationId xmlns:a16="http://schemas.microsoft.com/office/drawing/2014/main" id="{C5155247-C3CE-4C46-99CD-497C96B3BD87}"/>
              </a:ext>
            </a:extLst>
          </p:cNvPr>
          <p:cNvSpPr txBox="1">
            <a:spLocks/>
          </p:cNvSpPr>
          <p:nvPr/>
        </p:nvSpPr>
        <p:spPr>
          <a:xfrm>
            <a:off x="799929" y="883022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tx1"/>
                </a:solidFill>
                <a:latin typeface="DM Sans" pitchFamily="2" charset="0"/>
              </a:rPr>
              <a:t>Objectives</a:t>
            </a:r>
          </a:p>
        </p:txBody>
      </p:sp>
      <p:sp>
        <p:nvSpPr>
          <p:cNvPr id="20" name="Google Shape;368;p36">
            <a:extLst>
              <a:ext uri="{FF2B5EF4-FFF2-40B4-BE49-F238E27FC236}">
                <a16:creationId xmlns:a16="http://schemas.microsoft.com/office/drawing/2014/main" id="{712D51C5-59FB-3C73-CEE5-ACEB5339FC9C}"/>
              </a:ext>
            </a:extLst>
          </p:cNvPr>
          <p:cNvSpPr txBox="1">
            <a:spLocks/>
          </p:cNvSpPr>
          <p:nvPr/>
        </p:nvSpPr>
        <p:spPr>
          <a:xfrm>
            <a:off x="5143373" y="883022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tx1"/>
                </a:solidFill>
                <a:latin typeface="DM Sans" pitchFamily="2" charset="0"/>
              </a:rPr>
              <a:t>Constraints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1D24BA-05FD-5269-4FF6-282C1C5A431A}"/>
              </a:ext>
            </a:extLst>
          </p:cNvPr>
          <p:cNvSpPr txBox="1"/>
          <p:nvPr/>
        </p:nvSpPr>
        <p:spPr>
          <a:xfrm>
            <a:off x="514689" y="3635942"/>
            <a:ext cx="3771794" cy="3860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Minimize Travel  Fatigue (TTP)</a:t>
            </a:r>
          </a:p>
        </p:txBody>
      </p:sp>
      <p:sp>
        <p:nvSpPr>
          <p:cNvPr id="33" name="Google Shape;8465;p67">
            <a:extLst>
              <a:ext uri="{FF2B5EF4-FFF2-40B4-BE49-F238E27FC236}">
                <a16:creationId xmlns:a16="http://schemas.microsoft.com/office/drawing/2014/main" id="{0C424A50-E1F8-B937-700B-3F9AA746FA19}"/>
              </a:ext>
            </a:extLst>
          </p:cNvPr>
          <p:cNvSpPr/>
          <p:nvPr/>
        </p:nvSpPr>
        <p:spPr>
          <a:xfrm>
            <a:off x="506627" y="928329"/>
            <a:ext cx="300037" cy="296944"/>
          </a:xfrm>
          <a:custGeom>
            <a:avLst/>
            <a:gdLst/>
            <a:ahLst/>
            <a:cxnLst/>
            <a:rect l="l" t="t" r="r" b="b"/>
            <a:pathLst>
              <a:path w="19516" h="19326" extrusionOk="0">
                <a:moveTo>
                  <a:pt x="15929" y="1934"/>
                </a:moveTo>
                <a:lnTo>
                  <a:pt x="15929" y="2834"/>
                </a:lnTo>
                <a:cubicBezTo>
                  <a:pt x="15929" y="3145"/>
                  <a:pt x="16182" y="3398"/>
                  <a:pt x="16496" y="3398"/>
                </a:cubicBezTo>
                <a:lnTo>
                  <a:pt x="17393" y="3398"/>
                </a:lnTo>
                <a:lnTo>
                  <a:pt x="16261" y="4531"/>
                </a:lnTo>
                <a:lnTo>
                  <a:pt x="14796" y="4531"/>
                </a:lnTo>
                <a:lnTo>
                  <a:pt x="14796" y="3066"/>
                </a:lnTo>
                <a:lnTo>
                  <a:pt x="15929" y="1934"/>
                </a:lnTo>
                <a:close/>
                <a:moveTo>
                  <a:pt x="9663" y="7927"/>
                </a:moveTo>
                <a:cubicBezTo>
                  <a:pt x="9926" y="7927"/>
                  <a:pt x="10183" y="7991"/>
                  <a:pt x="10418" y="8109"/>
                </a:cubicBezTo>
                <a:lnTo>
                  <a:pt x="9262" y="9262"/>
                </a:lnTo>
                <a:cubicBezTo>
                  <a:pt x="9041" y="9485"/>
                  <a:pt x="9041" y="9842"/>
                  <a:pt x="9262" y="10065"/>
                </a:cubicBezTo>
                <a:cubicBezTo>
                  <a:pt x="9372" y="10175"/>
                  <a:pt x="9517" y="10231"/>
                  <a:pt x="9662" y="10231"/>
                </a:cubicBezTo>
                <a:cubicBezTo>
                  <a:pt x="9807" y="10231"/>
                  <a:pt x="9952" y="10175"/>
                  <a:pt x="10062" y="10065"/>
                </a:cubicBezTo>
                <a:lnTo>
                  <a:pt x="11218" y="8909"/>
                </a:lnTo>
                <a:cubicBezTo>
                  <a:pt x="11336" y="9141"/>
                  <a:pt x="11399" y="9401"/>
                  <a:pt x="11399" y="9664"/>
                </a:cubicBezTo>
                <a:cubicBezTo>
                  <a:pt x="11399" y="10585"/>
                  <a:pt x="10605" y="11364"/>
                  <a:pt x="9663" y="11364"/>
                </a:cubicBezTo>
                <a:cubicBezTo>
                  <a:pt x="8721" y="11364"/>
                  <a:pt x="7927" y="10585"/>
                  <a:pt x="7927" y="9664"/>
                </a:cubicBezTo>
                <a:cubicBezTo>
                  <a:pt x="7927" y="8722"/>
                  <a:pt x="8721" y="7927"/>
                  <a:pt x="9663" y="7927"/>
                </a:cubicBezTo>
                <a:close/>
                <a:moveTo>
                  <a:pt x="9663" y="5663"/>
                </a:moveTo>
                <a:cubicBezTo>
                  <a:pt x="10527" y="5666"/>
                  <a:pt x="11363" y="5953"/>
                  <a:pt x="12049" y="6478"/>
                </a:cubicBezTo>
                <a:lnTo>
                  <a:pt x="11242" y="7287"/>
                </a:lnTo>
                <a:cubicBezTo>
                  <a:pt x="10777" y="6967"/>
                  <a:pt x="10228" y="6798"/>
                  <a:pt x="9663" y="6795"/>
                </a:cubicBezTo>
                <a:cubicBezTo>
                  <a:pt x="8108" y="6795"/>
                  <a:pt x="6795" y="8109"/>
                  <a:pt x="6795" y="9664"/>
                </a:cubicBezTo>
                <a:cubicBezTo>
                  <a:pt x="6795" y="10422"/>
                  <a:pt x="7103" y="11143"/>
                  <a:pt x="7649" y="11669"/>
                </a:cubicBezTo>
                <a:cubicBezTo>
                  <a:pt x="8208" y="12220"/>
                  <a:pt x="8935" y="12495"/>
                  <a:pt x="9663" y="12495"/>
                </a:cubicBezTo>
                <a:cubicBezTo>
                  <a:pt x="10391" y="12495"/>
                  <a:pt x="11119" y="12220"/>
                  <a:pt x="11677" y="11669"/>
                </a:cubicBezTo>
                <a:cubicBezTo>
                  <a:pt x="12224" y="11143"/>
                  <a:pt x="12532" y="10422"/>
                  <a:pt x="12532" y="9664"/>
                </a:cubicBezTo>
                <a:cubicBezTo>
                  <a:pt x="12529" y="9099"/>
                  <a:pt x="12360" y="8549"/>
                  <a:pt x="12043" y="8084"/>
                </a:cubicBezTo>
                <a:lnTo>
                  <a:pt x="12849" y="7278"/>
                </a:lnTo>
                <a:cubicBezTo>
                  <a:pt x="13374" y="7964"/>
                  <a:pt x="13661" y="8800"/>
                  <a:pt x="13664" y="9664"/>
                </a:cubicBezTo>
                <a:cubicBezTo>
                  <a:pt x="13664" y="11850"/>
                  <a:pt x="11870" y="13628"/>
                  <a:pt x="9663" y="13628"/>
                </a:cubicBezTo>
                <a:cubicBezTo>
                  <a:pt x="7456" y="13628"/>
                  <a:pt x="5662" y="11850"/>
                  <a:pt x="5662" y="9664"/>
                </a:cubicBezTo>
                <a:cubicBezTo>
                  <a:pt x="5662" y="7496"/>
                  <a:pt x="7495" y="5663"/>
                  <a:pt x="9663" y="5663"/>
                </a:cubicBezTo>
                <a:close/>
                <a:moveTo>
                  <a:pt x="9676" y="3398"/>
                </a:moveTo>
                <a:cubicBezTo>
                  <a:pt x="11130" y="3398"/>
                  <a:pt x="12541" y="3902"/>
                  <a:pt x="13664" y="4826"/>
                </a:cubicBezTo>
                <a:lnTo>
                  <a:pt x="13664" y="4863"/>
                </a:lnTo>
                <a:lnTo>
                  <a:pt x="12861" y="5663"/>
                </a:lnTo>
                <a:cubicBezTo>
                  <a:pt x="11911" y="4901"/>
                  <a:pt x="10770" y="4528"/>
                  <a:pt x="9634" y="4528"/>
                </a:cubicBezTo>
                <a:cubicBezTo>
                  <a:pt x="8214" y="4528"/>
                  <a:pt x="6803" y="5111"/>
                  <a:pt x="5786" y="6246"/>
                </a:cubicBezTo>
                <a:cubicBezTo>
                  <a:pt x="3959" y="8287"/>
                  <a:pt x="4047" y="11403"/>
                  <a:pt x="5985" y="13341"/>
                </a:cubicBezTo>
                <a:cubicBezTo>
                  <a:pt x="6991" y="14346"/>
                  <a:pt x="8313" y="14852"/>
                  <a:pt x="9638" y="14852"/>
                </a:cubicBezTo>
                <a:cubicBezTo>
                  <a:pt x="10866" y="14852"/>
                  <a:pt x="12096" y="14417"/>
                  <a:pt x="13078" y="13538"/>
                </a:cubicBezTo>
                <a:cubicBezTo>
                  <a:pt x="15119" y="11711"/>
                  <a:pt x="15376" y="8604"/>
                  <a:pt x="13664" y="6463"/>
                </a:cubicBezTo>
                <a:lnTo>
                  <a:pt x="14464" y="5663"/>
                </a:lnTo>
                <a:lnTo>
                  <a:pt x="14503" y="5663"/>
                </a:lnTo>
                <a:cubicBezTo>
                  <a:pt x="15430" y="6789"/>
                  <a:pt x="15935" y="8205"/>
                  <a:pt x="15929" y="9664"/>
                </a:cubicBezTo>
                <a:cubicBezTo>
                  <a:pt x="15929" y="13100"/>
                  <a:pt x="13117" y="15893"/>
                  <a:pt x="9663" y="15893"/>
                </a:cubicBezTo>
                <a:cubicBezTo>
                  <a:pt x="6209" y="15893"/>
                  <a:pt x="3398" y="13100"/>
                  <a:pt x="3398" y="9664"/>
                </a:cubicBezTo>
                <a:cubicBezTo>
                  <a:pt x="3398" y="6209"/>
                  <a:pt x="6209" y="3398"/>
                  <a:pt x="9663" y="3398"/>
                </a:cubicBezTo>
                <a:cubicBezTo>
                  <a:pt x="9668" y="3398"/>
                  <a:pt x="9672" y="3398"/>
                  <a:pt x="9676" y="3398"/>
                </a:cubicBezTo>
                <a:close/>
                <a:moveTo>
                  <a:pt x="9663" y="1134"/>
                </a:moveTo>
                <a:cubicBezTo>
                  <a:pt x="11176" y="1134"/>
                  <a:pt x="12661" y="1532"/>
                  <a:pt x="13975" y="2287"/>
                </a:cubicBezTo>
                <a:lnTo>
                  <a:pt x="13830" y="2432"/>
                </a:lnTo>
                <a:cubicBezTo>
                  <a:pt x="13724" y="2538"/>
                  <a:pt x="13664" y="2683"/>
                  <a:pt x="13664" y="2834"/>
                </a:cubicBezTo>
                <a:lnTo>
                  <a:pt x="13664" y="3428"/>
                </a:lnTo>
                <a:cubicBezTo>
                  <a:pt x="12473" y="2670"/>
                  <a:pt x="11090" y="2266"/>
                  <a:pt x="9679" y="2266"/>
                </a:cubicBezTo>
                <a:cubicBezTo>
                  <a:pt x="9674" y="2266"/>
                  <a:pt x="9668" y="2266"/>
                  <a:pt x="9663" y="2266"/>
                </a:cubicBezTo>
                <a:cubicBezTo>
                  <a:pt x="7701" y="2266"/>
                  <a:pt x="5847" y="3039"/>
                  <a:pt x="4443" y="4443"/>
                </a:cubicBezTo>
                <a:cubicBezTo>
                  <a:pt x="3039" y="5847"/>
                  <a:pt x="2266" y="7701"/>
                  <a:pt x="2266" y="9664"/>
                </a:cubicBezTo>
                <a:cubicBezTo>
                  <a:pt x="2266" y="11626"/>
                  <a:pt x="3039" y="13474"/>
                  <a:pt x="4443" y="14866"/>
                </a:cubicBezTo>
                <a:cubicBezTo>
                  <a:pt x="5886" y="16305"/>
                  <a:pt x="7775" y="17024"/>
                  <a:pt x="9663" y="17024"/>
                </a:cubicBezTo>
                <a:cubicBezTo>
                  <a:pt x="11552" y="17024"/>
                  <a:pt x="13441" y="16305"/>
                  <a:pt x="14884" y="14866"/>
                </a:cubicBezTo>
                <a:cubicBezTo>
                  <a:pt x="16288" y="13474"/>
                  <a:pt x="17061" y="11626"/>
                  <a:pt x="17061" y="9664"/>
                </a:cubicBezTo>
                <a:cubicBezTo>
                  <a:pt x="17064" y="8248"/>
                  <a:pt x="16659" y="6859"/>
                  <a:pt x="15898" y="5663"/>
                </a:cubicBezTo>
                <a:lnTo>
                  <a:pt x="16496" y="5663"/>
                </a:lnTo>
                <a:cubicBezTo>
                  <a:pt x="16644" y="5663"/>
                  <a:pt x="16789" y="5602"/>
                  <a:pt x="16895" y="5497"/>
                </a:cubicBezTo>
                <a:lnTo>
                  <a:pt x="17040" y="5352"/>
                </a:lnTo>
                <a:cubicBezTo>
                  <a:pt x="17795" y="6665"/>
                  <a:pt x="18193" y="8151"/>
                  <a:pt x="18193" y="9664"/>
                </a:cubicBezTo>
                <a:cubicBezTo>
                  <a:pt x="18193" y="14368"/>
                  <a:pt x="14367" y="18194"/>
                  <a:pt x="9663" y="18194"/>
                </a:cubicBezTo>
                <a:cubicBezTo>
                  <a:pt x="4959" y="18194"/>
                  <a:pt x="1133" y="14368"/>
                  <a:pt x="1133" y="9664"/>
                </a:cubicBezTo>
                <a:cubicBezTo>
                  <a:pt x="1133" y="4959"/>
                  <a:pt x="4959" y="1134"/>
                  <a:pt x="9663" y="1134"/>
                </a:cubicBezTo>
                <a:close/>
                <a:moveTo>
                  <a:pt x="16491" y="0"/>
                </a:moveTo>
                <a:cubicBezTo>
                  <a:pt x="16352" y="0"/>
                  <a:pt x="16210" y="52"/>
                  <a:pt x="16095" y="167"/>
                </a:cubicBezTo>
                <a:lnTo>
                  <a:pt x="14799" y="1463"/>
                </a:lnTo>
                <a:cubicBezTo>
                  <a:pt x="13256" y="509"/>
                  <a:pt x="11478" y="4"/>
                  <a:pt x="9663" y="1"/>
                </a:cubicBezTo>
                <a:cubicBezTo>
                  <a:pt x="7094" y="1"/>
                  <a:pt x="4669" y="1010"/>
                  <a:pt x="2839" y="2840"/>
                </a:cubicBezTo>
                <a:cubicBezTo>
                  <a:pt x="1009" y="4669"/>
                  <a:pt x="1" y="7094"/>
                  <a:pt x="1" y="9664"/>
                </a:cubicBezTo>
                <a:cubicBezTo>
                  <a:pt x="1" y="12233"/>
                  <a:pt x="1009" y="14658"/>
                  <a:pt x="2839" y="16488"/>
                </a:cubicBezTo>
                <a:cubicBezTo>
                  <a:pt x="4669" y="18317"/>
                  <a:pt x="7094" y="19326"/>
                  <a:pt x="9663" y="19326"/>
                </a:cubicBezTo>
                <a:cubicBezTo>
                  <a:pt x="12233" y="19326"/>
                  <a:pt x="14657" y="18317"/>
                  <a:pt x="16487" y="16488"/>
                </a:cubicBezTo>
                <a:cubicBezTo>
                  <a:pt x="18317" y="14658"/>
                  <a:pt x="19325" y="12233"/>
                  <a:pt x="19325" y="9664"/>
                </a:cubicBezTo>
                <a:cubicBezTo>
                  <a:pt x="19322" y="7849"/>
                  <a:pt x="18818" y="6070"/>
                  <a:pt x="17864" y="4528"/>
                </a:cubicBezTo>
                <a:lnTo>
                  <a:pt x="19159" y="3232"/>
                </a:lnTo>
                <a:cubicBezTo>
                  <a:pt x="19516" y="2876"/>
                  <a:pt x="19265" y="2266"/>
                  <a:pt x="18761" y="2266"/>
                </a:cubicBezTo>
                <a:lnTo>
                  <a:pt x="17061" y="2266"/>
                </a:lnTo>
                <a:lnTo>
                  <a:pt x="17061" y="569"/>
                </a:lnTo>
                <a:cubicBezTo>
                  <a:pt x="17061" y="226"/>
                  <a:pt x="16782" y="0"/>
                  <a:pt x="1649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8" name="Google Shape;8894;p68">
            <a:extLst>
              <a:ext uri="{FF2B5EF4-FFF2-40B4-BE49-F238E27FC236}">
                <a16:creationId xmlns:a16="http://schemas.microsoft.com/office/drawing/2014/main" id="{6276CA8F-2CAA-600E-C0F6-9D9430273DF0}"/>
              </a:ext>
            </a:extLst>
          </p:cNvPr>
          <p:cNvGrpSpPr/>
          <p:nvPr/>
        </p:nvGrpSpPr>
        <p:grpSpPr>
          <a:xfrm>
            <a:off x="4795245" y="866871"/>
            <a:ext cx="354136" cy="334348"/>
            <a:chOff x="-25844850" y="2357750"/>
            <a:chExt cx="296175" cy="279625"/>
          </a:xfrm>
          <a:solidFill>
            <a:schemeClr val="tx1">
              <a:lumMod val="95000"/>
            </a:schemeClr>
          </a:solidFill>
        </p:grpSpPr>
        <p:sp>
          <p:nvSpPr>
            <p:cNvPr id="39" name="Google Shape;8895;p68">
              <a:extLst>
                <a:ext uri="{FF2B5EF4-FFF2-40B4-BE49-F238E27FC236}">
                  <a16:creationId xmlns:a16="http://schemas.microsoft.com/office/drawing/2014/main" id="{9C95C29F-BC39-A94D-69E4-D43F3ADCFD9B}"/>
                </a:ext>
              </a:extLst>
            </p:cNvPr>
            <p:cNvSpPr/>
            <p:nvPr/>
          </p:nvSpPr>
          <p:spPr>
            <a:xfrm>
              <a:off x="-25792075" y="2428625"/>
              <a:ext cx="191425" cy="208750"/>
            </a:xfrm>
            <a:custGeom>
              <a:avLst/>
              <a:gdLst/>
              <a:ahLst/>
              <a:cxnLst/>
              <a:rect l="l" t="t" r="r" b="b"/>
              <a:pathLst>
                <a:path w="7657" h="8350" extrusionOk="0">
                  <a:moveTo>
                    <a:pt x="3781" y="2773"/>
                  </a:moveTo>
                  <a:cubicBezTo>
                    <a:pt x="3970" y="2773"/>
                    <a:pt x="4128" y="2931"/>
                    <a:pt x="4128" y="3120"/>
                  </a:cubicBezTo>
                  <a:cubicBezTo>
                    <a:pt x="4128" y="3309"/>
                    <a:pt x="3970" y="3466"/>
                    <a:pt x="3781" y="3466"/>
                  </a:cubicBezTo>
                  <a:cubicBezTo>
                    <a:pt x="3592" y="3466"/>
                    <a:pt x="3435" y="3309"/>
                    <a:pt x="3435" y="3120"/>
                  </a:cubicBezTo>
                  <a:cubicBezTo>
                    <a:pt x="3435" y="2931"/>
                    <a:pt x="3592" y="2773"/>
                    <a:pt x="3781" y="2773"/>
                  </a:cubicBezTo>
                  <a:close/>
                  <a:moveTo>
                    <a:pt x="3813" y="694"/>
                  </a:moveTo>
                  <a:cubicBezTo>
                    <a:pt x="5167" y="694"/>
                    <a:pt x="6270" y="1796"/>
                    <a:pt x="6270" y="3120"/>
                  </a:cubicBezTo>
                  <a:lnTo>
                    <a:pt x="6270" y="6239"/>
                  </a:lnTo>
                  <a:lnTo>
                    <a:pt x="4191" y="6239"/>
                  </a:lnTo>
                  <a:lnTo>
                    <a:pt x="4191" y="4096"/>
                  </a:lnTo>
                  <a:cubicBezTo>
                    <a:pt x="4569" y="3939"/>
                    <a:pt x="4884" y="3592"/>
                    <a:pt x="4884" y="3120"/>
                  </a:cubicBezTo>
                  <a:cubicBezTo>
                    <a:pt x="4884" y="2521"/>
                    <a:pt x="4411" y="2111"/>
                    <a:pt x="3876" y="2111"/>
                  </a:cubicBezTo>
                  <a:cubicBezTo>
                    <a:pt x="3277" y="2111"/>
                    <a:pt x="2836" y="2584"/>
                    <a:pt x="2836" y="3120"/>
                  </a:cubicBezTo>
                  <a:cubicBezTo>
                    <a:pt x="2836" y="3561"/>
                    <a:pt x="3120" y="3939"/>
                    <a:pt x="3561" y="4096"/>
                  </a:cubicBezTo>
                  <a:lnTo>
                    <a:pt x="3561" y="6239"/>
                  </a:lnTo>
                  <a:lnTo>
                    <a:pt x="1450" y="6239"/>
                  </a:lnTo>
                  <a:lnTo>
                    <a:pt x="1450" y="3120"/>
                  </a:lnTo>
                  <a:lnTo>
                    <a:pt x="1387" y="3120"/>
                  </a:lnTo>
                  <a:cubicBezTo>
                    <a:pt x="1387" y="1796"/>
                    <a:pt x="2489" y="694"/>
                    <a:pt x="3813" y="694"/>
                  </a:cubicBezTo>
                  <a:close/>
                  <a:moveTo>
                    <a:pt x="6585" y="6932"/>
                  </a:moveTo>
                  <a:cubicBezTo>
                    <a:pt x="6774" y="6932"/>
                    <a:pt x="6932" y="7089"/>
                    <a:pt x="6932" y="7310"/>
                  </a:cubicBezTo>
                  <a:lnTo>
                    <a:pt x="6932" y="7625"/>
                  </a:lnTo>
                  <a:lnTo>
                    <a:pt x="662" y="7625"/>
                  </a:lnTo>
                  <a:lnTo>
                    <a:pt x="662" y="7310"/>
                  </a:lnTo>
                  <a:cubicBezTo>
                    <a:pt x="662" y="7089"/>
                    <a:pt x="820" y="6932"/>
                    <a:pt x="1040" y="6932"/>
                  </a:cubicBezTo>
                  <a:close/>
                  <a:moveTo>
                    <a:pt x="3813" y="1"/>
                  </a:moveTo>
                  <a:cubicBezTo>
                    <a:pt x="2080" y="1"/>
                    <a:pt x="725" y="1418"/>
                    <a:pt x="725" y="3120"/>
                  </a:cubicBezTo>
                  <a:lnTo>
                    <a:pt x="725" y="6302"/>
                  </a:lnTo>
                  <a:cubicBezTo>
                    <a:pt x="316" y="6459"/>
                    <a:pt x="1" y="6837"/>
                    <a:pt x="1" y="7310"/>
                  </a:cubicBezTo>
                  <a:lnTo>
                    <a:pt x="1" y="8003"/>
                  </a:lnTo>
                  <a:cubicBezTo>
                    <a:pt x="1" y="8192"/>
                    <a:pt x="158" y="8349"/>
                    <a:pt x="347" y="8349"/>
                  </a:cubicBezTo>
                  <a:lnTo>
                    <a:pt x="7278" y="8349"/>
                  </a:lnTo>
                  <a:cubicBezTo>
                    <a:pt x="7499" y="8349"/>
                    <a:pt x="7656" y="8192"/>
                    <a:pt x="7656" y="8003"/>
                  </a:cubicBezTo>
                  <a:lnTo>
                    <a:pt x="7656" y="7310"/>
                  </a:lnTo>
                  <a:cubicBezTo>
                    <a:pt x="7593" y="6837"/>
                    <a:pt x="7341" y="6428"/>
                    <a:pt x="6932" y="6302"/>
                  </a:cubicBezTo>
                  <a:lnTo>
                    <a:pt x="6932" y="3120"/>
                  </a:lnTo>
                  <a:cubicBezTo>
                    <a:pt x="6932" y="1387"/>
                    <a:pt x="5514" y="1"/>
                    <a:pt x="381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0" name="Google Shape;8896;p68">
              <a:extLst>
                <a:ext uri="{FF2B5EF4-FFF2-40B4-BE49-F238E27FC236}">
                  <a16:creationId xmlns:a16="http://schemas.microsoft.com/office/drawing/2014/main" id="{6C2B765E-E44A-99C6-7723-7AFAF5820D96}"/>
                </a:ext>
              </a:extLst>
            </p:cNvPr>
            <p:cNvSpPr/>
            <p:nvPr/>
          </p:nvSpPr>
          <p:spPr>
            <a:xfrm>
              <a:off x="-25602250" y="2497950"/>
              <a:ext cx="53575" cy="17350"/>
            </a:xfrm>
            <a:custGeom>
              <a:avLst/>
              <a:gdLst/>
              <a:ahLst/>
              <a:cxnLst/>
              <a:rect l="l" t="t" r="r" b="b"/>
              <a:pathLst>
                <a:path w="2143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lnTo>
                    <a:pt x="1796" y="693"/>
                  </a:lnTo>
                  <a:cubicBezTo>
                    <a:pt x="1985" y="693"/>
                    <a:pt x="2143" y="536"/>
                    <a:pt x="2143" y="347"/>
                  </a:cubicBez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1" name="Google Shape;8897;p68">
              <a:extLst>
                <a:ext uri="{FF2B5EF4-FFF2-40B4-BE49-F238E27FC236}">
                  <a16:creationId xmlns:a16="http://schemas.microsoft.com/office/drawing/2014/main" id="{25C8891F-CA6F-2B2B-E778-7FA7CAC927B2}"/>
                </a:ext>
              </a:extLst>
            </p:cNvPr>
            <p:cNvSpPr/>
            <p:nvPr/>
          </p:nvSpPr>
          <p:spPr>
            <a:xfrm>
              <a:off x="-25844850" y="2497950"/>
              <a:ext cx="52800" cy="17350"/>
            </a:xfrm>
            <a:custGeom>
              <a:avLst/>
              <a:gdLst/>
              <a:ahLst/>
              <a:cxnLst/>
              <a:rect l="l" t="t" r="r" b="b"/>
              <a:pathLst>
                <a:path w="2112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1765" y="693"/>
                  </a:lnTo>
                  <a:cubicBezTo>
                    <a:pt x="1954" y="693"/>
                    <a:pt x="2112" y="536"/>
                    <a:pt x="2112" y="347"/>
                  </a:cubicBezTo>
                  <a:cubicBezTo>
                    <a:pt x="2080" y="158"/>
                    <a:pt x="1923" y="0"/>
                    <a:pt x="17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2" name="Google Shape;8898;p68">
              <a:extLst>
                <a:ext uri="{FF2B5EF4-FFF2-40B4-BE49-F238E27FC236}">
                  <a16:creationId xmlns:a16="http://schemas.microsoft.com/office/drawing/2014/main" id="{E25AD478-DB20-6BCC-81A6-A2C3FB2D3159}"/>
                </a:ext>
              </a:extLst>
            </p:cNvPr>
            <p:cNvSpPr/>
            <p:nvPr/>
          </p:nvSpPr>
          <p:spPr>
            <a:xfrm>
              <a:off x="-25706225" y="2357750"/>
              <a:ext cx="17350" cy="53575"/>
            </a:xfrm>
            <a:custGeom>
              <a:avLst/>
              <a:gdLst/>
              <a:ahLst/>
              <a:cxnLst/>
              <a:rect l="l" t="t" r="r" b="b"/>
              <a:pathLst>
                <a:path w="694" h="2143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64"/>
                  </a:lnTo>
                  <a:cubicBezTo>
                    <a:pt x="1" y="1985"/>
                    <a:pt x="158" y="2143"/>
                    <a:pt x="347" y="2143"/>
                  </a:cubicBezTo>
                  <a:cubicBezTo>
                    <a:pt x="536" y="2143"/>
                    <a:pt x="694" y="1985"/>
                    <a:pt x="694" y="1764"/>
                  </a:cubicBez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3" name="Google Shape;8899;p68">
              <a:extLst>
                <a:ext uri="{FF2B5EF4-FFF2-40B4-BE49-F238E27FC236}">
                  <a16:creationId xmlns:a16="http://schemas.microsoft.com/office/drawing/2014/main" id="{59661993-21AD-E360-40CD-6D6872E6F8F8}"/>
                </a:ext>
              </a:extLst>
            </p:cNvPr>
            <p:cNvSpPr/>
            <p:nvPr/>
          </p:nvSpPr>
          <p:spPr>
            <a:xfrm>
              <a:off x="-25804675" y="2400275"/>
              <a:ext cx="42550" cy="41775"/>
            </a:xfrm>
            <a:custGeom>
              <a:avLst/>
              <a:gdLst/>
              <a:ahLst/>
              <a:cxnLst/>
              <a:rect l="l" t="t" r="r" b="b"/>
              <a:pathLst>
                <a:path w="1702" h="1671" extrusionOk="0">
                  <a:moveTo>
                    <a:pt x="351" y="0"/>
                  </a:moveTo>
                  <a:cubicBezTo>
                    <a:pt x="260" y="0"/>
                    <a:pt x="174" y="32"/>
                    <a:pt x="127" y="95"/>
                  </a:cubicBezTo>
                  <a:cubicBezTo>
                    <a:pt x="0" y="189"/>
                    <a:pt x="0" y="442"/>
                    <a:pt x="127" y="568"/>
                  </a:cubicBezTo>
                  <a:lnTo>
                    <a:pt x="1103" y="1544"/>
                  </a:lnTo>
                  <a:cubicBezTo>
                    <a:pt x="1166" y="1607"/>
                    <a:pt x="1261" y="1670"/>
                    <a:pt x="1324" y="1670"/>
                  </a:cubicBezTo>
                  <a:cubicBezTo>
                    <a:pt x="1418" y="1670"/>
                    <a:pt x="1544" y="1607"/>
                    <a:pt x="1576" y="1544"/>
                  </a:cubicBezTo>
                  <a:cubicBezTo>
                    <a:pt x="1702" y="1418"/>
                    <a:pt x="1702" y="1198"/>
                    <a:pt x="1576" y="1072"/>
                  </a:cubicBezTo>
                  <a:lnTo>
                    <a:pt x="599" y="95"/>
                  </a:lnTo>
                  <a:cubicBezTo>
                    <a:pt x="536" y="32"/>
                    <a:pt x="442" y="0"/>
                    <a:pt x="3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4" name="Google Shape;8900;p68">
              <a:extLst>
                <a:ext uri="{FF2B5EF4-FFF2-40B4-BE49-F238E27FC236}">
                  <a16:creationId xmlns:a16="http://schemas.microsoft.com/office/drawing/2014/main" id="{9DB09741-20AE-EC4A-C649-832160557183}"/>
                </a:ext>
              </a:extLst>
            </p:cNvPr>
            <p:cNvSpPr/>
            <p:nvPr/>
          </p:nvSpPr>
          <p:spPr>
            <a:xfrm>
              <a:off x="-25632175" y="2400275"/>
              <a:ext cx="41750" cy="41775"/>
            </a:xfrm>
            <a:custGeom>
              <a:avLst/>
              <a:gdLst/>
              <a:ahLst/>
              <a:cxnLst/>
              <a:rect l="l" t="t" r="r" b="b"/>
              <a:pathLst>
                <a:path w="1670" h="1671" extrusionOk="0">
                  <a:moveTo>
                    <a:pt x="1327" y="0"/>
                  </a:moveTo>
                  <a:cubicBezTo>
                    <a:pt x="1237" y="0"/>
                    <a:pt x="1150" y="32"/>
                    <a:pt x="1103" y="95"/>
                  </a:cubicBezTo>
                  <a:lnTo>
                    <a:pt x="95" y="1072"/>
                  </a:lnTo>
                  <a:cubicBezTo>
                    <a:pt x="0" y="1198"/>
                    <a:pt x="0" y="1418"/>
                    <a:pt x="95" y="1544"/>
                  </a:cubicBezTo>
                  <a:cubicBezTo>
                    <a:pt x="158" y="1607"/>
                    <a:pt x="252" y="1670"/>
                    <a:pt x="347" y="1670"/>
                  </a:cubicBezTo>
                  <a:cubicBezTo>
                    <a:pt x="410" y="1670"/>
                    <a:pt x="536" y="1607"/>
                    <a:pt x="567" y="1544"/>
                  </a:cubicBezTo>
                  <a:lnTo>
                    <a:pt x="1575" y="568"/>
                  </a:lnTo>
                  <a:cubicBezTo>
                    <a:pt x="1670" y="442"/>
                    <a:pt x="1670" y="189"/>
                    <a:pt x="1575" y="95"/>
                  </a:cubicBezTo>
                  <a:cubicBezTo>
                    <a:pt x="1512" y="32"/>
                    <a:pt x="1418" y="0"/>
                    <a:pt x="132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CEB3D9E-BD28-189C-40BC-598B3DBDB21E}"/>
              </a:ext>
            </a:extLst>
          </p:cNvPr>
          <p:cNvSpPr txBox="1"/>
          <p:nvPr/>
        </p:nvSpPr>
        <p:spPr>
          <a:xfrm>
            <a:off x="506627" y="1995359"/>
            <a:ext cx="4034489" cy="1668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Maximize Fairness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Enforce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simultaneous kick-offs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 the final critical rounds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Balance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rest days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between opponents to ensure equity</a:t>
            </a: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912519-9CD7-3C7B-60D7-2520A50766E7}"/>
              </a:ext>
            </a:extLst>
          </p:cNvPr>
          <p:cNvSpPr txBox="1"/>
          <p:nvPr/>
        </p:nvSpPr>
        <p:spPr>
          <a:xfrm>
            <a:off x="514689" y="1313822"/>
            <a:ext cx="4154906" cy="7091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Maximize Commercial Value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Important matches in prime-time weekend</a:t>
            </a:r>
          </a:p>
        </p:txBody>
      </p:sp>
      <p:sp>
        <p:nvSpPr>
          <p:cNvPr id="55" name="Google Shape;365;p36">
            <a:extLst>
              <a:ext uri="{FF2B5EF4-FFF2-40B4-BE49-F238E27FC236}">
                <a16:creationId xmlns:a16="http://schemas.microsoft.com/office/drawing/2014/main" id="{1F66A6B1-2A53-6F35-8CC0-F98CCF2BEE05}"/>
              </a:ext>
            </a:extLst>
          </p:cNvPr>
          <p:cNvSpPr txBox="1">
            <a:spLocks/>
          </p:cNvSpPr>
          <p:nvPr/>
        </p:nvSpPr>
        <p:spPr>
          <a:xfrm>
            <a:off x="4168795" y="2092326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Continental Blockers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Mandatory  ± 3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day buffer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around any CAF</a:t>
            </a:r>
          </a:p>
        </p:txBody>
      </p:sp>
      <p:sp>
        <p:nvSpPr>
          <p:cNvPr id="59" name="Google Shape;365;p36">
            <a:extLst>
              <a:ext uri="{FF2B5EF4-FFF2-40B4-BE49-F238E27FC236}">
                <a16:creationId xmlns:a16="http://schemas.microsoft.com/office/drawing/2014/main" id="{60A144D4-7122-FE5A-F1D4-6D2BE7ED9A29}"/>
              </a:ext>
            </a:extLst>
          </p:cNvPr>
          <p:cNvSpPr txBox="1">
            <a:spLocks/>
          </p:cNvSpPr>
          <p:nvPr/>
        </p:nvSpPr>
        <p:spPr>
          <a:xfrm>
            <a:off x="4173210" y="2754129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Security Matrix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High-risk matchups must be in neutral venues</a:t>
            </a:r>
          </a:p>
          <a:p>
            <a:pPr marL="596900" lvl="1">
              <a:lnSpc>
                <a:spcPct val="150000"/>
              </a:lnSpc>
            </a:pP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60" name="Google Shape;365;p36">
            <a:extLst>
              <a:ext uri="{FF2B5EF4-FFF2-40B4-BE49-F238E27FC236}">
                <a16:creationId xmlns:a16="http://schemas.microsoft.com/office/drawing/2014/main" id="{D23261F5-39CF-E1F9-C78D-CC4BB4FBF8AC}"/>
              </a:ext>
            </a:extLst>
          </p:cNvPr>
          <p:cNvSpPr txBox="1">
            <a:spLocks/>
          </p:cNvSpPr>
          <p:nvPr/>
        </p:nvSpPr>
        <p:spPr>
          <a:xfrm>
            <a:off x="4168795" y="3494869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League Structure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Every team plays exactly </a:t>
            </a:r>
            <a:r>
              <a:rPr lang="en-US" b="1" i="1" dirty="0">
                <a:solidFill>
                  <a:schemeClr val="tx1"/>
                </a:solidFill>
                <a:latin typeface="DM Sans" pitchFamily="2" charset="0"/>
              </a:rPr>
              <a:t>one match per Game Week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(Double Round Robin integrity)</a:t>
            </a: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9965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p"/>
      <p:bldP spid="19" grpId="0" build="p"/>
      <p:bldP spid="20" grpId="0" build="p"/>
      <p:bldP spid="21" grpId="0"/>
      <p:bldP spid="33" grpId="0" animBg="1"/>
      <p:bldP spid="46" grpId="0"/>
      <p:bldP spid="50" grpId="0"/>
      <p:bldP spid="55" grpId="0" uiExpand="1" build="p"/>
      <p:bldP spid="59" grpId="0" build="p"/>
      <p:bldP spid="60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7" presetClass="emph" presetSubtype="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5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  <p:bldP spid="33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1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2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3"/>
          </p:nvPr>
        </p:nvSpPr>
        <p:spPr>
          <a:xfrm>
            <a:off x="2519621" y="2537446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200" b="1" dirty="0"/>
              <a:t>NP-hard problem</a:t>
            </a:r>
            <a:endParaRPr sz="22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4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5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In the EPL:</a:t>
            </a:r>
            <a:endParaRPr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47743 0 L -0.22743 0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022E-16 -0.25 L -1.11022E-16 4.44444E-6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750"/>
                            </p:stCondLst>
                            <p:childTnLst>
                              <p:par>
                                <p:cTn id="31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5 3.7037E-7 L -2.77778E-6 3.7037E-7 " pathEditMode="relative" rAng="0" ptsTypes="AA">
                                      <p:cBhvr>
                                        <p:cTn id="51" dur="500" fill="hold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5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75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6" grpId="0" build="p"/>
      <p:bldP spid="367" grpId="0" build="p"/>
      <p:bldP spid="367" grpId="1" build="p"/>
      <p:bldP spid="368" grpId="1" build="p"/>
      <p:bldP spid="368" grpId="2" build="p"/>
      <p:bldP spid="369" grpId="0" build="p"/>
      <p:bldP spid="369" grpId="1" build="p"/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Patterns &amp; Breaks</a:t>
            </a:r>
            <a:endParaRPr sz="2000" b="1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Travel &amp; TTP</a:t>
            </a:r>
            <a:endParaRPr sz="20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ccel="37000" decel="5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7" grpId="0" build="p"/>
      <p:bldP spid="368" grpId="0" build="p"/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1761977"/>
            <a:ext cx="38592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2800962"/>
            <a:ext cx="41767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50919" y="3846891"/>
            <a:ext cx="4586287" cy="8366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320485" y="280096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320485" y="1714906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281903" y="3918153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" name="Google Shape;463;p41">
            <a:extLst>
              <a:ext uri="{FF2B5EF4-FFF2-40B4-BE49-F238E27FC236}">
                <a16:creationId xmlns:a16="http://schemas.microsoft.com/office/drawing/2014/main" id="{5672FF64-510C-B3AF-8A69-896BDBA38283}"/>
              </a:ext>
            </a:extLst>
          </p:cNvPr>
          <p:cNvSpPr txBox="1">
            <a:spLocks/>
          </p:cNvSpPr>
          <p:nvPr/>
        </p:nvSpPr>
        <p:spPr>
          <a:xfrm>
            <a:off x="3145710" y="15397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" sz="2200"/>
              <a:t>36%</a:t>
            </a:r>
            <a:endParaRPr lang="en" sz="2200" dirty="0"/>
          </a:p>
        </p:txBody>
      </p:sp>
      <p:sp>
        <p:nvSpPr>
          <p:cNvPr id="12" name="Google Shape;464;p41">
            <a:extLst>
              <a:ext uri="{FF2B5EF4-FFF2-40B4-BE49-F238E27FC236}">
                <a16:creationId xmlns:a16="http://schemas.microsoft.com/office/drawing/2014/main" id="{6AC0DCF6-4C5B-4B33-D7F2-F0A162C30BE2}"/>
              </a:ext>
            </a:extLst>
          </p:cNvPr>
          <p:cNvSpPr/>
          <p:nvPr/>
        </p:nvSpPr>
        <p:spPr>
          <a:xfrm>
            <a:off x="913301" y="15397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465;p41">
            <a:extLst>
              <a:ext uri="{FF2B5EF4-FFF2-40B4-BE49-F238E27FC236}">
                <a16:creationId xmlns:a16="http://schemas.microsoft.com/office/drawing/2014/main" id="{BA9EA9CC-36E5-FB42-16E4-8C83D21FD9CA}"/>
              </a:ext>
            </a:extLst>
          </p:cNvPr>
          <p:cNvSpPr txBox="1">
            <a:spLocks/>
          </p:cNvSpPr>
          <p:nvPr/>
        </p:nvSpPr>
        <p:spPr>
          <a:xfrm>
            <a:off x="3145710" y="26683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-US" sz="2200"/>
              <a:t>2x</a:t>
            </a:r>
            <a:endParaRPr lang="en-US" sz="2200" dirty="0"/>
          </a:p>
        </p:txBody>
      </p:sp>
      <p:sp>
        <p:nvSpPr>
          <p:cNvPr id="14" name="Google Shape;466;p41">
            <a:extLst>
              <a:ext uri="{FF2B5EF4-FFF2-40B4-BE49-F238E27FC236}">
                <a16:creationId xmlns:a16="http://schemas.microsoft.com/office/drawing/2014/main" id="{204186B1-73E8-444B-D333-FE338672675F}"/>
              </a:ext>
            </a:extLst>
          </p:cNvPr>
          <p:cNvSpPr/>
          <p:nvPr/>
        </p:nvSpPr>
        <p:spPr>
          <a:xfrm>
            <a:off x="913301" y="26683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" name="Google Shape;467;p41">
            <a:extLst>
              <a:ext uri="{FF2B5EF4-FFF2-40B4-BE49-F238E27FC236}">
                <a16:creationId xmlns:a16="http://schemas.microsoft.com/office/drawing/2014/main" id="{94035BD7-C460-3BAC-66F9-FED136BC939B}"/>
              </a:ext>
            </a:extLst>
          </p:cNvPr>
          <p:cNvSpPr/>
          <p:nvPr/>
        </p:nvSpPr>
        <p:spPr>
          <a:xfrm>
            <a:off x="913326" y="2668377"/>
            <a:ext cx="2091464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" name="Google Shape;468;p41">
            <a:extLst>
              <a:ext uri="{FF2B5EF4-FFF2-40B4-BE49-F238E27FC236}">
                <a16:creationId xmlns:a16="http://schemas.microsoft.com/office/drawing/2014/main" id="{265720D1-6C9D-BE1D-9E69-5276360531C0}"/>
              </a:ext>
            </a:extLst>
          </p:cNvPr>
          <p:cNvSpPr txBox="1">
            <a:spLocks/>
          </p:cNvSpPr>
          <p:nvPr/>
        </p:nvSpPr>
        <p:spPr>
          <a:xfrm>
            <a:off x="3145710" y="37969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" sz="2200"/>
              <a:t>45%</a:t>
            </a:r>
            <a:endParaRPr lang="en" sz="2200" dirty="0"/>
          </a:p>
        </p:txBody>
      </p:sp>
      <p:sp>
        <p:nvSpPr>
          <p:cNvPr id="17" name="Google Shape;469;p41">
            <a:extLst>
              <a:ext uri="{FF2B5EF4-FFF2-40B4-BE49-F238E27FC236}">
                <a16:creationId xmlns:a16="http://schemas.microsoft.com/office/drawing/2014/main" id="{B22A7BB4-54C7-7943-2B07-C409B1F9D715}"/>
              </a:ext>
            </a:extLst>
          </p:cNvPr>
          <p:cNvSpPr/>
          <p:nvPr/>
        </p:nvSpPr>
        <p:spPr>
          <a:xfrm>
            <a:off x="913301" y="37969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" name="Google Shape;470;p41">
            <a:extLst>
              <a:ext uri="{FF2B5EF4-FFF2-40B4-BE49-F238E27FC236}">
                <a16:creationId xmlns:a16="http://schemas.microsoft.com/office/drawing/2014/main" id="{1C424AC2-CEE7-579B-7858-EA0FE3759B37}"/>
              </a:ext>
            </a:extLst>
          </p:cNvPr>
          <p:cNvSpPr/>
          <p:nvPr/>
        </p:nvSpPr>
        <p:spPr>
          <a:xfrm>
            <a:off x="913326" y="3796977"/>
            <a:ext cx="1022638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" name="Google Shape;471;p41">
            <a:extLst>
              <a:ext uri="{FF2B5EF4-FFF2-40B4-BE49-F238E27FC236}">
                <a16:creationId xmlns:a16="http://schemas.microsoft.com/office/drawing/2014/main" id="{D3294635-FCB2-D038-2A70-132506DC046A}"/>
              </a:ext>
            </a:extLst>
          </p:cNvPr>
          <p:cNvSpPr/>
          <p:nvPr/>
        </p:nvSpPr>
        <p:spPr>
          <a:xfrm>
            <a:off x="913326" y="1539777"/>
            <a:ext cx="732316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9" grpId="0" build="p"/>
      <p:bldP spid="461" grpId="0" build="p"/>
      <p:bldP spid="21" grpId="0" animBg="1"/>
      <p:bldP spid="22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415431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Why can't we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232294" y="2484312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Shared Resources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232294" y="2867143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Multiple teams share "Cairo International" and "Borg Al-Arab," creating bottlenecks</a:t>
            </a:r>
          </a:p>
          <a:p>
            <a:pPr lvl="0">
              <a:lnSpc>
                <a:spcPct val="115000"/>
              </a:lnSpc>
            </a:pP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Conflict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679931" y="512914"/>
            <a:ext cx="594596" cy="305859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766864" y="484570"/>
            <a:ext cx="594596" cy="3115277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303437" y="216285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17725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 and Wikipedia.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2 nodes on a network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 tmFilter="0, 0; .2, .5; .8, .5; 1, 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25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50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 tmFilter="0, 0; .2, .5; .8, .5; 1, 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2" dur="2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000"/>
                            </p:stCondLst>
                            <p:childTnLst>
                              <p:par>
                                <p:cTn id="10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1000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500" tmFilter="0, 0; .2, .5; .8, .5; 1, 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" dur="250" autoRev="1" fill="hold"/>
                                        <p:tgtEl>
                                          <p:spTgt spid="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8" grpId="0" build="p"/>
      <p:bldP spid="415" grpId="0" build="p"/>
      <p:bldP spid="419" grpId="0" build="p"/>
      <p:bldP spid="420" grpId="0" build="p"/>
      <p:bldP spid="416" grpId="0" build="p"/>
      <p:bldP spid="421" grpId="0" build="p"/>
      <p:bldP spid="422" grpId="0" build="p"/>
      <p:bldP spid="423" grpId="0" build="p"/>
      <p:bldP spid="424" grpId="0" build="p"/>
      <p:bldP spid="425" grpId="0" build="p"/>
      <p:bldP spid="426" grpId="0" build="p"/>
      <p:bldP spid="427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628034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397189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3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2.5E-6 -2.83951E-6 L 0.05712 -2.83951E-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47" y="0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20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750"/>
                            </p:stCondLst>
                            <p:childTnLst>
                              <p:par>
                                <p:cTn id="2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6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1.7284E-6 L 0.05157 1.7284E-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 tmFilter="0, 0; .2, .5; .8, .5; 1, 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250" autoRev="1" fill="hold"/>
                                        <p:tgtEl>
                                          <p:spTgt spid="6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3" grpId="0" animBg="1"/>
      <p:bldP spid="623" grpId="1" animBg="1"/>
      <p:bldP spid="626" grpId="0"/>
      <p:bldP spid="627" grpId="0" animBg="1"/>
      <p:bldP spid="630" grpId="0" animBg="1"/>
      <p:bldP spid="630" grpId="1" animBg="1"/>
      <p:bldP spid="11" grpId="0"/>
      <p:bldP spid="1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749191" y="1230596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551843" y="2919106"/>
            <a:ext cx="1425354" cy="1105444"/>
            <a:chOff x="5800165" y="1830028"/>
            <a:chExt cx="1013011" cy="117910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978090" y="3327881"/>
            <a:ext cx="1465430" cy="1185445"/>
            <a:chOff x="5800165" y="1512117"/>
            <a:chExt cx="1013012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605274" y="333493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40AE51A0-5F22-300F-E0D1-32E21354C006}"/>
              </a:ext>
            </a:extLst>
          </p:cNvPr>
          <p:cNvCxnSpPr>
            <a:cxnSpLocks/>
          </p:cNvCxnSpPr>
          <p:nvPr/>
        </p:nvCxnSpPr>
        <p:spPr>
          <a:xfrm flipV="1">
            <a:off x="6081268" y="1472615"/>
            <a:ext cx="550057" cy="1264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11B09FD-70B7-B517-49EA-CE66D8C616EB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 flipH="1">
            <a:off x="7551843" y="1408286"/>
            <a:ext cx="477142" cy="2181562"/>
          </a:xfrm>
          <a:prstGeom prst="bentConnector5">
            <a:avLst>
              <a:gd name="adj1" fmla="val -47910"/>
              <a:gd name="adj2" fmla="val 57626"/>
              <a:gd name="adj3" fmla="val 1479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D51FC9-5273-54E7-75B1-AFA3D09373AD}"/>
              </a:ext>
            </a:extLst>
          </p:cNvPr>
          <p:cNvCxnSpPr>
            <a:stCxn id="44" idx="0"/>
            <a:endCxn id="10" idx="2"/>
          </p:cNvCxnSpPr>
          <p:nvPr/>
        </p:nvCxnSpPr>
        <p:spPr>
          <a:xfrm rot="16200000" flipV="1">
            <a:off x="5099397" y="2716472"/>
            <a:ext cx="927240" cy="29557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E7F63FB-1965-70CA-5424-79382749FEC0}"/>
              </a:ext>
            </a:extLst>
          </p:cNvPr>
          <p:cNvSpPr txBox="1"/>
          <p:nvPr/>
        </p:nvSpPr>
        <p:spPr>
          <a:xfrm>
            <a:off x="5423202" y="236934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9348AF-D88C-82BA-A20E-1B1019BA1AA2}"/>
              </a:ext>
            </a:extLst>
          </p:cNvPr>
          <p:cNvSpPr txBox="1"/>
          <p:nvPr/>
        </p:nvSpPr>
        <p:spPr>
          <a:xfrm>
            <a:off x="5710804" y="3155145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2BD6-70E4-76D0-0609-E6C5C2519518}"/>
              </a:ext>
            </a:extLst>
          </p:cNvPr>
          <p:cNvSpPr txBox="1"/>
          <p:nvPr/>
        </p:nvSpPr>
        <p:spPr>
          <a:xfrm>
            <a:off x="6081265" y="142812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02AE6-7DAB-B8DF-56BD-2418F5A6A2DD}"/>
              </a:ext>
            </a:extLst>
          </p:cNvPr>
          <p:cNvSpPr txBox="1"/>
          <p:nvPr/>
        </p:nvSpPr>
        <p:spPr>
          <a:xfrm>
            <a:off x="6517745" y="1342648"/>
            <a:ext cx="752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535C8-1E4B-885F-F401-E811B0C09507}"/>
              </a:ext>
            </a:extLst>
          </p:cNvPr>
          <p:cNvSpPr txBox="1"/>
          <p:nvPr/>
        </p:nvSpPr>
        <p:spPr>
          <a:xfrm>
            <a:off x="8063575" y="123059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7AE75-5751-0D16-8232-EE2172FD35C0}"/>
              </a:ext>
            </a:extLst>
          </p:cNvPr>
          <p:cNvSpPr txBox="1"/>
          <p:nvPr/>
        </p:nvSpPr>
        <p:spPr>
          <a:xfrm>
            <a:off x="7452782" y="3433330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7" grpId="0" build="p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139390" y="1670400"/>
            <a:ext cx="4711390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Purpose: </a:t>
            </a:r>
            <a:r>
              <a:rPr lang="en-US" sz="15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How it Works: </a:t>
            </a:r>
            <a:r>
              <a:rPr lang="en-US" sz="1500" dirty="0"/>
              <a:t>Connects the master calendar to FIFA and CAF lists</a:t>
            </a:r>
            <a:r>
              <a:rPr lang="en-US" sz="15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Blocking: </a:t>
            </a:r>
            <a:r>
              <a:rPr lang="en-US" sz="15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651873" y="1334727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455FB2-32A9-825E-E0E1-B2B4BD18D932}"/>
              </a:ext>
            </a:extLst>
          </p:cNvPr>
          <p:cNvGrpSpPr/>
          <p:nvPr/>
        </p:nvGrpSpPr>
        <p:grpSpPr>
          <a:xfrm>
            <a:off x="6897679" y="1749000"/>
            <a:ext cx="2017369" cy="1238283"/>
            <a:chOff x="5800165" y="1707786"/>
            <a:chExt cx="1013011" cy="1319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A0852-9D5A-57DC-3FA8-888E4A21A3E9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expanded_calender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D704BB-B6D2-A4F7-DE40-6C30B9FC6885}"/>
                </a:ext>
              </a:extLst>
            </p:cNvPr>
            <p:cNvSpPr/>
            <p:nvPr/>
          </p:nvSpPr>
          <p:spPr>
            <a:xfrm>
              <a:off x="5800165" y="2021304"/>
              <a:ext cx="1013011" cy="1006065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Day_ID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time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Week_num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918C3C9-C171-AF5D-D46D-18ED22C28229}"/>
              </a:ext>
            </a:extLst>
          </p:cNvPr>
          <p:cNvGrpSpPr/>
          <p:nvPr/>
        </p:nvGrpSpPr>
        <p:grpSpPr>
          <a:xfrm>
            <a:off x="4477380" y="2984744"/>
            <a:ext cx="1935799" cy="1428549"/>
            <a:chOff x="5800165" y="1830028"/>
            <a:chExt cx="1013011" cy="11791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E7E9FB-CA41-0A39-3C27-CADAB4CB20FB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unique_CAF_dates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C652C8-F1F6-67C0-9766-BBA59246FAD0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date_id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competition_name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caf_date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location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FA4860-4C9F-535B-1DE3-C603A4823B71}"/>
              </a:ext>
            </a:extLst>
          </p:cNvPr>
          <p:cNvGrpSpPr/>
          <p:nvPr/>
        </p:nvGrpSpPr>
        <p:grpSpPr>
          <a:xfrm>
            <a:off x="4986484" y="642279"/>
            <a:ext cx="1332074" cy="802203"/>
            <a:chOff x="5800165" y="1512117"/>
            <a:chExt cx="1013012" cy="1458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647B1A-568B-0358-C54E-9A26C4680CD8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FIFA_DAYS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6AB1DF-4F47-FD2B-512D-DE49F6F5DF93}"/>
                </a:ext>
              </a:extLst>
            </p:cNvPr>
            <p:cNvSpPr/>
            <p:nvPr/>
          </p:nvSpPr>
          <p:spPr>
            <a:xfrm>
              <a:off x="5800165" y="2021305"/>
              <a:ext cx="1013011" cy="949662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 Name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</a:t>
              </a:r>
            </a:p>
          </p:txBody>
        </p: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46A03E9-790D-0086-BE79-BA4FAE8B3920}"/>
              </a:ext>
            </a:extLst>
          </p:cNvPr>
          <p:cNvCxnSpPr>
            <a:cxnSpLocks/>
          </p:cNvCxnSpPr>
          <p:nvPr/>
        </p:nvCxnSpPr>
        <p:spPr>
          <a:xfrm>
            <a:off x="6318558" y="1311927"/>
            <a:ext cx="579121" cy="1057156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F663BBF-EE38-C578-3005-49EF4E851811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rot="10800000" flipV="1">
            <a:off x="6413179" y="2515242"/>
            <a:ext cx="484500" cy="133629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33AEC-4085-AFB2-AC8A-3A113643EA15}"/>
              </a:ext>
            </a:extLst>
          </p:cNvPr>
          <p:cNvSpPr txBox="1"/>
          <p:nvPr/>
        </p:nvSpPr>
        <p:spPr>
          <a:xfrm>
            <a:off x="6413178" y="111928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2F1EC-867E-CEF3-B155-8286DC81B593}"/>
              </a:ext>
            </a:extLst>
          </p:cNvPr>
          <p:cNvSpPr txBox="1"/>
          <p:nvPr/>
        </p:nvSpPr>
        <p:spPr>
          <a:xfrm>
            <a:off x="6798619" y="2226719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E6321A-4799-83F6-A2C6-154FDA9EB854}"/>
              </a:ext>
            </a:extLst>
          </p:cNvPr>
          <p:cNvSpPr txBox="1"/>
          <p:nvPr/>
        </p:nvSpPr>
        <p:spPr>
          <a:xfrm>
            <a:off x="6798619" y="238642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7FC0E6-834B-31B8-212D-35315393C7E9}"/>
              </a:ext>
            </a:extLst>
          </p:cNvPr>
          <p:cNvSpPr txBox="1"/>
          <p:nvPr/>
        </p:nvSpPr>
        <p:spPr>
          <a:xfrm>
            <a:off x="6462708" y="364389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" grpId="0" build="p"/>
      <p:bldP spid="25" grpId="0"/>
      <p:bldP spid="26" grpId="0"/>
      <p:bldP spid="27" grpId="0"/>
      <p:bldP spid="2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Mathematical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6268C87-CBD2-E48E-BBEE-2108CA5C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422328E0-39E0-E94E-33E2-2A67E67829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References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41EDEC-0304-80B9-5928-6F85AD383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4914850"/>
              </p:ext>
            </p:extLst>
          </p:nvPr>
        </p:nvGraphicFramePr>
        <p:xfrm>
          <a:off x="720000" y="1152527"/>
          <a:ext cx="7836702" cy="2244876"/>
        </p:xfrm>
        <a:graphic>
          <a:graphicData uri="http://schemas.openxmlformats.org/drawingml/2006/table">
            <a:tbl>
              <a:tblPr firstRow="1" firstCol="1" bandRow="1"/>
              <a:tblGrid>
                <a:gridCol w="239005">
                  <a:extLst>
                    <a:ext uri="{9D8B030D-6E8A-4147-A177-3AD203B41FA5}">
                      <a16:colId xmlns:a16="http://schemas.microsoft.com/office/drawing/2014/main" val="4294718165"/>
                    </a:ext>
                  </a:extLst>
                </a:gridCol>
                <a:gridCol w="7597697">
                  <a:extLst>
                    <a:ext uri="{9D8B030D-6E8A-4147-A177-3AD203B41FA5}">
                      <a16:colId xmlns:a16="http://schemas.microsoft.com/office/drawing/2014/main" val="1349942756"/>
                    </a:ext>
                  </a:extLst>
                </a:gridCol>
              </a:tblGrid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[1]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R. V. Rasmussen and M. A. Trick, "Round robin scheduling – a survey,"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2008.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997458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[2]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Van Bulck, D. Goossens and F.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"Integer programming models for round robin tournaments,"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2023.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31083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[3]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P. Staats, "Generic Scheduling of Sports Tournaments," Utrecht University, Utrecht, 2009.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4345337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[4]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R. Goossens and F. C. R.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"Soccer schedules in Europe: an overview,"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Journal of Scheduling,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15, no. 5, pp. 641-651, 2012.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2676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[5]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K. Easton, G. Nemhauser and M. Trick, "The traveling tournament problem description and benchmarks," </a:t>
                      </a:r>
                      <a:r>
                        <a:rPr lang="en-US" sz="1000" b="1" i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Principles and Practice of Constraint Programming, </a:t>
                      </a: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pp. 580-584, 2001.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65921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[6]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G. Durán, M. Guajardo and J. Wolf-Yadlin, "Scheduling the Chilean soccer league by integer programming,"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Interfaces,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37, no. 6, pp. 539-552, 2007.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4291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040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DC37E9C-5B32-AD67-8D19-3AEB9A0D2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665" y="3660338"/>
            <a:ext cx="1240366" cy="11348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0EBCD-1725-717A-BEA6-29FECC2926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3660338"/>
            <a:ext cx="730794" cy="10381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2052825" y="6724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dirty="0">
                <a:solidFill>
                  <a:schemeClr val="tx1"/>
                </a:solidFill>
              </a:rPr>
              <a:t>Thank You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2510700" y="2388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889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Props1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1386</TotalTime>
  <Words>1373</Words>
  <Application>Microsoft Office PowerPoint</Application>
  <PresentationFormat>On-screen Show (16:9)</PresentationFormat>
  <Paragraphs>233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Lato</vt:lpstr>
      <vt:lpstr>DM Sans</vt:lpstr>
      <vt:lpstr>Montserrat ExtraBold</vt:lpstr>
      <vt:lpstr>Montserrat</vt:lpstr>
      <vt:lpstr>Wingdings</vt:lpstr>
      <vt:lpstr>Arial</vt:lpstr>
      <vt:lpstr>Indoor Soccer Club by Slidesgo</vt:lpstr>
      <vt:lpstr>Optimizing the Egyptian Premier League Schedule</vt:lpstr>
      <vt:lpstr>Introduction</vt:lpstr>
      <vt:lpstr>The origin of the story </vt:lpstr>
      <vt:lpstr>The Aggravator (COVID-19)</vt:lpstr>
      <vt:lpstr>Visualizing the Disparity</vt:lpstr>
      <vt:lpstr>2024/2025 Exceptional Format</vt:lpstr>
      <vt:lpstr>Our Goal</vt:lpstr>
      <vt:lpstr>The Proposed Solution</vt:lpstr>
      <vt:lpstr>Model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Preprocessing</vt:lpstr>
      <vt:lpstr>Data Modeling</vt:lpstr>
      <vt:lpstr>Data Modeling</vt:lpstr>
      <vt:lpstr>Conclusion Of Phase I</vt:lpstr>
      <vt:lpstr>References</vt:lpstr>
      <vt:lpstr>Presented by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Mohamed Osama</cp:lastModifiedBy>
  <cp:revision>55</cp:revision>
  <dcterms:modified xsi:type="dcterms:W3CDTF">2026-02-11T19:31:13Z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