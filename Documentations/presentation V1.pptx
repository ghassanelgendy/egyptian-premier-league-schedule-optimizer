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9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19" r:id="rId13"/>
    <p:sldId id="303" r:id="rId14"/>
    <p:sldId id="263" r:id="rId15"/>
    <p:sldId id="305" r:id="rId16"/>
    <p:sldId id="268" r:id="rId17"/>
    <p:sldId id="304" r:id="rId18"/>
    <p:sldId id="306" r:id="rId19"/>
    <p:sldId id="307" r:id="rId20"/>
    <p:sldId id="265" r:id="rId21"/>
    <p:sldId id="309" r:id="rId22"/>
    <p:sldId id="313" r:id="rId23"/>
    <p:sldId id="310" r:id="rId24"/>
    <p:sldId id="311" r:id="rId25"/>
    <p:sldId id="318" r:id="rId26"/>
    <p:sldId id="257" r:id="rId27"/>
    <p:sldId id="314" r:id="rId28"/>
  </p:sldIdLst>
  <p:sldSz cx="9144000" cy="5143500" type="screen16x9"/>
  <p:notesSz cx="6858000" cy="9144000"/>
  <p:embeddedFontLst>
    <p:embeddedFont>
      <p:font typeface="DM Sans" pitchFamily="2" charset="0"/>
      <p:regular r:id="rId30"/>
      <p:bold r:id="rId31"/>
      <p:italic r:id="rId32"/>
      <p:boldItalic r:id="rId33"/>
    </p:embeddedFont>
    <p:embeddedFont>
      <p:font typeface="Lato" panose="020F0502020204030203" pitchFamily="3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ExtraBold" panose="00000900000000000000" pitchFamily="2" charset="0"/>
      <p:bold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8" y="110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83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!!Model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odel">
            <a:extLst>
              <a:ext uri="{FF2B5EF4-FFF2-40B4-BE49-F238E27FC236}">
                <a16:creationId xmlns:a16="http://schemas.microsoft.com/office/drawing/2014/main" id="{AC1FC312-2BAE-C58E-111F-1C986112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68" y="133461"/>
            <a:ext cx="7704000" cy="572700"/>
          </a:xfrm>
        </p:spPr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18" name="Google Shape;365;p36">
            <a:extLst>
              <a:ext uri="{FF2B5EF4-FFF2-40B4-BE49-F238E27FC236}">
                <a16:creationId xmlns:a16="http://schemas.microsoft.com/office/drawing/2014/main" id="{7E911C9D-57B1-7EC8-FF62-0A5D7C5026CD}"/>
              </a:ext>
            </a:extLst>
          </p:cNvPr>
          <p:cNvSpPr txBox="1">
            <a:spLocks/>
          </p:cNvSpPr>
          <p:nvPr/>
        </p:nvSpPr>
        <p:spPr>
          <a:xfrm>
            <a:off x="4168833" y="1197770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Stadium Sharing 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No simultaneous matches allowed for teams sharing a home venue</a:t>
            </a:r>
          </a:p>
          <a:p>
            <a:pPr marL="596900" lvl="1">
              <a:lnSpc>
                <a:spcPct val="150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  <a:latin typeface="DM Sans" pitchFamily="2" charset="0"/>
            </a:endParaRP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19" name="Google Shape;367;p36">
            <a:extLst>
              <a:ext uri="{FF2B5EF4-FFF2-40B4-BE49-F238E27FC236}">
                <a16:creationId xmlns:a16="http://schemas.microsoft.com/office/drawing/2014/main" id="{C5155247-C3CE-4C46-99CD-497C96B3BD87}"/>
              </a:ext>
            </a:extLst>
          </p:cNvPr>
          <p:cNvSpPr txBox="1">
            <a:spLocks/>
          </p:cNvSpPr>
          <p:nvPr/>
        </p:nvSpPr>
        <p:spPr>
          <a:xfrm>
            <a:off x="799929" y="883022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Objectives</a:t>
            </a:r>
          </a:p>
        </p:txBody>
      </p:sp>
      <p:sp>
        <p:nvSpPr>
          <p:cNvPr id="20" name="Google Shape;368;p36">
            <a:extLst>
              <a:ext uri="{FF2B5EF4-FFF2-40B4-BE49-F238E27FC236}">
                <a16:creationId xmlns:a16="http://schemas.microsoft.com/office/drawing/2014/main" id="{712D51C5-59FB-3C73-CEE5-ACEB5339FC9C}"/>
              </a:ext>
            </a:extLst>
          </p:cNvPr>
          <p:cNvSpPr txBox="1">
            <a:spLocks/>
          </p:cNvSpPr>
          <p:nvPr/>
        </p:nvSpPr>
        <p:spPr>
          <a:xfrm>
            <a:off x="5143373" y="88302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Constraints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D24BA-05FD-5269-4FF6-282C1C5A431A}"/>
              </a:ext>
            </a:extLst>
          </p:cNvPr>
          <p:cNvSpPr txBox="1"/>
          <p:nvPr/>
        </p:nvSpPr>
        <p:spPr>
          <a:xfrm>
            <a:off x="514689" y="3635942"/>
            <a:ext cx="3771794" cy="386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Minimize Travel  Fatigue (TTP)</a:t>
            </a:r>
          </a:p>
        </p:txBody>
      </p:sp>
      <p:sp>
        <p:nvSpPr>
          <p:cNvPr id="33" name="Google Shape;8465;p67">
            <a:extLst>
              <a:ext uri="{FF2B5EF4-FFF2-40B4-BE49-F238E27FC236}">
                <a16:creationId xmlns:a16="http://schemas.microsoft.com/office/drawing/2014/main" id="{0C424A50-E1F8-B937-700B-3F9AA746FA19}"/>
              </a:ext>
            </a:extLst>
          </p:cNvPr>
          <p:cNvSpPr/>
          <p:nvPr/>
        </p:nvSpPr>
        <p:spPr>
          <a:xfrm>
            <a:off x="506627" y="928329"/>
            <a:ext cx="300037" cy="296944"/>
          </a:xfrm>
          <a:custGeom>
            <a:avLst/>
            <a:gdLst/>
            <a:ahLst/>
            <a:cxnLst/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8" name="Google Shape;8894;p68">
            <a:extLst>
              <a:ext uri="{FF2B5EF4-FFF2-40B4-BE49-F238E27FC236}">
                <a16:creationId xmlns:a16="http://schemas.microsoft.com/office/drawing/2014/main" id="{6276CA8F-2CAA-600E-C0F6-9D9430273DF0}"/>
              </a:ext>
            </a:extLst>
          </p:cNvPr>
          <p:cNvGrpSpPr/>
          <p:nvPr/>
        </p:nvGrpSpPr>
        <p:grpSpPr>
          <a:xfrm>
            <a:off x="4795245" y="866871"/>
            <a:ext cx="354136" cy="334348"/>
            <a:chOff x="-25844850" y="2357750"/>
            <a:chExt cx="296175" cy="279625"/>
          </a:xfrm>
          <a:solidFill>
            <a:schemeClr val="tx1">
              <a:lumMod val="95000"/>
            </a:schemeClr>
          </a:solidFill>
        </p:grpSpPr>
        <p:sp>
          <p:nvSpPr>
            <p:cNvPr id="39" name="Google Shape;8895;p68">
              <a:extLst>
                <a:ext uri="{FF2B5EF4-FFF2-40B4-BE49-F238E27FC236}">
                  <a16:creationId xmlns:a16="http://schemas.microsoft.com/office/drawing/2014/main" id="{9C95C29F-BC39-A94D-69E4-D43F3ADCFD9B}"/>
                </a:ext>
              </a:extLst>
            </p:cNvPr>
            <p:cNvSpPr/>
            <p:nvPr/>
          </p:nvSpPr>
          <p:spPr>
            <a:xfrm>
              <a:off x="-25792075" y="2428625"/>
              <a:ext cx="191425" cy="208750"/>
            </a:xfrm>
            <a:custGeom>
              <a:avLst/>
              <a:gdLst/>
              <a:ahLst/>
              <a:cxnLst/>
              <a:rect l="l" t="t" r="r" b="b"/>
              <a:pathLst>
                <a:path w="7657" h="8350" extrusionOk="0">
                  <a:moveTo>
                    <a:pt x="3781" y="2773"/>
                  </a:moveTo>
                  <a:cubicBezTo>
                    <a:pt x="3970" y="2773"/>
                    <a:pt x="4128" y="2931"/>
                    <a:pt x="4128" y="3120"/>
                  </a:cubicBezTo>
                  <a:cubicBezTo>
                    <a:pt x="4128" y="3309"/>
                    <a:pt x="3970" y="3466"/>
                    <a:pt x="3781" y="3466"/>
                  </a:cubicBezTo>
                  <a:cubicBezTo>
                    <a:pt x="3592" y="3466"/>
                    <a:pt x="3435" y="3309"/>
                    <a:pt x="3435" y="3120"/>
                  </a:cubicBezTo>
                  <a:cubicBezTo>
                    <a:pt x="3435" y="2931"/>
                    <a:pt x="3592" y="2773"/>
                    <a:pt x="3781" y="2773"/>
                  </a:cubicBezTo>
                  <a:close/>
                  <a:moveTo>
                    <a:pt x="3813" y="694"/>
                  </a:moveTo>
                  <a:cubicBezTo>
                    <a:pt x="5167" y="694"/>
                    <a:pt x="6270" y="1796"/>
                    <a:pt x="6270" y="3120"/>
                  </a:cubicBezTo>
                  <a:lnTo>
                    <a:pt x="6270" y="6239"/>
                  </a:lnTo>
                  <a:lnTo>
                    <a:pt x="4191" y="6239"/>
                  </a:lnTo>
                  <a:lnTo>
                    <a:pt x="4191" y="4096"/>
                  </a:lnTo>
                  <a:cubicBezTo>
                    <a:pt x="4569" y="3939"/>
                    <a:pt x="4884" y="3592"/>
                    <a:pt x="4884" y="3120"/>
                  </a:cubicBezTo>
                  <a:cubicBezTo>
                    <a:pt x="4884" y="2521"/>
                    <a:pt x="4411" y="2111"/>
                    <a:pt x="3876" y="2111"/>
                  </a:cubicBezTo>
                  <a:cubicBezTo>
                    <a:pt x="3277" y="2111"/>
                    <a:pt x="2836" y="2584"/>
                    <a:pt x="2836" y="3120"/>
                  </a:cubicBezTo>
                  <a:cubicBezTo>
                    <a:pt x="2836" y="3561"/>
                    <a:pt x="3120" y="3939"/>
                    <a:pt x="3561" y="4096"/>
                  </a:cubicBezTo>
                  <a:lnTo>
                    <a:pt x="3561" y="6239"/>
                  </a:lnTo>
                  <a:lnTo>
                    <a:pt x="1450" y="6239"/>
                  </a:lnTo>
                  <a:lnTo>
                    <a:pt x="1450" y="3120"/>
                  </a:lnTo>
                  <a:lnTo>
                    <a:pt x="1387" y="3120"/>
                  </a:lnTo>
                  <a:cubicBezTo>
                    <a:pt x="1387" y="1796"/>
                    <a:pt x="2489" y="694"/>
                    <a:pt x="3813" y="694"/>
                  </a:cubicBezTo>
                  <a:close/>
                  <a:moveTo>
                    <a:pt x="6585" y="6932"/>
                  </a:moveTo>
                  <a:cubicBezTo>
                    <a:pt x="6774" y="6932"/>
                    <a:pt x="6932" y="7089"/>
                    <a:pt x="6932" y="7310"/>
                  </a:cubicBezTo>
                  <a:lnTo>
                    <a:pt x="6932" y="7625"/>
                  </a:lnTo>
                  <a:lnTo>
                    <a:pt x="662" y="7625"/>
                  </a:lnTo>
                  <a:lnTo>
                    <a:pt x="662" y="7310"/>
                  </a:lnTo>
                  <a:cubicBezTo>
                    <a:pt x="662" y="7089"/>
                    <a:pt x="820" y="6932"/>
                    <a:pt x="1040" y="6932"/>
                  </a:cubicBezTo>
                  <a:close/>
                  <a:moveTo>
                    <a:pt x="3813" y="1"/>
                  </a:moveTo>
                  <a:cubicBezTo>
                    <a:pt x="2080" y="1"/>
                    <a:pt x="725" y="1418"/>
                    <a:pt x="725" y="3120"/>
                  </a:cubicBezTo>
                  <a:lnTo>
                    <a:pt x="725" y="6302"/>
                  </a:lnTo>
                  <a:cubicBezTo>
                    <a:pt x="316" y="6459"/>
                    <a:pt x="1" y="6837"/>
                    <a:pt x="1" y="7310"/>
                  </a:cubicBezTo>
                  <a:lnTo>
                    <a:pt x="1" y="8003"/>
                  </a:lnTo>
                  <a:cubicBezTo>
                    <a:pt x="1" y="8192"/>
                    <a:pt x="158" y="8349"/>
                    <a:pt x="347" y="8349"/>
                  </a:cubicBezTo>
                  <a:lnTo>
                    <a:pt x="7278" y="8349"/>
                  </a:lnTo>
                  <a:cubicBezTo>
                    <a:pt x="7499" y="8349"/>
                    <a:pt x="7656" y="8192"/>
                    <a:pt x="7656" y="8003"/>
                  </a:cubicBezTo>
                  <a:lnTo>
                    <a:pt x="7656" y="7310"/>
                  </a:lnTo>
                  <a:cubicBezTo>
                    <a:pt x="7593" y="6837"/>
                    <a:pt x="7341" y="6428"/>
                    <a:pt x="6932" y="6302"/>
                  </a:cubicBezTo>
                  <a:lnTo>
                    <a:pt x="6932" y="3120"/>
                  </a:lnTo>
                  <a:cubicBezTo>
                    <a:pt x="6932" y="1387"/>
                    <a:pt x="5514" y="1"/>
                    <a:pt x="381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0" name="Google Shape;8896;p68">
              <a:extLst>
                <a:ext uri="{FF2B5EF4-FFF2-40B4-BE49-F238E27FC236}">
                  <a16:creationId xmlns:a16="http://schemas.microsoft.com/office/drawing/2014/main" id="{6C2B765E-E44A-99C6-7723-7AFAF5820D96}"/>
                </a:ext>
              </a:extLst>
            </p:cNvPr>
            <p:cNvSpPr/>
            <p:nvPr/>
          </p:nvSpPr>
          <p:spPr>
            <a:xfrm>
              <a:off x="-25602250" y="2497950"/>
              <a:ext cx="53575" cy="17350"/>
            </a:xfrm>
            <a:custGeom>
              <a:avLst/>
              <a:gdLst/>
              <a:ahLst/>
              <a:cxnLst/>
              <a:rect l="l" t="t" r="r" b="b"/>
              <a:pathLst>
                <a:path w="2143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796" y="693"/>
                  </a:lnTo>
                  <a:cubicBezTo>
                    <a:pt x="1985" y="693"/>
                    <a:pt x="2143" y="536"/>
                    <a:pt x="2143" y="347"/>
                  </a:cubicBez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1" name="Google Shape;8897;p68">
              <a:extLst>
                <a:ext uri="{FF2B5EF4-FFF2-40B4-BE49-F238E27FC236}">
                  <a16:creationId xmlns:a16="http://schemas.microsoft.com/office/drawing/2014/main" id="{25C8891F-CA6F-2B2B-E778-7FA7CAC927B2}"/>
                </a:ext>
              </a:extLst>
            </p:cNvPr>
            <p:cNvSpPr/>
            <p:nvPr/>
          </p:nvSpPr>
          <p:spPr>
            <a:xfrm>
              <a:off x="-25844850" y="2497950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65" y="693"/>
                  </a:lnTo>
                  <a:cubicBezTo>
                    <a:pt x="1954" y="693"/>
                    <a:pt x="2112" y="536"/>
                    <a:pt x="2112" y="347"/>
                  </a:cubicBezTo>
                  <a:cubicBezTo>
                    <a:pt x="2080" y="158"/>
                    <a:pt x="1923" y="0"/>
                    <a:pt x="17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2" name="Google Shape;8898;p68">
              <a:extLst>
                <a:ext uri="{FF2B5EF4-FFF2-40B4-BE49-F238E27FC236}">
                  <a16:creationId xmlns:a16="http://schemas.microsoft.com/office/drawing/2014/main" id="{E25AD478-DB20-6BCC-81A6-A2C3FB2D3159}"/>
                </a:ext>
              </a:extLst>
            </p:cNvPr>
            <p:cNvSpPr/>
            <p:nvPr/>
          </p:nvSpPr>
          <p:spPr>
            <a:xfrm>
              <a:off x="-25706225" y="2357750"/>
              <a:ext cx="17350" cy="53575"/>
            </a:xfrm>
            <a:custGeom>
              <a:avLst/>
              <a:gdLst/>
              <a:ahLst/>
              <a:cxnLst/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85"/>
                    <a:pt x="158" y="2143"/>
                    <a:pt x="347" y="2143"/>
                  </a:cubicBezTo>
                  <a:cubicBezTo>
                    <a:pt x="536" y="2143"/>
                    <a:pt x="694" y="1985"/>
                    <a:pt x="694" y="1764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3" name="Google Shape;8899;p68">
              <a:extLst>
                <a:ext uri="{FF2B5EF4-FFF2-40B4-BE49-F238E27FC236}">
                  <a16:creationId xmlns:a16="http://schemas.microsoft.com/office/drawing/2014/main" id="{59661993-21AD-E360-40CD-6D6872E6F8F8}"/>
                </a:ext>
              </a:extLst>
            </p:cNvPr>
            <p:cNvSpPr/>
            <p:nvPr/>
          </p:nvSpPr>
          <p:spPr>
            <a:xfrm>
              <a:off x="-25804675" y="2400275"/>
              <a:ext cx="42550" cy="41775"/>
            </a:xfrm>
            <a:custGeom>
              <a:avLst/>
              <a:gdLst/>
              <a:ahLst/>
              <a:cxnLst/>
              <a:rect l="l" t="t" r="r" b="b"/>
              <a:pathLst>
                <a:path w="1702" h="1671" extrusionOk="0">
                  <a:moveTo>
                    <a:pt x="351" y="0"/>
                  </a:moveTo>
                  <a:cubicBezTo>
                    <a:pt x="260" y="0"/>
                    <a:pt x="174" y="32"/>
                    <a:pt x="127" y="95"/>
                  </a:cubicBezTo>
                  <a:cubicBezTo>
                    <a:pt x="0" y="189"/>
                    <a:pt x="0" y="442"/>
                    <a:pt x="127" y="568"/>
                  </a:cubicBezTo>
                  <a:lnTo>
                    <a:pt x="1103" y="1544"/>
                  </a:lnTo>
                  <a:cubicBezTo>
                    <a:pt x="1166" y="1607"/>
                    <a:pt x="1261" y="1670"/>
                    <a:pt x="1324" y="1670"/>
                  </a:cubicBezTo>
                  <a:cubicBezTo>
                    <a:pt x="1418" y="1670"/>
                    <a:pt x="1544" y="1607"/>
                    <a:pt x="1576" y="1544"/>
                  </a:cubicBezTo>
                  <a:cubicBezTo>
                    <a:pt x="1702" y="1418"/>
                    <a:pt x="1702" y="1198"/>
                    <a:pt x="1576" y="1072"/>
                  </a:cubicBezTo>
                  <a:lnTo>
                    <a:pt x="599" y="95"/>
                  </a:lnTo>
                  <a:cubicBezTo>
                    <a:pt x="536" y="32"/>
                    <a:pt x="442" y="0"/>
                    <a:pt x="3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4" name="Google Shape;8900;p68">
              <a:extLst>
                <a:ext uri="{FF2B5EF4-FFF2-40B4-BE49-F238E27FC236}">
                  <a16:creationId xmlns:a16="http://schemas.microsoft.com/office/drawing/2014/main" id="{9DB09741-20AE-EC4A-C649-832160557183}"/>
                </a:ext>
              </a:extLst>
            </p:cNvPr>
            <p:cNvSpPr/>
            <p:nvPr/>
          </p:nvSpPr>
          <p:spPr>
            <a:xfrm>
              <a:off x="-25632175" y="2400275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1327" y="0"/>
                  </a:moveTo>
                  <a:cubicBezTo>
                    <a:pt x="1237" y="0"/>
                    <a:pt x="1150" y="32"/>
                    <a:pt x="1103" y="95"/>
                  </a:cubicBezTo>
                  <a:lnTo>
                    <a:pt x="95" y="1072"/>
                  </a:lnTo>
                  <a:cubicBezTo>
                    <a:pt x="0" y="1198"/>
                    <a:pt x="0" y="1418"/>
                    <a:pt x="95" y="1544"/>
                  </a:cubicBezTo>
                  <a:cubicBezTo>
                    <a:pt x="158" y="1607"/>
                    <a:pt x="252" y="1670"/>
                    <a:pt x="347" y="1670"/>
                  </a:cubicBezTo>
                  <a:cubicBezTo>
                    <a:pt x="410" y="1670"/>
                    <a:pt x="536" y="1607"/>
                    <a:pt x="567" y="1544"/>
                  </a:cubicBezTo>
                  <a:lnTo>
                    <a:pt x="1575" y="568"/>
                  </a:lnTo>
                  <a:cubicBezTo>
                    <a:pt x="1670" y="442"/>
                    <a:pt x="1670" y="189"/>
                    <a:pt x="1575" y="95"/>
                  </a:cubicBezTo>
                  <a:cubicBezTo>
                    <a:pt x="1512" y="32"/>
                    <a:pt x="1418" y="0"/>
                    <a:pt x="13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CEB3D9E-BD28-189C-40BC-598B3DBDB21E}"/>
              </a:ext>
            </a:extLst>
          </p:cNvPr>
          <p:cNvSpPr txBox="1"/>
          <p:nvPr/>
        </p:nvSpPr>
        <p:spPr>
          <a:xfrm>
            <a:off x="506627" y="1995359"/>
            <a:ext cx="4034489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Fairness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Enforce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simultaneous kick-offs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 the final critical rounds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Balance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rest days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between opponents to ensure equity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912519-9CD7-3C7B-60D7-2520A50766E7}"/>
              </a:ext>
            </a:extLst>
          </p:cNvPr>
          <p:cNvSpPr txBox="1"/>
          <p:nvPr/>
        </p:nvSpPr>
        <p:spPr>
          <a:xfrm>
            <a:off x="514689" y="1313822"/>
            <a:ext cx="4154906" cy="709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Commercial Value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Important matches in prime-time weekend</a:t>
            </a:r>
          </a:p>
        </p:txBody>
      </p:sp>
      <p:sp>
        <p:nvSpPr>
          <p:cNvPr id="55" name="Google Shape;365;p36">
            <a:extLst>
              <a:ext uri="{FF2B5EF4-FFF2-40B4-BE49-F238E27FC236}">
                <a16:creationId xmlns:a16="http://schemas.microsoft.com/office/drawing/2014/main" id="{1F66A6B1-2A53-6F35-8CC0-F98CCF2BEE05}"/>
              </a:ext>
            </a:extLst>
          </p:cNvPr>
          <p:cNvSpPr txBox="1">
            <a:spLocks/>
          </p:cNvSpPr>
          <p:nvPr/>
        </p:nvSpPr>
        <p:spPr>
          <a:xfrm>
            <a:off x="4168795" y="2092326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Continental Blockers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Mandatory  ± 3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day buffer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around any CAF</a:t>
            </a:r>
          </a:p>
        </p:txBody>
      </p:sp>
      <p:sp>
        <p:nvSpPr>
          <p:cNvPr id="59" name="Google Shape;365;p36">
            <a:extLst>
              <a:ext uri="{FF2B5EF4-FFF2-40B4-BE49-F238E27FC236}">
                <a16:creationId xmlns:a16="http://schemas.microsoft.com/office/drawing/2014/main" id="{60A144D4-7122-FE5A-F1D4-6D2BE7ED9A29}"/>
              </a:ext>
            </a:extLst>
          </p:cNvPr>
          <p:cNvSpPr txBox="1">
            <a:spLocks/>
          </p:cNvSpPr>
          <p:nvPr/>
        </p:nvSpPr>
        <p:spPr>
          <a:xfrm>
            <a:off x="4173210" y="275412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Security Matrix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High-risk matchups must be in neutral venues</a:t>
            </a:r>
          </a:p>
          <a:p>
            <a:pPr marL="596900" lvl="1">
              <a:lnSpc>
                <a:spcPct val="150000"/>
              </a:lnSpc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60" name="Google Shape;365;p36">
            <a:extLst>
              <a:ext uri="{FF2B5EF4-FFF2-40B4-BE49-F238E27FC236}">
                <a16:creationId xmlns:a16="http://schemas.microsoft.com/office/drawing/2014/main" id="{D23261F5-39CF-E1F9-C78D-CC4BB4FBF8AC}"/>
              </a:ext>
            </a:extLst>
          </p:cNvPr>
          <p:cNvSpPr txBox="1">
            <a:spLocks/>
          </p:cNvSpPr>
          <p:nvPr/>
        </p:nvSpPr>
        <p:spPr>
          <a:xfrm>
            <a:off x="4168795" y="349486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League Structure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Every team plays exactly </a:t>
            </a:r>
            <a:r>
              <a:rPr lang="en-US" b="1" i="1" dirty="0">
                <a:solidFill>
                  <a:schemeClr val="tx1"/>
                </a:solidFill>
                <a:latin typeface="DM Sans" pitchFamily="2" charset="0"/>
              </a:rPr>
              <a:t>one match per Game Week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(Double Round Robin integrity)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9965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  <p:bldP spid="19" grpId="0" build="p"/>
      <p:bldP spid="20" grpId="0" build="p"/>
      <p:bldP spid="21" grpId="0"/>
      <p:bldP spid="33" grpId="0" animBg="1"/>
      <p:bldP spid="46" grpId="0"/>
      <p:bldP spid="50" grpId="0"/>
      <p:bldP spid="55" grpId="0" uiExpand="1" build="p"/>
      <p:bldP spid="59" grpId="0" build="p"/>
      <p:bldP spid="6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533884" y="2504197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834811" y="1481138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834811" y="2609850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834811" y="3738563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1812504" y="1487093"/>
            <a:ext cx="2207233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1781691" y="2609766"/>
            <a:ext cx="2239119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1781693" y="2609766"/>
            <a:ext cx="223911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1781691" y="3738366"/>
            <a:ext cx="223912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1781691" y="3732439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1781693" y="1480849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</a:t>
            </a: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we</a:t>
            </a:r>
            <a:r>
              <a:rPr lang="en-US" sz="2400" b="1" dirty="0">
                <a:solidFill>
                  <a:schemeClr val="tx1"/>
                </a:solidFill>
              </a:rPr>
              <a:t>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628034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397189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1346</TotalTime>
  <Words>1396</Words>
  <Application>Microsoft Office PowerPoint</Application>
  <PresentationFormat>On-screen Show (16:9)</PresentationFormat>
  <Paragraphs>235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DM Sans</vt:lpstr>
      <vt:lpstr>Arial</vt:lpstr>
      <vt:lpstr>Montserrat ExtraBold</vt:lpstr>
      <vt:lpstr>Montserrat</vt:lpstr>
      <vt:lpstr>Wingdings</vt:lpstr>
      <vt:lpstr>Lato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Model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روان ايهاب كمال احمد السيد عمار</cp:lastModifiedBy>
  <cp:revision>52</cp:revision>
  <dcterms:modified xsi:type="dcterms:W3CDTF">2026-02-09T08:06:33Z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