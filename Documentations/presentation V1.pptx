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8"/>
  </p:notesMasterIdLst>
  <p:sldIdLst>
    <p:sldId id="256" r:id="rId5"/>
    <p:sldId id="261" r:id="rId6"/>
    <p:sldId id="259" r:id="rId7"/>
    <p:sldId id="315" r:id="rId8"/>
    <p:sldId id="316" r:id="rId9"/>
    <p:sldId id="317" r:id="rId10"/>
    <p:sldId id="302" r:id="rId11"/>
    <p:sldId id="262" r:id="rId12"/>
    <p:sldId id="303" r:id="rId13"/>
    <p:sldId id="263" r:id="rId14"/>
    <p:sldId id="305" r:id="rId15"/>
    <p:sldId id="268" r:id="rId16"/>
    <p:sldId id="304" r:id="rId17"/>
    <p:sldId id="306" r:id="rId18"/>
    <p:sldId id="307" r:id="rId19"/>
    <p:sldId id="265" r:id="rId20"/>
    <p:sldId id="309" r:id="rId21"/>
    <p:sldId id="313" r:id="rId22"/>
    <p:sldId id="310" r:id="rId23"/>
    <p:sldId id="311" r:id="rId24"/>
    <p:sldId id="318" r:id="rId25"/>
    <p:sldId id="257" r:id="rId26"/>
    <p:sldId id="314" r:id="rId27"/>
  </p:sldIdLst>
  <p:sldSz cx="9144000" cy="5143500" type="screen16x9"/>
  <p:notesSz cx="6858000" cy="9144000"/>
  <p:embeddedFontLst>
    <p:embeddedFont>
      <p:font typeface="DM Sans" pitchFamily="2" charset="0"/>
      <p:regular r:id="rId29"/>
      <p:bold r:id="rId30"/>
      <p:italic r:id="rId31"/>
      <p:boldItalic r:id="rId32"/>
    </p:embeddedFont>
    <p:embeddedFont>
      <p:font typeface="Lato" panose="020F0502020204030203" pitchFamily="34" charset="0"/>
      <p:regular r:id="rId33"/>
      <p:bold r:id="rId34"/>
      <p:italic r:id="rId35"/>
      <p:boldItalic r:id="rId36"/>
    </p:embeddedFont>
    <p:embeddedFont>
      <p:font typeface="Montserrat" panose="00000500000000000000" pitchFamily="2" charset="0"/>
      <p:regular r:id="rId37"/>
      <p:bold r:id="rId38"/>
      <p:italic r:id="rId39"/>
      <p:boldItalic r:id="rId40"/>
    </p:embeddedFont>
    <p:embeddedFont>
      <p:font typeface="Montserrat ExtraBold" panose="00000900000000000000" pitchFamily="2" charset="0"/>
      <p:bold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250" y="58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1.fntdata"/><Relationship Id="rId21" Type="http://schemas.openxmlformats.org/officeDocument/2006/relationships/slide" Target="slides/slide17.xml"/><Relationship Id="rId34" Type="http://schemas.openxmlformats.org/officeDocument/2006/relationships/font" Target="fonts/font6.fntdata"/><Relationship Id="rId42" Type="http://schemas.openxmlformats.org/officeDocument/2006/relationships/font" Target="fonts/font14.fntdata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40" Type="http://schemas.openxmlformats.org/officeDocument/2006/relationships/font" Target="fonts/font12.fntdata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3.fntdata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43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6477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80103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2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747235F-1F6F-292F-B075-4D17AE6F4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B06ACC7B-CCC5-9974-CB49-DD5F658969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EAB6CDA7-16E4-336B-9CAA-5CDC5817E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4890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of the story 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512956" y="866657"/>
            <a:ext cx="8302269" cy="3831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For years, league scheduling relied on manual planning, quietly accumulating issues that became impossible to ignore during Egypt’s emergency hosting of AFCON 2019.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619200" y="-1069445"/>
            <a:ext cx="8050620" cy="6047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Disruption: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COVID-19 disrupted global sport, resulting in further delays.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559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916500" y="398457"/>
            <a:ext cx="7493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2024/2025 Exceptional Format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04750-94B4-47C2-87E9-581FB9B6F9EC}"/>
              </a:ext>
            </a:extLst>
          </p:cNvPr>
          <p:cNvSpPr txBox="1"/>
          <p:nvPr/>
        </p:nvSpPr>
        <p:spPr>
          <a:xfrm>
            <a:off x="617035" y="1152293"/>
            <a:ext cx="8779726" cy="2999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compete in a single round-robin format (17 matches per team), with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Top 9: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for the league title and continental qualification.</a:t>
            </a:r>
          </a:p>
          <a:p>
            <a:pPr marL="742950" lvl="1" indent="-285750" algn="l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chemeClr val="tx1"/>
                </a:solidFill>
                <a:latin typeface="DM Sans" pitchFamily="2" charset="0"/>
              </a:rPr>
              <a:t>Bottom 9: </a:t>
            </a:r>
            <a:r>
              <a:rPr lang="en-US" altLang="en-US" sz="1600" dirty="0">
                <a:solidFill>
                  <a:schemeClr val="tx1"/>
                </a:solidFill>
                <a:latin typeface="DM Sans" pitchFamily="2" charset="0"/>
              </a:rPr>
              <a:t>Compete to avoid relegation.</a:t>
            </a: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457200" lvl="1" algn="l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48569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problem’s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453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6401916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Input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Model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  <a:latin typeface="Montserrat" panose="00000500000000000000" pitchFamily="2" charset="0"/>
              </a:rPr>
              <a:t>Output</a:t>
            </a:r>
            <a:endParaRPr sz="2200" b="1" dirty="0">
              <a:solidFill>
                <a:schemeClr val="tx1"/>
              </a:solidFill>
              <a:latin typeface="Montserrat" panose="00000500000000000000" pitchFamily="2" charset="0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efficient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  <a:stCxn id="342" idx="1"/>
            <a:endCxn id="347" idx="1"/>
          </p:cNvCxnSpPr>
          <p:nvPr/>
        </p:nvCxnSpPr>
        <p:spPr>
          <a:xfrm rot="10800000" flipH="1" flipV="1">
            <a:off x="1024796" y="1660349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39082" y="348760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2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3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4"/>
          </p:nvPr>
        </p:nvSpPr>
        <p:spPr>
          <a:xfrm>
            <a:off x="500338" y="2536444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NP-hard problem</a:t>
            </a:r>
            <a:endParaRPr sz="10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5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6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In the EPL: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Patterns &amp; Breaks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Travel &amp; TTP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1709165"/>
            <a:ext cx="3858991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2817209"/>
            <a:ext cx="4177644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96191" y="3738366"/>
            <a:ext cx="4586355" cy="83668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3321500" y="14811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720000" y="14811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3321500" y="26097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6" name="Google Shape;466;p41"/>
          <p:cNvSpPr/>
          <p:nvPr/>
        </p:nvSpPr>
        <p:spPr>
          <a:xfrm>
            <a:off x="720000" y="26097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720024" y="2609766"/>
            <a:ext cx="2465975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3321500" y="37383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9" name="Google Shape;469;p41"/>
          <p:cNvSpPr/>
          <p:nvPr/>
        </p:nvSpPr>
        <p:spPr>
          <a:xfrm>
            <a:off x="720000" y="37383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720025" y="3738366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720024" y="1481166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572000" y="278037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572000" y="1709165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495300" y="3888416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we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358672" y="2350500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Shared Resources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358672" y="2733331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Multiple teams share "Cairo International" and "Borg Al-Arab," creating bottlenecks</a:t>
            </a:r>
          </a:p>
          <a:p>
            <a:pPr lvl="0">
              <a:lnSpc>
                <a:spcPct val="115000"/>
              </a:lnSpc>
            </a:pP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Conflict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2 nodes on a network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959226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809667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6268C87-CBD2-E48E-BBEE-2108CA5CB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422328E0-39E0-E94E-33E2-2A67E67829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References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B41EDEC-0304-80B9-5928-6F85AD383B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598501"/>
              </p:ext>
            </p:extLst>
          </p:nvPr>
        </p:nvGraphicFramePr>
        <p:xfrm>
          <a:off x="720000" y="1152527"/>
          <a:ext cx="7836702" cy="3049686"/>
        </p:xfrm>
        <a:graphic>
          <a:graphicData uri="http://schemas.openxmlformats.org/drawingml/2006/table">
            <a:tbl>
              <a:tblPr firstRow="1" firstCol="1" bandRow="1"/>
              <a:tblGrid>
                <a:gridCol w="239005">
                  <a:extLst>
                    <a:ext uri="{9D8B030D-6E8A-4147-A177-3AD203B41FA5}">
                      <a16:colId xmlns:a16="http://schemas.microsoft.com/office/drawing/2014/main" val="4294718165"/>
                    </a:ext>
                  </a:extLst>
                </a:gridCol>
                <a:gridCol w="7597697">
                  <a:extLst>
                    <a:ext uri="{9D8B030D-6E8A-4147-A177-3AD203B41FA5}">
                      <a16:colId xmlns:a16="http://schemas.microsoft.com/office/drawing/2014/main" val="1349942756"/>
                    </a:ext>
                  </a:extLst>
                </a:gridCol>
              </a:tblGrid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[1]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R. V. Rasmussen and M. A. Trick, "Round robin scheduling – a survey,"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2008.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997458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[2]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Van Bulck, D. Goossens and F.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"Integer programming models for round robin tournaments,"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European Journal of Operational Research,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2023.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3108309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[3]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P. Staats, "Generic Scheduling of Sports Tournaments," Utrecht University, Utrecht, 2009.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4345337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[4]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D. R. Goossens and F. C. R. </a:t>
                      </a:r>
                      <a:r>
                        <a:rPr lang="en-US" sz="1000" b="1" dirty="0" err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Spieksma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"Soccer schedules in Europe: an overview,"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Journal of Scheduling,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15, no. 5, pp. 641-651, 2012.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267609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[5]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K. Easton, G. Nemhauser and M. Trick, "The traveling tournament problem description and benchmarks," </a:t>
                      </a:r>
                      <a:r>
                        <a:rPr lang="en-US" sz="1000" b="1" i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Principles and Practice of Constraint Programming, </a:t>
                      </a:r>
                      <a:r>
                        <a:rPr lang="en-US" sz="1000" b="1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pp. 580-584, 2001.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665921"/>
                  </a:ext>
                </a:extLst>
              </a:tr>
              <a:tr h="508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[6]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G. Durán, M. Guajardo and J. Wolf-Yadlin, "Scheduling the Chilean soccer league by integer programming," </a:t>
                      </a:r>
                      <a:r>
                        <a:rPr lang="en-US" sz="1000" b="1" i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Interfaces, </a:t>
                      </a:r>
                      <a:r>
                        <a:rPr lang="en-US" sz="1000" b="1" dirty="0">
                          <a:effectLst/>
                          <a:latin typeface="DM Sans" pitchFamily="2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vol. 37, no. 6, pp. 539-552, 2007. </a:t>
                      </a:r>
                    </a:p>
                  </a:txBody>
                  <a:tcPr marL="6940" marR="6940" marT="6940" marB="69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4291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40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1086</TotalTime>
  <Words>1313</Words>
  <Application>Microsoft Office PowerPoint</Application>
  <PresentationFormat>On-screen Show (16:9)</PresentationFormat>
  <Paragraphs>219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DM Sans</vt:lpstr>
      <vt:lpstr>Arial</vt:lpstr>
      <vt:lpstr>Lato</vt:lpstr>
      <vt:lpstr>Montserrat ExtraBold</vt:lpstr>
      <vt:lpstr>Wingdings</vt:lpstr>
      <vt:lpstr>Montserrat</vt:lpstr>
      <vt:lpstr>Indoor Soccer Club by Slidesgo</vt:lpstr>
      <vt:lpstr>Optimizing the Egyptian Premier League Schedule</vt:lpstr>
      <vt:lpstr>Introduction</vt:lpstr>
      <vt:lpstr>The origin of the story </vt:lpstr>
      <vt:lpstr>The Aggravator (COVID-19)</vt:lpstr>
      <vt:lpstr>2024/2025 Exceptional Format</vt:lpstr>
      <vt:lpstr>Visualizing the Disparity</vt:lpstr>
      <vt:lpstr>Our Goal</vt:lpstr>
      <vt:lpstr>The Proposed Solution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References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Ghassan Elgendy</cp:lastModifiedBy>
  <cp:revision>46</cp:revision>
  <dcterms:modified xsi:type="dcterms:W3CDTF">2026-02-07T12:28:24Z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